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Begrüßung. Kurz vorstellen. Rahmen setzen: heute geht es ums bewusste Sehen, nicht um Ratschläge. Vertraulichkeit im Raum betonen.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ruhig durchgehen. Zeitrahmen nennen. Frage in die Runde: Was möchtet ihr heute mitnehmen?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Wirken lassen. Kurze Stille nach dem Satz.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Zahl kurz stehen lassen. Nicht dramatisieren – nüchtern einordnen.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Ruhig anleiten, Pausen lassen. Danach kurz sammeln, was aufgefallen ist.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Überleitung: Wir gehen jetzt Thema für Thema – jedes für sich, alle verbunden.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Überblick geben, nicht vorlesen. Das ist die Landkarte für den Tag.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Grundstein. Den feinen Unterschied wirklich spüren lassen.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 Beispiel durchgehen. Situation, Gedanke, Gefühl klar trennen.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Reagieren gegen antworten. Der Kern des ganzen Tages.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zwei Muster benennen. Nicht die ganze Liste durchgehen.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 einfachen Test anbieten: „Bin ich einer Antwort näher gekommen?“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Wohlwollend bleiben. Der Kritiker will schützen, nicht schaden.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Benennen beruhigt. Kurz das lange Ausatmen demonstrieren.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gute Nachricht des Tages: Kein Muster ist endgültig.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kippt der Blick von innen nach außen. Überparteilich bleiben.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 Technik-Bashing – bewusster Umgang, nicht Angst.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Guter Abschluss der Reihe: vom Erkennen zum Ausrichten.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Erst still arbeiten lassen, dann in Paaren austauschen.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Drei Wörter mitgeben. Der Rest darf verblassen.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Kein Druck. Nur eine Tür für die, die weitergehen wollen.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Ruhig enden. Kurze Stille, dann verabschieden.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2000" cy="6858000"/>
          </a:xfrm>
          <a:prstGeom prst="rect">
            <a:avLst/>
          </a:prstGeom>
        </p:spPr>
      </p:pic>
      <p:pic>
        <p:nvPicPr>
          <p:cNvPr id="3" name="Picture 2" descr="brain.png"/>
          <p:cNvPicPr>
            <a:picLocks noChangeAspect="1"/>
          </p:cNvPicPr>
          <p:nvPr/>
        </p:nvPicPr>
        <p:blipFill>
          <a:blip r:embed="rId3"/>
          <a:stretch>
            <a:fillRect/>
          </a:stretch>
        </p:blipFill>
        <p:spPr>
          <a:xfrm>
            <a:off x="8732520" y="640080"/>
            <a:ext cx="2488163" cy="2286000"/>
          </a:xfrm>
          <a:prstGeom prst="rect">
            <a:avLst/>
          </a:prstGeom>
        </p:spPr>
      </p:pic>
      <p:sp>
        <p:nvSpPr>
          <p:cNvPr id="4" name="TextBox 3"/>
          <p:cNvSpPr txBox="1"/>
          <p:nvPr/>
        </p:nvSpPr>
        <p:spPr>
          <a:xfrm>
            <a:off x="868680" y="1051560"/>
            <a:ext cx="7680960" cy="457200"/>
          </a:xfrm>
          <a:prstGeom prst="rect">
            <a:avLst/>
          </a:prstGeom>
          <a:noFill/>
        </p:spPr>
        <p:txBody>
          <a:bodyPr wrap="square" anchor="t" lIns="0" rIns="0" tIns="0" bIns="0">
            <a:noAutofit/>
          </a:bodyPr>
          <a:lstStyle/>
          <a:p>
            <a:pPr>
              <a:spcAft>
                <a:spcPts val="600"/>
              </a:spcAft>
            </a:pPr>
            <a:r>
              <a:rPr sz="1300" b="1" i="0" spc="240">
                <a:solidFill>
                  <a:srgbClr val="A3D64F"/>
                </a:solidFill>
                <a:latin typeface="Calibri"/>
              </a:rPr>
              <a:t>WORKSHOP · DEEP-DIVES</a:t>
            </a:r>
          </a:p>
        </p:txBody>
      </p:sp>
      <p:sp>
        <p:nvSpPr>
          <p:cNvPr id="5" name="TextBox 4"/>
          <p:cNvSpPr txBox="1"/>
          <p:nvPr/>
        </p:nvSpPr>
        <p:spPr>
          <a:xfrm>
            <a:off x="868680" y="1600200"/>
            <a:ext cx="8778240" cy="2468880"/>
          </a:xfrm>
          <a:prstGeom prst="rect">
            <a:avLst/>
          </a:prstGeom>
          <a:noFill/>
        </p:spPr>
        <p:txBody>
          <a:bodyPr wrap="square" anchor="t" lIns="0" rIns="0" tIns="0" bIns="0">
            <a:noAutofit/>
          </a:bodyPr>
          <a:lstStyle/>
          <a:p>
            <a:pPr>
              <a:lnSpc>
                <a:spcPct val="102000"/>
              </a:lnSpc>
            </a:pPr>
            <a:r>
              <a:rPr sz="5200" b="1" i="0">
                <a:solidFill>
                  <a:srgbClr val="FFFFFF"/>
                </a:solidFill>
                <a:latin typeface="Cambria"/>
              </a:rPr>
              <a:t>Deinen Kopf </a:t>
            </a:r>
          </a:p>
          <a:p>
            <a:pPr>
              <a:lnSpc>
                <a:spcPct val="102000"/>
              </a:lnSpc>
            </a:pPr>
            <a:r>
              <a:rPr sz="5200" b="1" i="0">
                <a:solidFill>
                  <a:srgbClr val="34C4C4"/>
                </a:solidFill>
                <a:latin typeface="Cambria"/>
              </a:rPr>
              <a:t>durchdenken</a:t>
            </a:r>
          </a:p>
        </p:txBody>
      </p:sp>
      <p:sp>
        <p:nvSpPr>
          <p:cNvPr id="6" name="TextBox 5"/>
          <p:cNvSpPr txBox="1"/>
          <p:nvPr/>
        </p:nvSpPr>
        <p:spPr>
          <a:xfrm>
            <a:off x="868680" y="4160520"/>
            <a:ext cx="7863840" cy="1005840"/>
          </a:xfrm>
          <a:prstGeom prst="rect">
            <a:avLst/>
          </a:prstGeom>
          <a:noFill/>
        </p:spPr>
        <p:txBody>
          <a:bodyPr wrap="square" anchor="t" lIns="0" rIns="0" tIns="0" bIns="0">
            <a:noAutofit/>
          </a:bodyPr>
          <a:lstStyle/>
          <a:p>
            <a:pPr>
              <a:lnSpc>
                <a:spcPct val="120000"/>
              </a:lnSpc>
            </a:pPr>
            <a:r>
              <a:rPr sz="1700" b="0" i="0">
                <a:solidFill>
                  <a:srgbClr val="D8DBE6"/>
                </a:solidFill>
                <a:latin typeface="Calibri"/>
              </a:rPr>
              <a:t>Eine kuratierte Themenreihe aus den stärksten Deep-Dives – von den eigenen Gedanken bis zu den Kräften, die sie von außen lenken.</a:t>
            </a:r>
          </a:p>
        </p:txBody>
      </p:sp>
      <p:sp>
        <p:nvSpPr>
          <p:cNvPr id="7" name="TextBox 6"/>
          <p:cNvSpPr txBox="1"/>
          <p:nvPr/>
        </p:nvSpPr>
        <p:spPr>
          <a:xfrm>
            <a:off x="868680" y="5989320"/>
            <a:ext cx="9144000" cy="365760"/>
          </a:xfrm>
          <a:prstGeom prst="rect">
            <a:avLst/>
          </a:prstGeom>
          <a:noFill/>
        </p:spPr>
        <p:txBody>
          <a:bodyPr wrap="square" anchor="t" lIns="0" rIns="0" tIns="0" bIns="0">
            <a:noAutofit/>
          </a:bodyPr>
          <a:lstStyle/>
          <a:p>
            <a:r>
              <a:rPr sz="1300" b="0" i="0">
                <a:solidFill>
                  <a:srgbClr val="AEB6C6"/>
                </a:solidFill>
                <a:latin typeface="Calibri"/>
              </a:rPr>
              <a:t>Heiko Schwaninger  ·  werdemeisterdeinergedanken.de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10454335"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ÜBERBLICK</a:t>
            </a:r>
          </a:p>
        </p:txBody>
      </p:sp>
      <p:sp>
        <p:nvSpPr>
          <p:cNvPr id="3" name="TextBox 2"/>
          <p:cNvSpPr txBox="1"/>
          <p:nvPr/>
        </p:nvSpPr>
        <p:spPr>
          <a:xfrm>
            <a:off x="868680" y="1024128"/>
            <a:ext cx="10454335" cy="640080"/>
          </a:xfrm>
          <a:prstGeom prst="rect">
            <a:avLst/>
          </a:prstGeom>
          <a:noFill/>
        </p:spPr>
        <p:txBody>
          <a:bodyPr wrap="square" anchor="t" lIns="0" rIns="0" tIns="0" bIns="0">
            <a:noAutofit/>
          </a:bodyPr>
          <a:lstStyle/>
          <a:p>
            <a:r>
              <a:rPr sz="3000" b="1" i="0">
                <a:solidFill>
                  <a:srgbClr val="FFFFFF"/>
                </a:solidFill>
                <a:latin typeface="Cambria"/>
              </a:rPr>
              <a:t>Was dich heute erwartet</a:t>
            </a:r>
          </a:p>
        </p:txBody>
      </p:sp>
      <p:sp>
        <p:nvSpPr>
          <p:cNvPr id="4" name="Oval 3"/>
          <p:cNvSpPr/>
          <p:nvPr/>
        </p:nvSpPr>
        <p:spPr>
          <a:xfrm>
            <a:off x="868680" y="1965960"/>
            <a:ext cx="457200" cy="45720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600" b="1" i="0">
                <a:solidFill>
                  <a:srgbClr val="FFFFFF"/>
                </a:solidFill>
                <a:latin typeface="Cambria"/>
              </a:rPr>
              <a:t>1</a:t>
            </a:r>
          </a:p>
        </p:txBody>
      </p:sp>
      <p:sp>
        <p:nvSpPr>
          <p:cNvPr id="5" name="TextBox 4"/>
          <p:cNvSpPr txBox="1"/>
          <p:nvPr/>
        </p:nvSpPr>
        <p:spPr>
          <a:xfrm>
            <a:off x="1554480" y="1929384"/>
            <a:ext cx="9768535" cy="868680"/>
          </a:xfrm>
          <a:prstGeom prst="rect">
            <a:avLst/>
          </a:prstGeom>
          <a:noFill/>
        </p:spPr>
        <p:txBody>
          <a:bodyPr wrap="square" anchor="t" lIns="0" rIns="0" tIns="0" bIns="0">
            <a:noAutofit/>
          </a:bodyPr>
          <a:lstStyle/>
          <a:p>
            <a:r>
              <a:rPr sz="1700" b="1" i="0">
                <a:solidFill>
                  <a:srgbClr val="FFFFFF"/>
                </a:solidFill>
                <a:latin typeface="Calibri"/>
              </a:rPr>
              <a:t>Ankommen</a:t>
            </a:r>
          </a:p>
          <a:p>
            <a:pPr>
              <a:spcBef>
                <a:spcPts val="100"/>
              </a:spcBef>
            </a:pPr>
            <a:r>
              <a:rPr sz="1350" b="0" i="0">
                <a:solidFill>
                  <a:srgbClr val="AEB6C6"/>
                </a:solidFill>
                <a:latin typeface="Calibri"/>
              </a:rPr>
              <a:t>Warum wir uns von unseren Gedanken leben lassen.</a:t>
            </a:r>
          </a:p>
        </p:txBody>
      </p:sp>
      <p:sp>
        <p:nvSpPr>
          <p:cNvPr id="6" name="Oval 5"/>
          <p:cNvSpPr/>
          <p:nvPr/>
        </p:nvSpPr>
        <p:spPr>
          <a:xfrm>
            <a:off x="868680" y="2834639"/>
            <a:ext cx="457200" cy="457200"/>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600" b="1" i="0">
                <a:solidFill>
                  <a:srgbClr val="FFFFFF"/>
                </a:solidFill>
                <a:latin typeface="Cambria"/>
              </a:rPr>
              <a:t>2</a:t>
            </a:r>
          </a:p>
        </p:txBody>
      </p:sp>
      <p:sp>
        <p:nvSpPr>
          <p:cNvPr id="7" name="TextBox 6"/>
          <p:cNvSpPr txBox="1"/>
          <p:nvPr/>
        </p:nvSpPr>
        <p:spPr>
          <a:xfrm>
            <a:off x="1554480" y="2798063"/>
            <a:ext cx="9768535" cy="868680"/>
          </a:xfrm>
          <a:prstGeom prst="rect">
            <a:avLst/>
          </a:prstGeom>
          <a:noFill/>
        </p:spPr>
        <p:txBody>
          <a:bodyPr wrap="square" anchor="t" lIns="0" rIns="0" tIns="0" bIns="0">
            <a:noAutofit/>
          </a:bodyPr>
          <a:lstStyle/>
          <a:p>
            <a:r>
              <a:rPr sz="1700" b="1" i="0">
                <a:solidFill>
                  <a:srgbClr val="FFFFFF"/>
                </a:solidFill>
                <a:latin typeface="Calibri"/>
              </a:rPr>
              <a:t>Der Blick nach innen</a:t>
            </a:r>
          </a:p>
          <a:p>
            <a:pPr>
              <a:spcBef>
                <a:spcPts val="100"/>
              </a:spcBef>
            </a:pPr>
            <a:r>
              <a:rPr sz="1350" b="0" i="0">
                <a:solidFill>
                  <a:srgbClr val="AEB6C6"/>
                </a:solidFill>
                <a:latin typeface="Calibri"/>
              </a:rPr>
              <a:t>Beobachter, automatische Gedanken und der freie Raum dazwischen.</a:t>
            </a:r>
          </a:p>
        </p:txBody>
      </p:sp>
      <p:sp>
        <p:nvSpPr>
          <p:cNvPr id="8" name="Oval 7"/>
          <p:cNvSpPr/>
          <p:nvPr/>
        </p:nvSpPr>
        <p:spPr>
          <a:xfrm>
            <a:off x="868680" y="3703320"/>
            <a:ext cx="457200" cy="45720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600" b="1" i="0">
                <a:solidFill>
                  <a:srgbClr val="FFFFFF"/>
                </a:solidFill>
                <a:latin typeface="Cambria"/>
              </a:rPr>
              <a:t>3</a:t>
            </a:r>
          </a:p>
        </p:txBody>
      </p:sp>
      <p:sp>
        <p:nvSpPr>
          <p:cNvPr id="9" name="TextBox 8"/>
          <p:cNvSpPr txBox="1"/>
          <p:nvPr/>
        </p:nvSpPr>
        <p:spPr>
          <a:xfrm>
            <a:off x="1554480" y="3666744"/>
            <a:ext cx="9768535" cy="868680"/>
          </a:xfrm>
          <a:prstGeom prst="rect">
            <a:avLst/>
          </a:prstGeom>
          <a:noFill/>
        </p:spPr>
        <p:txBody>
          <a:bodyPr wrap="square" anchor="t" lIns="0" rIns="0" tIns="0" bIns="0">
            <a:noAutofit/>
          </a:bodyPr>
          <a:lstStyle/>
          <a:p>
            <a:r>
              <a:rPr sz="1700" b="1" i="0">
                <a:solidFill>
                  <a:srgbClr val="FFFFFF"/>
                </a:solidFill>
                <a:latin typeface="Calibri"/>
              </a:rPr>
              <a:t>Denkfallen &amp; Regulation</a:t>
            </a:r>
          </a:p>
          <a:p>
            <a:pPr>
              <a:spcBef>
                <a:spcPts val="100"/>
              </a:spcBef>
            </a:pPr>
            <a:r>
              <a:rPr sz="1350" b="0" i="0">
                <a:solidFill>
                  <a:srgbClr val="AEB6C6"/>
                </a:solidFill>
                <a:latin typeface="Calibri"/>
              </a:rPr>
              <a:t>Verzerrungen und Grübeln erkennen, Gefühle halten, Bahnen neu legen.</a:t>
            </a:r>
          </a:p>
        </p:txBody>
      </p:sp>
      <p:sp>
        <p:nvSpPr>
          <p:cNvPr id="10" name="Oval 9"/>
          <p:cNvSpPr/>
          <p:nvPr/>
        </p:nvSpPr>
        <p:spPr>
          <a:xfrm>
            <a:off x="868680" y="4572000"/>
            <a:ext cx="457200" cy="457200"/>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600" b="1" i="0">
                <a:solidFill>
                  <a:srgbClr val="FFFFFF"/>
                </a:solidFill>
                <a:latin typeface="Cambria"/>
              </a:rPr>
              <a:t>4</a:t>
            </a:r>
          </a:p>
        </p:txBody>
      </p:sp>
      <p:sp>
        <p:nvSpPr>
          <p:cNvPr id="11" name="TextBox 10"/>
          <p:cNvSpPr txBox="1"/>
          <p:nvPr/>
        </p:nvSpPr>
        <p:spPr>
          <a:xfrm>
            <a:off x="1554480" y="4535424"/>
            <a:ext cx="9768535" cy="868680"/>
          </a:xfrm>
          <a:prstGeom prst="rect">
            <a:avLst/>
          </a:prstGeom>
          <a:noFill/>
        </p:spPr>
        <p:txBody>
          <a:bodyPr wrap="square" anchor="t" lIns="0" rIns="0" tIns="0" bIns="0">
            <a:noAutofit/>
          </a:bodyPr>
          <a:lstStyle/>
          <a:p>
            <a:r>
              <a:rPr sz="1700" b="1" i="0">
                <a:solidFill>
                  <a:srgbClr val="FFFFFF"/>
                </a:solidFill>
                <a:latin typeface="Calibri"/>
              </a:rPr>
              <a:t>Der Blick nach außen</a:t>
            </a:r>
          </a:p>
          <a:p>
            <a:pPr>
              <a:spcBef>
                <a:spcPts val="100"/>
              </a:spcBef>
            </a:pPr>
            <a:r>
              <a:rPr sz="1350" b="0" i="0">
                <a:solidFill>
                  <a:srgbClr val="AEB6C6"/>
                </a:solidFill>
                <a:latin typeface="Calibri"/>
              </a:rPr>
              <a:t>Wie dein Denken von außen gelenkt wird – und wohin du selbst willst.</a:t>
            </a:r>
          </a:p>
        </p:txBody>
      </p:sp>
      <p:sp>
        <p:nvSpPr>
          <p:cNvPr id="12" name="Oval 11"/>
          <p:cNvSpPr/>
          <p:nvPr/>
        </p:nvSpPr>
        <p:spPr>
          <a:xfrm>
            <a:off x="868680" y="5440679"/>
            <a:ext cx="457200" cy="45720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600" b="1" i="0">
                <a:solidFill>
                  <a:srgbClr val="FFFFFF"/>
                </a:solidFill>
                <a:latin typeface="Cambria"/>
              </a:rPr>
              <a:t>5</a:t>
            </a:r>
          </a:p>
        </p:txBody>
      </p:sp>
      <p:sp>
        <p:nvSpPr>
          <p:cNvPr id="13" name="TextBox 12"/>
          <p:cNvSpPr txBox="1"/>
          <p:nvPr/>
        </p:nvSpPr>
        <p:spPr>
          <a:xfrm>
            <a:off x="1554480" y="5404103"/>
            <a:ext cx="9768535" cy="868680"/>
          </a:xfrm>
          <a:prstGeom prst="rect">
            <a:avLst/>
          </a:prstGeom>
          <a:noFill/>
        </p:spPr>
        <p:txBody>
          <a:bodyPr wrap="square" anchor="t" lIns="0" rIns="0" tIns="0" bIns="0">
            <a:noAutofit/>
          </a:bodyPr>
          <a:lstStyle/>
          <a:p>
            <a:r>
              <a:rPr sz="1700" b="1" i="0">
                <a:solidFill>
                  <a:srgbClr val="FFFFFF"/>
                </a:solidFill>
                <a:latin typeface="Calibri"/>
              </a:rPr>
              <a:t>Dranbleiben</a:t>
            </a:r>
          </a:p>
          <a:p>
            <a:pPr>
              <a:spcBef>
                <a:spcPts val="100"/>
              </a:spcBef>
            </a:pPr>
            <a:r>
              <a:rPr sz="1350" b="0" i="0">
                <a:solidFill>
                  <a:srgbClr val="AEB6C6"/>
                </a:solidFill>
                <a:latin typeface="Calibri"/>
              </a:rPr>
              <a:t>Dein Thema wählen und den ersten kleinen Schritt festlegen.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ivid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234440" y="1920240"/>
            <a:ext cx="9722815" cy="2743200"/>
          </a:xfrm>
          <a:prstGeom prst="rect">
            <a:avLst/>
          </a:prstGeom>
          <a:noFill/>
        </p:spPr>
        <p:txBody>
          <a:bodyPr wrap="square" anchor="ctr" lIns="0" rIns="0" tIns="0" bIns="0">
            <a:noAutofit/>
          </a:bodyPr>
          <a:lstStyle/>
          <a:p>
            <a:pPr algn="l">
              <a:lnSpc>
                <a:spcPct val="112000"/>
              </a:lnSpc>
            </a:pPr>
            <a:r>
              <a:rPr sz="3200" b="1" i="0">
                <a:solidFill>
                  <a:srgbClr val="FFFFFF"/>
                </a:solidFill>
                <a:latin typeface="Cambria"/>
              </a:rPr>
              <a:t>Die meisten Menschen halten ihre Gedanken für die Wahrheit – und werden so </a:t>
            </a:r>
            <a:r>
              <a:rPr sz="3200" b="1" i="0">
                <a:solidFill>
                  <a:srgbClr val="34C4C4"/>
                </a:solidFill>
                <a:latin typeface="Cambria"/>
              </a:rPr>
              <a:t>von ihnen gelebt</a:t>
            </a:r>
            <a:r>
              <a:rPr sz="3200" b="1" i="0">
                <a:solidFill>
                  <a:srgbClr val="FFFFFF"/>
                </a:solidFill>
                <a:latin typeface="Cambria"/>
              </a:rPr>
              <a:t>, statt sie zu leben.</a:t>
            </a:r>
          </a:p>
          <a:p>
            <a:pPr>
              <a:spcBef>
                <a:spcPts val="1400"/>
              </a:spcBef>
            </a:pPr>
            <a:r>
              <a:rPr sz="1800" b="0" i="0">
                <a:solidFill>
                  <a:srgbClr val="D8DBE6"/>
                </a:solidFill>
                <a:latin typeface="Calibri"/>
              </a:rPr>
              <a:t>Genau hier setzt jedes einzelne dieser Themen 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667512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AUSGANGSPUNKT</a:t>
            </a:r>
          </a:p>
        </p:txBody>
      </p:sp>
      <p:sp>
        <p:nvSpPr>
          <p:cNvPr id="3" name="TextBox 2"/>
          <p:cNvSpPr txBox="1"/>
          <p:nvPr/>
        </p:nvSpPr>
        <p:spPr>
          <a:xfrm>
            <a:off x="868680" y="1024128"/>
            <a:ext cx="6675120" cy="914400"/>
          </a:xfrm>
          <a:prstGeom prst="rect">
            <a:avLst/>
          </a:prstGeom>
          <a:noFill/>
        </p:spPr>
        <p:txBody>
          <a:bodyPr wrap="square" anchor="t" lIns="0" rIns="0" tIns="0" bIns="0">
            <a:noAutofit/>
          </a:bodyPr>
          <a:lstStyle/>
          <a:p>
            <a:pPr>
              <a:lnSpc>
                <a:spcPct val="105000"/>
              </a:lnSpc>
            </a:pPr>
            <a:r>
              <a:rPr sz="2600" b="1" i="0">
                <a:solidFill>
                  <a:srgbClr val="FFFFFF"/>
                </a:solidFill>
                <a:latin typeface="Cambria"/>
              </a:rPr>
              <a:t>Warum diese Themen?</a:t>
            </a:r>
          </a:p>
        </p:txBody>
      </p:sp>
      <p:sp>
        <p:nvSpPr>
          <p:cNvPr id="4" name="TextBox 3"/>
          <p:cNvSpPr txBox="1"/>
          <p:nvPr/>
        </p:nvSpPr>
        <p:spPr>
          <a:xfrm>
            <a:off x="868680" y="2331720"/>
            <a:ext cx="6309360" cy="3108960"/>
          </a:xfrm>
          <a:prstGeom prst="rect">
            <a:avLst/>
          </a:prstGeom>
          <a:noFill/>
        </p:spPr>
        <p:txBody>
          <a:bodyPr wrap="square" anchor="t" lIns="0" rIns="0" tIns="0" bIns="0">
            <a:noAutofit/>
          </a:bodyPr>
          <a:lstStyle/>
          <a:p>
            <a:pPr>
              <a:lnSpc>
                <a:spcPct val="122000"/>
              </a:lnSpc>
              <a:spcAft>
                <a:spcPts val="1200"/>
              </a:spcAft>
            </a:pPr>
            <a:r>
              <a:rPr sz="1500" b="0" i="0">
                <a:solidFill>
                  <a:srgbClr val="D8DBE6"/>
                </a:solidFill>
                <a:latin typeface="Calibri"/>
              </a:rPr>
              <a:t>Wir denken bis zu 60.000 Gedanken am Tag – und die meisten laufen unbemerkt, automatisch und immer in denselben Bahnen. Wir werden gedacht, statt zu denken.</a:t>
            </a:r>
          </a:p>
          <a:p>
            <a:pPr>
              <a:lnSpc>
                <a:spcPct val="122000"/>
              </a:lnSpc>
            </a:pPr>
            <a:r>
              <a:rPr sz="1500" b="0" i="0">
                <a:solidFill>
                  <a:srgbClr val="D8DBE6"/>
                </a:solidFill>
                <a:latin typeface="Calibri"/>
              </a:rPr>
              <a:t>Zwei Harvard-Forscher fanden: In fast der Hälfte unserer Wachzeit ist der Geist gar nicht bei dem, was wir tun – und genau dann sind wir unglücklicher. Diese Reihe holt ihn Stück für Stück zurück.</a:t>
            </a:r>
          </a:p>
        </p:txBody>
      </p:sp>
      <p:sp>
        <p:nvSpPr>
          <p:cNvPr id="5" name="Rounded Rectangle 4"/>
          <p:cNvSpPr/>
          <p:nvPr/>
        </p:nvSpPr>
        <p:spPr>
          <a:xfrm>
            <a:off x="7955279" y="2011680"/>
            <a:ext cx="3383280" cy="2743200"/>
          </a:xfrm>
          <a:prstGeom prst="roundRect">
            <a:avLst>
              <a:gd name="adj" fmla="val 9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83879" y="2286000"/>
            <a:ext cx="2926080" cy="365760"/>
          </a:xfrm>
          <a:prstGeom prst="rect">
            <a:avLst/>
          </a:prstGeom>
          <a:noFill/>
        </p:spPr>
        <p:txBody>
          <a:bodyPr wrap="square" anchor="t" lIns="0" rIns="0" tIns="0" bIns="0">
            <a:noAutofit/>
          </a:bodyPr>
          <a:lstStyle/>
          <a:p>
            <a:pPr algn="ctr"/>
            <a:r>
              <a:rPr sz="1200" b="1" i="0" spc="200">
                <a:solidFill>
                  <a:srgbClr val="8CC63F"/>
                </a:solidFill>
                <a:latin typeface="Calibri"/>
              </a:rPr>
              <a:t>RUND</a:t>
            </a:r>
          </a:p>
        </p:txBody>
      </p:sp>
      <p:sp>
        <p:nvSpPr>
          <p:cNvPr id="7" name="TextBox 6"/>
          <p:cNvSpPr txBox="1"/>
          <p:nvPr/>
        </p:nvSpPr>
        <p:spPr>
          <a:xfrm>
            <a:off x="8183879" y="2697480"/>
            <a:ext cx="2926080" cy="1097280"/>
          </a:xfrm>
          <a:prstGeom prst="rect">
            <a:avLst/>
          </a:prstGeom>
          <a:noFill/>
        </p:spPr>
        <p:txBody>
          <a:bodyPr wrap="square" anchor="t" lIns="0" rIns="0" tIns="0" bIns="0">
            <a:noAutofit/>
          </a:bodyPr>
          <a:lstStyle/>
          <a:p>
            <a:pPr algn="ctr"/>
            <a:r>
              <a:rPr sz="5400" b="1" i="0">
                <a:solidFill>
                  <a:srgbClr val="34C4C4"/>
                </a:solidFill>
                <a:latin typeface="Cambria"/>
              </a:rPr>
              <a:t>47 %</a:t>
            </a:r>
          </a:p>
        </p:txBody>
      </p:sp>
      <p:sp>
        <p:nvSpPr>
          <p:cNvPr id="8" name="TextBox 7"/>
          <p:cNvSpPr txBox="1"/>
          <p:nvPr/>
        </p:nvSpPr>
        <p:spPr>
          <a:xfrm>
            <a:off x="8183879" y="3794760"/>
            <a:ext cx="2926080" cy="365760"/>
          </a:xfrm>
          <a:prstGeom prst="rect">
            <a:avLst/>
          </a:prstGeom>
          <a:noFill/>
        </p:spPr>
        <p:txBody>
          <a:bodyPr wrap="square" anchor="t" lIns="0" rIns="0" tIns="0" bIns="0">
            <a:noAutofit/>
          </a:bodyPr>
          <a:lstStyle/>
          <a:p>
            <a:pPr algn="ctr"/>
            <a:r>
              <a:rPr sz="1500" b="1" i="0">
                <a:solidFill>
                  <a:srgbClr val="FFFFFF"/>
                </a:solidFill>
                <a:latin typeface="Calibri"/>
              </a:rPr>
              <a:t>unserer Wachzeit ist der Geist nicht bei der Sache</a:t>
            </a:r>
          </a:p>
        </p:txBody>
      </p:sp>
      <p:sp>
        <p:nvSpPr>
          <p:cNvPr id="9" name="TextBox 8"/>
          <p:cNvSpPr txBox="1"/>
          <p:nvPr/>
        </p:nvSpPr>
        <p:spPr>
          <a:xfrm>
            <a:off x="8183879" y="4206240"/>
            <a:ext cx="2926080" cy="502920"/>
          </a:xfrm>
          <a:prstGeom prst="rect">
            <a:avLst/>
          </a:prstGeom>
          <a:noFill/>
        </p:spPr>
        <p:txBody>
          <a:bodyPr wrap="square" anchor="t" lIns="0" rIns="0" tIns="0" bIns="0">
            <a:noAutofit/>
          </a:bodyPr>
          <a:lstStyle/>
          <a:p>
            <a:pPr algn="ctr">
              <a:lnSpc>
                <a:spcPct val="110000"/>
              </a:lnSpc>
            </a:pPr>
            <a:r>
              <a:rPr sz="1150" b="0" i="0">
                <a:solidFill>
                  <a:srgbClr val="AEB6C6"/>
                </a:solidFill>
                <a:latin typeface="Calibri"/>
              </a:rPr>
              <a:t>Killingsworth &amp; Gilbert, Harvard 2010.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10454335" cy="365760"/>
          </a:xfrm>
          <a:prstGeom prst="rect">
            <a:avLst/>
          </a:prstGeom>
          <a:noFill/>
        </p:spPr>
        <p:txBody>
          <a:bodyPr wrap="square" anchor="t" lIns="0" rIns="0" tIns="0" bIns="0">
            <a:noAutofit/>
          </a:bodyPr>
          <a:lstStyle/>
          <a:p>
            <a:pPr>
              <a:spcAft>
                <a:spcPts val="600"/>
              </a:spcAft>
            </a:pPr>
            <a:r>
              <a:rPr sz="1250" b="1" i="0" spc="240">
                <a:solidFill>
                  <a:srgbClr val="21B2BD"/>
                </a:solidFill>
                <a:latin typeface="Calibri"/>
              </a:rPr>
              <a:t>ÜBUNG 1 · 3 MINUTEN</a:t>
            </a:r>
          </a:p>
        </p:txBody>
      </p:sp>
      <p:sp>
        <p:nvSpPr>
          <p:cNvPr id="3" name="TextBox 2"/>
          <p:cNvSpPr txBox="1"/>
          <p:nvPr/>
        </p:nvSpPr>
        <p:spPr>
          <a:xfrm>
            <a:off x="868680" y="1024128"/>
            <a:ext cx="10454335" cy="640080"/>
          </a:xfrm>
          <a:prstGeom prst="rect">
            <a:avLst/>
          </a:prstGeom>
          <a:noFill/>
        </p:spPr>
        <p:txBody>
          <a:bodyPr wrap="square" anchor="t" lIns="0" rIns="0" tIns="0" bIns="0">
            <a:noAutofit/>
          </a:bodyPr>
          <a:lstStyle/>
          <a:p>
            <a:r>
              <a:rPr sz="3000" b="1" i="0">
                <a:solidFill>
                  <a:srgbClr val="FFFFFF"/>
                </a:solidFill>
                <a:latin typeface="Cambria"/>
              </a:rPr>
              <a:t>Gedanken beobachten</a:t>
            </a:r>
          </a:p>
        </p:txBody>
      </p:sp>
      <p:sp>
        <p:nvSpPr>
          <p:cNvPr id="4" name="Oval 3"/>
          <p:cNvSpPr/>
          <p:nvPr/>
        </p:nvSpPr>
        <p:spPr>
          <a:xfrm>
            <a:off x="868680" y="1965960"/>
            <a:ext cx="420624" cy="420624"/>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1</a:t>
            </a:r>
          </a:p>
        </p:txBody>
      </p:sp>
      <p:sp>
        <p:nvSpPr>
          <p:cNvPr id="5" name="TextBox 4"/>
          <p:cNvSpPr txBox="1"/>
          <p:nvPr/>
        </p:nvSpPr>
        <p:spPr>
          <a:xfrm>
            <a:off x="1527048" y="194767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Setz dich bequem hin und schließ für einen Moment die Augen.</a:t>
            </a:r>
          </a:p>
        </p:txBody>
      </p:sp>
      <p:sp>
        <p:nvSpPr>
          <p:cNvPr id="6" name="Oval 5"/>
          <p:cNvSpPr/>
          <p:nvPr/>
        </p:nvSpPr>
        <p:spPr>
          <a:xfrm>
            <a:off x="868680" y="2697479"/>
            <a:ext cx="420624" cy="420624"/>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2</a:t>
            </a:r>
          </a:p>
        </p:txBody>
      </p:sp>
      <p:sp>
        <p:nvSpPr>
          <p:cNvPr id="7" name="TextBox 6"/>
          <p:cNvSpPr txBox="1"/>
          <p:nvPr/>
        </p:nvSpPr>
        <p:spPr>
          <a:xfrm>
            <a:off x="1527048" y="2679191"/>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Beobachte deine Gedanken, als wären sie Wolken, die vorbeiziehen.</a:t>
            </a:r>
          </a:p>
        </p:txBody>
      </p:sp>
      <p:sp>
        <p:nvSpPr>
          <p:cNvPr id="8" name="Oval 7"/>
          <p:cNvSpPr/>
          <p:nvPr/>
        </p:nvSpPr>
        <p:spPr>
          <a:xfrm>
            <a:off x="868680" y="3429000"/>
            <a:ext cx="420624" cy="420624"/>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3</a:t>
            </a:r>
          </a:p>
        </p:txBody>
      </p:sp>
      <p:sp>
        <p:nvSpPr>
          <p:cNvPr id="9" name="TextBox 8"/>
          <p:cNvSpPr txBox="1"/>
          <p:nvPr/>
        </p:nvSpPr>
        <p:spPr>
          <a:xfrm>
            <a:off x="1527048" y="341071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Benenne sie innerlich: „Da ist ein Gedanke über die Zukunft.“</a:t>
            </a:r>
          </a:p>
        </p:txBody>
      </p:sp>
      <p:sp>
        <p:nvSpPr>
          <p:cNvPr id="10" name="Oval 9"/>
          <p:cNvSpPr/>
          <p:nvPr/>
        </p:nvSpPr>
        <p:spPr>
          <a:xfrm>
            <a:off x="868680" y="4160520"/>
            <a:ext cx="420624" cy="420624"/>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4</a:t>
            </a:r>
          </a:p>
        </p:txBody>
      </p:sp>
      <p:sp>
        <p:nvSpPr>
          <p:cNvPr id="11" name="TextBox 10"/>
          <p:cNvSpPr txBox="1"/>
          <p:nvPr/>
        </p:nvSpPr>
        <p:spPr>
          <a:xfrm>
            <a:off x="1527048" y="414223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Kehr dann sanft zu deinem Atem zurück.</a:t>
            </a:r>
          </a:p>
        </p:txBody>
      </p:sp>
      <p:sp>
        <p:nvSpPr>
          <p:cNvPr id="12" name="Rounded Rectangle 11"/>
          <p:cNvSpPr/>
          <p:nvPr/>
        </p:nvSpPr>
        <p:spPr>
          <a:xfrm>
            <a:off x="868680" y="5166360"/>
            <a:ext cx="10454335" cy="1051560"/>
          </a:xfrm>
          <a:prstGeom prst="roundRect">
            <a:avLst>
              <a:gd name="adj" fmla="val 11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19" y="5349240"/>
            <a:ext cx="9814255" cy="320040"/>
          </a:xfrm>
          <a:prstGeom prst="rect">
            <a:avLst/>
          </a:prstGeom>
          <a:noFill/>
        </p:spPr>
        <p:txBody>
          <a:bodyPr wrap="square" anchor="t" lIns="0" rIns="0" tIns="0" bIns="0">
            <a:noAutofit/>
          </a:bodyPr>
          <a:lstStyle/>
          <a:p>
            <a:pPr>
              <a:spcAft>
                <a:spcPts val="600"/>
              </a:spcAft>
            </a:pPr>
            <a:r>
              <a:rPr sz="1150" b="1" i="0" spc="240">
                <a:solidFill>
                  <a:srgbClr val="8CC63F"/>
                </a:solidFill>
                <a:latin typeface="Calibri"/>
              </a:rPr>
              <a:t>MITNEHMEN</a:t>
            </a:r>
          </a:p>
        </p:txBody>
      </p:sp>
      <p:sp>
        <p:nvSpPr>
          <p:cNvPr id="14" name="TextBox 13"/>
          <p:cNvSpPr txBox="1"/>
          <p:nvPr/>
        </p:nvSpPr>
        <p:spPr>
          <a:xfrm>
            <a:off x="1188719" y="5669280"/>
            <a:ext cx="9814255" cy="502920"/>
          </a:xfrm>
          <a:prstGeom prst="rect">
            <a:avLst/>
          </a:prstGeom>
          <a:noFill/>
        </p:spPr>
        <p:txBody>
          <a:bodyPr wrap="square" anchor="t" lIns="0" rIns="0" tIns="0" bIns="0">
            <a:noAutofit/>
          </a:bodyPr>
          <a:lstStyle/>
          <a:p>
            <a:pPr>
              <a:lnSpc>
                <a:spcPct val="110000"/>
              </a:lnSpc>
            </a:pPr>
            <a:r>
              <a:rPr sz="1450" b="0" i="1">
                <a:solidFill>
                  <a:srgbClr val="FFFFFF"/>
                </a:solidFill>
                <a:latin typeface="Calibri"/>
              </a:rPr>
              <a:t>Wenn du einen Gedanken bemerkst, bist du nicht dieser Gedanke – sondern der, der ihn wahrnimmt.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divider.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68680" y="2286000"/>
            <a:ext cx="10454335" cy="365760"/>
          </a:xfrm>
          <a:prstGeom prst="rect">
            <a:avLst/>
          </a:prstGeom>
          <a:noFill/>
        </p:spPr>
        <p:txBody>
          <a:bodyPr wrap="square" anchor="t" lIns="0" rIns="0" tIns="0" bIns="0">
            <a:noAutofit/>
          </a:bodyPr>
          <a:lstStyle/>
          <a:p>
            <a:pPr>
              <a:spcAft>
                <a:spcPts val="600"/>
              </a:spcAft>
            </a:pPr>
            <a:r>
              <a:rPr sz="1300" b="1" i="0" spc="240">
                <a:solidFill>
                  <a:srgbClr val="8CC63F"/>
                </a:solidFill>
                <a:latin typeface="Calibri"/>
              </a:rPr>
              <a:t>DIE THEMENREIHE</a:t>
            </a:r>
          </a:p>
        </p:txBody>
      </p:sp>
      <p:sp>
        <p:nvSpPr>
          <p:cNvPr id="4" name="TextBox 3"/>
          <p:cNvSpPr txBox="1"/>
          <p:nvPr/>
        </p:nvSpPr>
        <p:spPr>
          <a:xfrm>
            <a:off x="868680" y="2743200"/>
            <a:ext cx="10454335" cy="914400"/>
          </a:xfrm>
          <a:prstGeom prst="rect">
            <a:avLst/>
          </a:prstGeom>
          <a:noFill/>
        </p:spPr>
        <p:txBody>
          <a:bodyPr wrap="square" anchor="t" lIns="0" rIns="0" tIns="0" bIns="0">
            <a:noAutofit/>
          </a:bodyPr>
          <a:lstStyle/>
          <a:p>
            <a:r>
              <a:rPr sz="3400" b="1" i="0">
                <a:solidFill>
                  <a:srgbClr val="FFFFFF"/>
                </a:solidFill>
                <a:latin typeface="Cambria"/>
              </a:rPr>
              <a:t>Elf Themen, ein roter Faden</a:t>
            </a:r>
          </a:p>
        </p:txBody>
      </p:sp>
      <p:sp>
        <p:nvSpPr>
          <p:cNvPr id="5" name="TextBox 4"/>
          <p:cNvSpPr txBox="1"/>
          <p:nvPr/>
        </p:nvSpPr>
        <p:spPr>
          <a:xfrm>
            <a:off x="868680" y="3794760"/>
            <a:ext cx="8778240" cy="1097280"/>
          </a:xfrm>
          <a:prstGeom prst="rect">
            <a:avLst/>
          </a:prstGeom>
          <a:noFill/>
        </p:spPr>
        <p:txBody>
          <a:bodyPr wrap="square" anchor="t" lIns="0" rIns="0" tIns="0" bIns="0">
            <a:noAutofit/>
          </a:bodyPr>
          <a:lstStyle/>
          <a:p>
            <a:pPr>
              <a:lnSpc>
                <a:spcPct val="120000"/>
              </a:lnSpc>
            </a:pPr>
            <a:r>
              <a:rPr sz="1600" b="0" i="0">
                <a:solidFill>
                  <a:srgbClr val="D8DBE6"/>
                </a:solidFill>
                <a:latin typeface="Calibri"/>
              </a:rPr>
              <a:t>Von den eigenen Gedanken bis zu den Kräften, die sie von außen lenken.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548640"/>
            <a:ext cx="10454335"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ÜBERBLICK</a:t>
            </a:r>
          </a:p>
        </p:txBody>
      </p:sp>
      <p:sp>
        <p:nvSpPr>
          <p:cNvPr id="3" name="TextBox 2"/>
          <p:cNvSpPr txBox="1"/>
          <p:nvPr/>
        </p:nvSpPr>
        <p:spPr>
          <a:xfrm>
            <a:off x="868680" y="932688"/>
            <a:ext cx="10454335" cy="640080"/>
          </a:xfrm>
          <a:prstGeom prst="rect">
            <a:avLst/>
          </a:prstGeom>
          <a:noFill/>
        </p:spPr>
        <p:txBody>
          <a:bodyPr wrap="square" anchor="t" lIns="0" rIns="0" tIns="0" bIns="0">
            <a:noAutofit/>
          </a:bodyPr>
          <a:lstStyle/>
          <a:p>
            <a:r>
              <a:rPr sz="2800" b="1" i="0">
                <a:solidFill>
                  <a:srgbClr val="FFFFFF"/>
                </a:solidFill>
                <a:latin typeface="Cambria"/>
              </a:rPr>
              <a:t>Unsere Themenreihe</a:t>
            </a:r>
          </a:p>
        </p:txBody>
      </p:sp>
      <p:sp>
        <p:nvSpPr>
          <p:cNvPr id="4" name="Oval 3"/>
          <p:cNvSpPr/>
          <p:nvPr/>
        </p:nvSpPr>
        <p:spPr>
          <a:xfrm>
            <a:off x="868680" y="1874519"/>
            <a:ext cx="402336" cy="402336"/>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1</a:t>
            </a:r>
          </a:p>
        </p:txBody>
      </p:sp>
      <p:sp>
        <p:nvSpPr>
          <p:cNvPr id="5" name="TextBox 4"/>
          <p:cNvSpPr txBox="1"/>
          <p:nvPr/>
        </p:nvSpPr>
        <p:spPr>
          <a:xfrm>
            <a:off x="1435607" y="1837943"/>
            <a:ext cx="4449927" cy="746760"/>
          </a:xfrm>
          <a:prstGeom prst="rect">
            <a:avLst/>
          </a:prstGeom>
          <a:noFill/>
        </p:spPr>
        <p:txBody>
          <a:bodyPr wrap="square" anchor="ctr" lIns="0" rIns="0" tIns="0" bIns="0">
            <a:noAutofit/>
          </a:bodyPr>
          <a:lstStyle/>
          <a:p>
            <a:r>
              <a:rPr sz="1500" b="1" i="0">
                <a:solidFill>
                  <a:srgbClr val="FFFFFF"/>
                </a:solidFill>
                <a:latin typeface="Calibri"/>
              </a:rPr>
              <a:t>Du bist nicht deine Gedanken</a:t>
            </a:r>
          </a:p>
          <a:p>
            <a:r>
              <a:rPr sz="1150" b="0" i="0">
                <a:solidFill>
                  <a:srgbClr val="AEB6C6"/>
                </a:solidFill>
                <a:latin typeface="Calibri"/>
              </a:rPr>
              <a:t>Der innere Beobachter</a:t>
            </a:r>
          </a:p>
        </p:txBody>
      </p:sp>
      <p:sp>
        <p:nvSpPr>
          <p:cNvPr id="6" name="Oval 5"/>
          <p:cNvSpPr/>
          <p:nvPr/>
        </p:nvSpPr>
        <p:spPr>
          <a:xfrm>
            <a:off x="868680" y="2621280"/>
            <a:ext cx="402336" cy="402336"/>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2</a:t>
            </a:r>
          </a:p>
        </p:txBody>
      </p:sp>
      <p:sp>
        <p:nvSpPr>
          <p:cNvPr id="7" name="TextBox 6"/>
          <p:cNvSpPr txBox="1"/>
          <p:nvPr/>
        </p:nvSpPr>
        <p:spPr>
          <a:xfrm>
            <a:off x="1435607" y="2584704"/>
            <a:ext cx="4449927" cy="746760"/>
          </a:xfrm>
          <a:prstGeom prst="rect">
            <a:avLst/>
          </a:prstGeom>
          <a:noFill/>
        </p:spPr>
        <p:txBody>
          <a:bodyPr wrap="square" anchor="ctr" lIns="0" rIns="0" tIns="0" bIns="0">
            <a:noAutofit/>
          </a:bodyPr>
          <a:lstStyle/>
          <a:p>
            <a:r>
              <a:rPr sz="1500" b="1" i="0">
                <a:solidFill>
                  <a:srgbClr val="FFFFFF"/>
                </a:solidFill>
                <a:latin typeface="Calibri"/>
              </a:rPr>
              <a:t>Automatische Gedanken</a:t>
            </a:r>
          </a:p>
          <a:p>
            <a:r>
              <a:rPr sz="1150" b="0" i="0">
                <a:solidFill>
                  <a:srgbClr val="AEB6C6"/>
                </a:solidFill>
                <a:latin typeface="Calibri"/>
              </a:rPr>
              <a:t>Situation – Gedanke – Gefühl</a:t>
            </a:r>
          </a:p>
        </p:txBody>
      </p:sp>
      <p:sp>
        <p:nvSpPr>
          <p:cNvPr id="8" name="Oval 7"/>
          <p:cNvSpPr/>
          <p:nvPr/>
        </p:nvSpPr>
        <p:spPr>
          <a:xfrm>
            <a:off x="868680" y="3368040"/>
            <a:ext cx="402336" cy="402336"/>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3</a:t>
            </a:r>
          </a:p>
        </p:txBody>
      </p:sp>
      <p:sp>
        <p:nvSpPr>
          <p:cNvPr id="9" name="TextBox 8"/>
          <p:cNvSpPr txBox="1"/>
          <p:nvPr/>
        </p:nvSpPr>
        <p:spPr>
          <a:xfrm>
            <a:off x="1435607" y="3331464"/>
            <a:ext cx="4449927" cy="746760"/>
          </a:xfrm>
          <a:prstGeom prst="rect">
            <a:avLst/>
          </a:prstGeom>
          <a:noFill/>
        </p:spPr>
        <p:txBody>
          <a:bodyPr wrap="square" anchor="ctr" lIns="0" rIns="0" tIns="0" bIns="0">
            <a:noAutofit/>
          </a:bodyPr>
          <a:lstStyle/>
          <a:p>
            <a:r>
              <a:rPr sz="1500" b="1" i="0">
                <a:solidFill>
                  <a:srgbClr val="FFFFFF"/>
                </a:solidFill>
                <a:latin typeface="Calibri"/>
              </a:rPr>
              <a:t>Die Reiz-Reaktions-Lücke</a:t>
            </a:r>
          </a:p>
          <a:p>
            <a:r>
              <a:rPr sz="1150" b="0" i="0">
                <a:solidFill>
                  <a:srgbClr val="AEB6C6"/>
                </a:solidFill>
                <a:latin typeface="Calibri"/>
              </a:rPr>
              <a:t>Der Raum der Freiheit</a:t>
            </a:r>
          </a:p>
        </p:txBody>
      </p:sp>
      <p:sp>
        <p:nvSpPr>
          <p:cNvPr id="10" name="Oval 9"/>
          <p:cNvSpPr/>
          <p:nvPr/>
        </p:nvSpPr>
        <p:spPr>
          <a:xfrm>
            <a:off x="868680" y="4114800"/>
            <a:ext cx="402336" cy="402336"/>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4</a:t>
            </a:r>
          </a:p>
        </p:txBody>
      </p:sp>
      <p:sp>
        <p:nvSpPr>
          <p:cNvPr id="11" name="TextBox 10"/>
          <p:cNvSpPr txBox="1"/>
          <p:nvPr/>
        </p:nvSpPr>
        <p:spPr>
          <a:xfrm>
            <a:off x="1435607" y="4078224"/>
            <a:ext cx="4449927" cy="746760"/>
          </a:xfrm>
          <a:prstGeom prst="rect">
            <a:avLst/>
          </a:prstGeom>
          <a:noFill/>
        </p:spPr>
        <p:txBody>
          <a:bodyPr wrap="square" anchor="ctr" lIns="0" rIns="0" tIns="0" bIns="0">
            <a:noAutofit/>
          </a:bodyPr>
          <a:lstStyle/>
          <a:p>
            <a:r>
              <a:rPr sz="1500" b="1" i="0">
                <a:solidFill>
                  <a:srgbClr val="FFFFFF"/>
                </a:solidFill>
                <a:latin typeface="Calibri"/>
              </a:rPr>
              <a:t>Kognitive Verzerrungen</a:t>
            </a:r>
          </a:p>
          <a:p>
            <a:r>
              <a:rPr sz="1150" b="0" i="0">
                <a:solidFill>
                  <a:srgbClr val="AEB6C6"/>
                </a:solidFill>
                <a:latin typeface="Calibri"/>
              </a:rPr>
              <a:t>Die häufigsten Denkfehler</a:t>
            </a:r>
          </a:p>
        </p:txBody>
      </p:sp>
      <p:sp>
        <p:nvSpPr>
          <p:cNvPr id="12" name="Oval 11"/>
          <p:cNvSpPr/>
          <p:nvPr/>
        </p:nvSpPr>
        <p:spPr>
          <a:xfrm>
            <a:off x="868680" y="4861560"/>
            <a:ext cx="402336" cy="402336"/>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5</a:t>
            </a:r>
          </a:p>
        </p:txBody>
      </p:sp>
      <p:sp>
        <p:nvSpPr>
          <p:cNvPr id="13" name="TextBox 12"/>
          <p:cNvSpPr txBox="1"/>
          <p:nvPr/>
        </p:nvSpPr>
        <p:spPr>
          <a:xfrm>
            <a:off x="1435607" y="4824984"/>
            <a:ext cx="4449927" cy="746760"/>
          </a:xfrm>
          <a:prstGeom prst="rect">
            <a:avLst/>
          </a:prstGeom>
          <a:noFill/>
        </p:spPr>
        <p:txBody>
          <a:bodyPr wrap="square" anchor="ctr" lIns="0" rIns="0" tIns="0" bIns="0">
            <a:noAutofit/>
          </a:bodyPr>
          <a:lstStyle/>
          <a:p>
            <a:r>
              <a:rPr sz="1500" b="1" i="0">
                <a:solidFill>
                  <a:srgbClr val="FFFFFF"/>
                </a:solidFill>
                <a:latin typeface="Calibri"/>
              </a:rPr>
              <a:t>Grübeln &amp; Gedankenkreisen</a:t>
            </a:r>
          </a:p>
          <a:p>
            <a:r>
              <a:rPr sz="1150" b="0" i="0">
                <a:solidFill>
                  <a:srgbClr val="AEB6C6"/>
                </a:solidFill>
                <a:latin typeface="Calibri"/>
              </a:rPr>
              <a:t>Raus aus der Schleife</a:t>
            </a:r>
          </a:p>
        </p:txBody>
      </p:sp>
      <p:sp>
        <p:nvSpPr>
          <p:cNvPr id="14" name="Oval 13"/>
          <p:cNvSpPr/>
          <p:nvPr/>
        </p:nvSpPr>
        <p:spPr>
          <a:xfrm>
            <a:off x="868680" y="5608320"/>
            <a:ext cx="402336" cy="402336"/>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6</a:t>
            </a:r>
          </a:p>
        </p:txBody>
      </p:sp>
      <p:sp>
        <p:nvSpPr>
          <p:cNvPr id="15" name="TextBox 14"/>
          <p:cNvSpPr txBox="1"/>
          <p:nvPr/>
        </p:nvSpPr>
        <p:spPr>
          <a:xfrm>
            <a:off x="1435607" y="5571744"/>
            <a:ext cx="4449927" cy="746760"/>
          </a:xfrm>
          <a:prstGeom prst="rect">
            <a:avLst/>
          </a:prstGeom>
          <a:noFill/>
        </p:spPr>
        <p:txBody>
          <a:bodyPr wrap="square" anchor="ctr" lIns="0" rIns="0" tIns="0" bIns="0">
            <a:noAutofit/>
          </a:bodyPr>
          <a:lstStyle/>
          <a:p>
            <a:r>
              <a:rPr sz="1500" b="1" i="0">
                <a:solidFill>
                  <a:srgbClr val="FFFFFF"/>
                </a:solidFill>
                <a:latin typeface="Calibri"/>
              </a:rPr>
              <a:t>Der innere Kritiker</a:t>
            </a:r>
          </a:p>
          <a:p>
            <a:r>
              <a:rPr sz="1150" b="0" i="0">
                <a:solidFill>
                  <a:srgbClr val="AEB6C6"/>
                </a:solidFill>
                <a:latin typeface="Calibri"/>
              </a:rPr>
              <a:t>Die strenge Stimme</a:t>
            </a:r>
          </a:p>
        </p:txBody>
      </p:sp>
      <p:sp>
        <p:nvSpPr>
          <p:cNvPr id="16" name="Oval 15"/>
          <p:cNvSpPr/>
          <p:nvPr/>
        </p:nvSpPr>
        <p:spPr>
          <a:xfrm>
            <a:off x="6095847" y="1874519"/>
            <a:ext cx="402336" cy="402336"/>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7</a:t>
            </a:r>
          </a:p>
        </p:txBody>
      </p:sp>
      <p:sp>
        <p:nvSpPr>
          <p:cNvPr id="17" name="TextBox 16"/>
          <p:cNvSpPr txBox="1"/>
          <p:nvPr/>
        </p:nvSpPr>
        <p:spPr>
          <a:xfrm>
            <a:off x="6662775" y="1837943"/>
            <a:ext cx="4449927" cy="896112"/>
          </a:xfrm>
          <a:prstGeom prst="rect">
            <a:avLst/>
          </a:prstGeom>
          <a:noFill/>
        </p:spPr>
        <p:txBody>
          <a:bodyPr wrap="square" anchor="ctr" lIns="0" rIns="0" tIns="0" bIns="0">
            <a:noAutofit/>
          </a:bodyPr>
          <a:lstStyle/>
          <a:p>
            <a:r>
              <a:rPr sz="1500" b="1" i="0">
                <a:solidFill>
                  <a:srgbClr val="FFFFFF"/>
                </a:solidFill>
                <a:latin typeface="Calibri"/>
              </a:rPr>
              <a:t>Emotionsregulation</a:t>
            </a:r>
          </a:p>
          <a:p>
            <a:r>
              <a:rPr sz="1150" b="0" i="0">
                <a:solidFill>
                  <a:srgbClr val="AEB6C6"/>
                </a:solidFill>
                <a:latin typeface="Calibri"/>
              </a:rPr>
              <a:t>Gefühle sind Wellen</a:t>
            </a:r>
          </a:p>
        </p:txBody>
      </p:sp>
      <p:sp>
        <p:nvSpPr>
          <p:cNvPr id="18" name="Oval 17"/>
          <p:cNvSpPr/>
          <p:nvPr/>
        </p:nvSpPr>
        <p:spPr>
          <a:xfrm>
            <a:off x="6095847" y="2770632"/>
            <a:ext cx="402336" cy="402336"/>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8</a:t>
            </a:r>
          </a:p>
        </p:txBody>
      </p:sp>
      <p:sp>
        <p:nvSpPr>
          <p:cNvPr id="19" name="TextBox 18"/>
          <p:cNvSpPr txBox="1"/>
          <p:nvPr/>
        </p:nvSpPr>
        <p:spPr>
          <a:xfrm>
            <a:off x="6662775" y="2734056"/>
            <a:ext cx="4449927" cy="896112"/>
          </a:xfrm>
          <a:prstGeom prst="rect">
            <a:avLst/>
          </a:prstGeom>
          <a:noFill/>
        </p:spPr>
        <p:txBody>
          <a:bodyPr wrap="square" anchor="ctr" lIns="0" rIns="0" tIns="0" bIns="0">
            <a:noAutofit/>
          </a:bodyPr>
          <a:lstStyle/>
          <a:p>
            <a:r>
              <a:rPr sz="1500" b="1" i="0">
                <a:solidFill>
                  <a:srgbClr val="FFFFFF"/>
                </a:solidFill>
                <a:latin typeface="Calibri"/>
              </a:rPr>
              <a:t>Neuroplastizität</a:t>
            </a:r>
          </a:p>
          <a:p>
            <a:r>
              <a:rPr sz="1150" b="0" i="0">
                <a:solidFill>
                  <a:srgbClr val="AEB6C6"/>
                </a:solidFill>
                <a:latin typeface="Calibri"/>
              </a:rPr>
              <a:t>Warum Veränderung geht</a:t>
            </a:r>
          </a:p>
        </p:txBody>
      </p:sp>
      <p:sp>
        <p:nvSpPr>
          <p:cNvPr id="20" name="Oval 19"/>
          <p:cNvSpPr/>
          <p:nvPr/>
        </p:nvSpPr>
        <p:spPr>
          <a:xfrm>
            <a:off x="6095847" y="3666744"/>
            <a:ext cx="402336" cy="402336"/>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9</a:t>
            </a:r>
          </a:p>
        </p:txBody>
      </p:sp>
      <p:sp>
        <p:nvSpPr>
          <p:cNvPr id="21" name="TextBox 20"/>
          <p:cNvSpPr txBox="1"/>
          <p:nvPr/>
        </p:nvSpPr>
        <p:spPr>
          <a:xfrm>
            <a:off x="6662775" y="3630168"/>
            <a:ext cx="4449927" cy="896112"/>
          </a:xfrm>
          <a:prstGeom prst="rect">
            <a:avLst/>
          </a:prstGeom>
          <a:noFill/>
        </p:spPr>
        <p:txBody>
          <a:bodyPr wrap="square" anchor="ctr" lIns="0" rIns="0" tIns="0" bIns="0">
            <a:noAutofit/>
          </a:bodyPr>
          <a:lstStyle/>
          <a:p>
            <a:r>
              <a:rPr sz="1500" b="1" i="0">
                <a:solidFill>
                  <a:srgbClr val="FFFFFF"/>
                </a:solidFill>
                <a:latin typeface="Calibri"/>
              </a:rPr>
              <a:t>Framing</a:t>
            </a:r>
          </a:p>
          <a:p>
            <a:r>
              <a:rPr sz="1150" b="0" i="0">
                <a:solidFill>
                  <a:srgbClr val="AEB6C6"/>
                </a:solidFill>
                <a:latin typeface="Calibri"/>
              </a:rPr>
              <a:t>Die Macht der Worte</a:t>
            </a:r>
          </a:p>
        </p:txBody>
      </p:sp>
      <p:sp>
        <p:nvSpPr>
          <p:cNvPr id="22" name="Oval 21"/>
          <p:cNvSpPr/>
          <p:nvPr/>
        </p:nvSpPr>
        <p:spPr>
          <a:xfrm>
            <a:off x="6095847" y="4562856"/>
            <a:ext cx="402336" cy="402336"/>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10</a:t>
            </a:r>
          </a:p>
        </p:txBody>
      </p:sp>
      <p:sp>
        <p:nvSpPr>
          <p:cNvPr id="23" name="TextBox 22"/>
          <p:cNvSpPr txBox="1"/>
          <p:nvPr/>
        </p:nvSpPr>
        <p:spPr>
          <a:xfrm>
            <a:off x="6662775" y="4526280"/>
            <a:ext cx="4449927" cy="896112"/>
          </a:xfrm>
          <a:prstGeom prst="rect">
            <a:avLst/>
          </a:prstGeom>
          <a:noFill/>
        </p:spPr>
        <p:txBody>
          <a:bodyPr wrap="square" anchor="ctr" lIns="0" rIns="0" tIns="0" bIns="0">
            <a:noAutofit/>
          </a:bodyPr>
          <a:lstStyle/>
          <a:p>
            <a:r>
              <a:rPr sz="1500" b="1" i="0">
                <a:solidFill>
                  <a:srgbClr val="FFFFFF"/>
                </a:solidFill>
                <a:latin typeface="Calibri"/>
              </a:rPr>
              <a:t>Algorithmen &amp; Filterblasen</a:t>
            </a:r>
          </a:p>
          <a:p>
            <a:r>
              <a:rPr sz="1150" b="0" i="0">
                <a:solidFill>
                  <a:srgbClr val="AEB6C6"/>
                </a:solidFill>
                <a:latin typeface="Calibri"/>
              </a:rPr>
              <a:t>Dein Feed ist nicht die Welt</a:t>
            </a:r>
          </a:p>
        </p:txBody>
      </p:sp>
      <p:sp>
        <p:nvSpPr>
          <p:cNvPr id="24" name="Oval 23"/>
          <p:cNvSpPr/>
          <p:nvPr/>
        </p:nvSpPr>
        <p:spPr>
          <a:xfrm>
            <a:off x="6095847" y="5458968"/>
            <a:ext cx="402336" cy="402336"/>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11</a:t>
            </a:r>
          </a:p>
        </p:txBody>
      </p:sp>
      <p:sp>
        <p:nvSpPr>
          <p:cNvPr id="25" name="TextBox 24"/>
          <p:cNvSpPr txBox="1"/>
          <p:nvPr/>
        </p:nvSpPr>
        <p:spPr>
          <a:xfrm>
            <a:off x="6662775" y="5422392"/>
            <a:ext cx="4449927" cy="896112"/>
          </a:xfrm>
          <a:prstGeom prst="rect">
            <a:avLst/>
          </a:prstGeom>
          <a:noFill/>
        </p:spPr>
        <p:txBody>
          <a:bodyPr wrap="square" anchor="ctr" lIns="0" rIns="0" tIns="0" bIns="0">
            <a:noAutofit/>
          </a:bodyPr>
          <a:lstStyle/>
          <a:p>
            <a:r>
              <a:rPr sz="1500" b="1" i="0">
                <a:solidFill>
                  <a:srgbClr val="FFFFFF"/>
                </a:solidFill>
                <a:latin typeface="Calibri"/>
              </a:rPr>
              <a:t>Werte &amp; Ziele</a:t>
            </a:r>
          </a:p>
          <a:p>
            <a:r>
              <a:rPr sz="1150" b="0" i="0">
                <a:solidFill>
                  <a:srgbClr val="AEB6C6"/>
                </a:solidFill>
                <a:latin typeface="Calibri"/>
              </a:rPr>
              <a:t>Die Richtung unter dem Tun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01</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01</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Du bist nicht deine Gedanken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Der innere Beobachter</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In dir gibt es eine Instanz, die deine Gedanken bemerkt. Wenn du sagen kannst „Ich habe gerade den Gedanken, dass ich das nicht schaffe“, dann bist du nicht dieser Gedanke – sondern der, der ihn wahrnimmt.</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Welchen Gedanken hältst du gerade für die Wahrheit – obwohl du nur der bist, der ihn bemerkt?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02</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02</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Automatische Gedanken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Situation – Gedanke – Gefühl</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Zwischen Situation und Gefühl liegt immer ein Gedanke. Zwei Menschen, dieselbe Absage – der eine denkt „Ich bin nicht gut genug“, der andere „Das hat nicht gepasst“. Der Gedanke entscheidet, nicht das Ereignis.</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Welcher automatische Gedanke taucht bei dir am häufigsten auf?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03</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03</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Die Reiz-Reaktions-Lücke</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Der Raum, in dem du frei bist</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Zwischen Reiz und Reaktion liegt ein Raum. Du kannst den Reiz nicht verhindern – aber den Moment danach dehnen. Ein einziger bewusster Atemzug schiebt einen Keil dazwischen, und in diesem Keil entsteht die Wahl.</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In welchen Situationen ist deine Reiz-Reaktions-Lücke am kleinsten?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04</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04</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Kognitive Verzerrungen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Die häufigsten Denkfehler</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Schwarz-Weiß-Denken, Katastrophisieren, Gedankenlesen – die meisten Grübelschleifen bestehen aus wenigen Mustern. Ein Gefühl belegt nur, dass du etwas glaubst, nicht dass es stimmt. Wer die Muster benennt, muss ihnen nicht mehr glauben.</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Welche Verzerrung ist dein persönlicher Klassiker?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05</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05</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Grübeln &amp; Gedankenkreisen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Raus aus der Endlosschleife</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Grübeln fühlt sich nützlich an, ist aber nur dasselbe Denken in Wiederholung – ohne Ausgang. Echtes Problemlösen führt zu einem nächsten Schritt, Grübeln zu noch mehr Fragen. Du gewinnst es nicht, du unterbrichst es.</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Woran erkennst du bei dir den Unterschied zwischen Nachdenken und Kreisen?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06</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06</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Der innere Kritiker</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Die strenge Stimme verstehen</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Der innere Kritiker ist kein Feind, sondern ein alter Beschützer mit veralteten Methoden. Dagegen anzukämpfen macht ihn lauter. Du musst ihn nicht besiegen – nur aufhören, jedes seiner Worte für bare Münze zu nehmen.</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Wovor will dich deine strenge Stimme im Kern beschützen?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07</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07</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Emotionsregulation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Gefühle sind Wellen, keine Wände</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Wegdrücken und Überflutetwerden funktionieren beide schlecht. Der dritte Weg: das Gefühl benennen, halten und atmen. Jede Welle steigt, erreicht einen Höhepunkt und ebbt wieder ab – meist schneller, als wir fürchten.</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Neigst du eher zum Wegdrücken oder zum Überflutetwerden?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08</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08</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Neuroplastizität</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Warum Veränderung möglich ist</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Was zusammen feuert, verdrahtet sich. Jeder Gedanke, den du wiederholst, macht die zugehörige Bahn ein Stück breiter – ungenutzte Bahnen verblassen. Veränderung ist kein Wunschdenken, sondern Biologie. Häufigkeit schlägt Intensität.</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Welche neue Bahn würdest du gern anlegen – und was wäre der kleinste tägliche Schritt?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09</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09</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Framing</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Wie ein einziges Wort deine Meinung macht</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„Der Staat investiert zehn Milliarden“ und „gibt zehn Milliarden aus“ meinen dieselbe Zahl – und lösen zwei Gefühle aus. Ein Rahmen liefert die Bewertung gleich mit, ganz ohne falsche Fakten. Freiheit beginnt damit, ihn zu erkennen.</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Bei welchem Wort merkst du, dass du reagierst, bevor du den Inhalt geprüft hast?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10</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10</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Algorithmen &amp; Filterblasen</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Dein Feed ist nicht die Welt</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Was du online siehst, ist kein Abbild der Welt, sondern eine Auswahl aus deinem bisherigen Verhalten. Empörung wird nach oben gespült, weil sie „performt“ – nicht weil sie wahrer wäre. Dein Feed ist ein Spiegel, kein Fenster.</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Wann hast du zuletzt online etwas gesehen, das deiner Meinung ernsthaft widersprach?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731519" y="1005840"/>
            <a:ext cx="2743200" cy="2926080"/>
          </a:xfrm>
          <a:prstGeom prst="rect">
            <a:avLst/>
          </a:prstGeom>
          <a:noFill/>
        </p:spPr>
        <p:txBody>
          <a:bodyPr wrap="square" anchor="ctr" lIns="0" rIns="0" tIns="0" bIns="0">
            <a:noAutofit/>
          </a:bodyPr>
          <a:lstStyle/>
          <a:p>
            <a:pPr algn="l"/>
            <a:r>
              <a:rPr sz="20000" b="1" i="0">
                <a:solidFill>
                  <a:srgbClr val="1A2233"/>
                </a:solidFill>
                <a:latin typeface="Cambria"/>
              </a:rPr>
              <a:t>11</a:t>
            </a:r>
          </a:p>
        </p:txBody>
      </p:sp>
      <p:sp>
        <p:nvSpPr>
          <p:cNvPr id="3" name="TextBox 2"/>
          <p:cNvSpPr txBox="1"/>
          <p:nvPr/>
        </p:nvSpPr>
        <p:spPr>
          <a:xfrm>
            <a:off x="2971800" y="1234440"/>
            <a:ext cx="841248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MODUL 11</a:t>
            </a:r>
          </a:p>
        </p:txBody>
      </p:sp>
      <p:sp>
        <p:nvSpPr>
          <p:cNvPr id="4" name="TextBox 3"/>
          <p:cNvSpPr txBox="1"/>
          <p:nvPr/>
        </p:nvSpPr>
        <p:spPr>
          <a:xfrm>
            <a:off x="2971800" y="1645920"/>
            <a:ext cx="8412480" cy="640080"/>
          </a:xfrm>
          <a:prstGeom prst="rect">
            <a:avLst/>
          </a:prstGeom>
          <a:noFill/>
        </p:spPr>
        <p:txBody>
          <a:bodyPr wrap="square" anchor="t" lIns="0" rIns="0" tIns="0" bIns="0">
            <a:noAutofit/>
          </a:bodyPr>
          <a:lstStyle/>
          <a:p>
            <a:r>
              <a:rPr sz="3000" b="1" i="0">
                <a:solidFill>
                  <a:srgbClr val="FFFFFF"/>
                </a:solidFill>
                <a:latin typeface="Cambria"/>
              </a:rPr>
              <a:t>Werte &amp; Ziele</a:t>
            </a:r>
          </a:p>
        </p:txBody>
      </p:sp>
      <p:sp>
        <p:nvSpPr>
          <p:cNvPr id="5" name="TextBox 4"/>
          <p:cNvSpPr txBox="1"/>
          <p:nvPr/>
        </p:nvSpPr>
        <p:spPr>
          <a:xfrm>
            <a:off x="2971800" y="2331720"/>
            <a:ext cx="8412480" cy="365760"/>
          </a:xfrm>
          <a:prstGeom prst="rect">
            <a:avLst/>
          </a:prstGeom>
          <a:noFill/>
        </p:spPr>
        <p:txBody>
          <a:bodyPr wrap="square" anchor="t" lIns="0" rIns="0" tIns="0" bIns="0">
            <a:noAutofit/>
          </a:bodyPr>
          <a:lstStyle/>
          <a:p>
            <a:r>
              <a:rPr sz="1600" b="1" i="0">
                <a:solidFill>
                  <a:srgbClr val="34C4C4"/>
                </a:solidFill>
                <a:latin typeface="Calibri"/>
              </a:rPr>
              <a:t>Die Richtung unter dem Tun</a:t>
            </a:r>
          </a:p>
        </p:txBody>
      </p:sp>
      <p:sp>
        <p:nvSpPr>
          <p:cNvPr id="6" name="TextBox 5"/>
          <p:cNvSpPr txBox="1"/>
          <p:nvPr/>
        </p:nvSpPr>
        <p:spPr>
          <a:xfrm>
            <a:off x="2971800" y="2880360"/>
            <a:ext cx="7955279" cy="1737360"/>
          </a:xfrm>
          <a:prstGeom prst="rect">
            <a:avLst/>
          </a:prstGeom>
          <a:noFill/>
        </p:spPr>
        <p:txBody>
          <a:bodyPr wrap="square" anchor="t" lIns="0" rIns="0" tIns="0" bIns="0">
            <a:noAutofit/>
          </a:bodyPr>
          <a:lstStyle/>
          <a:p>
            <a:pPr>
              <a:lnSpc>
                <a:spcPct val="125000"/>
              </a:lnSpc>
            </a:pPr>
            <a:r>
              <a:rPr sz="1500" b="0" i="0">
                <a:solidFill>
                  <a:srgbClr val="D8DBE6"/>
                </a:solidFill>
                <a:latin typeface="Calibri"/>
              </a:rPr>
              <a:t>Ziele sind Punkte auf einer Landkarte, Werte sind die Himmelsrichtung. Wer weiß, wofür er losgeht, entscheidet leichter und findet Sinn schon im Weg. Ein Wert wird erst real, wenn er in eine kleine konkrete Handlung übersetzt wird.</a:t>
            </a:r>
          </a:p>
        </p:txBody>
      </p:sp>
      <p:sp>
        <p:nvSpPr>
          <p:cNvPr id="7" name="Rectangle 6"/>
          <p:cNvSpPr/>
          <p:nvPr/>
        </p:nvSpPr>
        <p:spPr>
          <a:xfrm>
            <a:off x="2971800" y="4800600"/>
            <a:ext cx="7772400" cy="10972"/>
          </a:xfrm>
          <a:prstGeom prst="rect">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71800" y="4983480"/>
            <a:ext cx="7955279" cy="320040"/>
          </a:xfrm>
          <a:prstGeom prst="rect">
            <a:avLst/>
          </a:prstGeom>
          <a:noFill/>
        </p:spPr>
        <p:txBody>
          <a:bodyPr wrap="square" anchor="t" lIns="0" rIns="0" tIns="0" bIns="0">
            <a:noAutofit/>
          </a:bodyPr>
          <a:lstStyle/>
          <a:p>
            <a:pPr>
              <a:spcAft>
                <a:spcPts val="600"/>
              </a:spcAft>
            </a:pPr>
            <a:r>
              <a:rPr sz="1150" b="1" i="0" spc="240">
                <a:solidFill>
                  <a:srgbClr val="21B2BD"/>
                </a:solidFill>
                <a:latin typeface="Calibri"/>
              </a:rPr>
              <a:t>REFLEXION</a:t>
            </a:r>
          </a:p>
        </p:txBody>
      </p:sp>
      <p:sp>
        <p:nvSpPr>
          <p:cNvPr id="9" name="TextBox 8"/>
          <p:cNvSpPr txBox="1"/>
          <p:nvPr/>
        </p:nvSpPr>
        <p:spPr>
          <a:xfrm>
            <a:off x="2971800" y="5303520"/>
            <a:ext cx="7955279" cy="640080"/>
          </a:xfrm>
          <a:prstGeom prst="rect">
            <a:avLst/>
          </a:prstGeom>
          <a:noFill/>
        </p:spPr>
        <p:txBody>
          <a:bodyPr wrap="square" anchor="t" lIns="0" rIns="0" tIns="0" bIns="0">
            <a:noAutofit/>
          </a:bodyPr>
          <a:lstStyle/>
          <a:p>
            <a:pPr>
              <a:lnSpc>
                <a:spcPct val="112000"/>
              </a:lnSpc>
            </a:pPr>
            <a:r>
              <a:rPr sz="1600" b="0" i="1">
                <a:solidFill>
                  <a:srgbClr val="FFFFFF"/>
                </a:solidFill>
                <a:latin typeface="Calibri"/>
              </a:rPr>
              <a:t>Verfolgst du gerade Ziele, die eigentlich nicht deine sind?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10454335" cy="365760"/>
          </a:xfrm>
          <a:prstGeom prst="rect">
            <a:avLst/>
          </a:prstGeom>
          <a:noFill/>
        </p:spPr>
        <p:txBody>
          <a:bodyPr wrap="square" anchor="t" lIns="0" rIns="0" tIns="0" bIns="0">
            <a:noAutofit/>
          </a:bodyPr>
          <a:lstStyle/>
          <a:p>
            <a:pPr>
              <a:spcAft>
                <a:spcPts val="600"/>
              </a:spcAft>
            </a:pPr>
            <a:r>
              <a:rPr sz="1250" b="1" i="0" spc="240">
                <a:solidFill>
                  <a:srgbClr val="21B2BD"/>
                </a:solidFill>
                <a:latin typeface="Calibri"/>
              </a:rPr>
              <a:t>ÜBUNG 2 · SELBSTEINSCHÄTZUNG</a:t>
            </a:r>
          </a:p>
        </p:txBody>
      </p:sp>
      <p:sp>
        <p:nvSpPr>
          <p:cNvPr id="3" name="TextBox 2"/>
          <p:cNvSpPr txBox="1"/>
          <p:nvPr/>
        </p:nvSpPr>
        <p:spPr>
          <a:xfrm>
            <a:off x="868680" y="1024128"/>
            <a:ext cx="10454335" cy="640080"/>
          </a:xfrm>
          <a:prstGeom prst="rect">
            <a:avLst/>
          </a:prstGeom>
          <a:noFill/>
        </p:spPr>
        <p:txBody>
          <a:bodyPr wrap="square" anchor="t" lIns="0" rIns="0" tIns="0" bIns="0">
            <a:noAutofit/>
          </a:bodyPr>
          <a:lstStyle/>
          <a:p>
            <a:r>
              <a:rPr sz="3000" b="1" i="0">
                <a:solidFill>
                  <a:srgbClr val="FFFFFF"/>
                </a:solidFill>
                <a:latin typeface="Cambria"/>
              </a:rPr>
              <a:t>Wo stehst du?</a:t>
            </a:r>
          </a:p>
        </p:txBody>
      </p:sp>
      <p:sp>
        <p:nvSpPr>
          <p:cNvPr id="4" name="Oval 3"/>
          <p:cNvSpPr/>
          <p:nvPr/>
        </p:nvSpPr>
        <p:spPr>
          <a:xfrm>
            <a:off x="868680" y="1965960"/>
            <a:ext cx="420624" cy="420624"/>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1</a:t>
            </a:r>
          </a:p>
        </p:txBody>
      </p:sp>
      <p:sp>
        <p:nvSpPr>
          <p:cNvPr id="5" name="TextBox 4"/>
          <p:cNvSpPr txBox="1"/>
          <p:nvPr/>
        </p:nvSpPr>
        <p:spPr>
          <a:xfrm>
            <a:off x="1527048" y="194767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Geh die elf Themen im Kopf durch und markiere die drei, die dich am meisten betreffen.</a:t>
            </a:r>
          </a:p>
        </p:txBody>
      </p:sp>
      <p:sp>
        <p:nvSpPr>
          <p:cNvPr id="6" name="Oval 5"/>
          <p:cNvSpPr/>
          <p:nvPr/>
        </p:nvSpPr>
        <p:spPr>
          <a:xfrm>
            <a:off x="868680" y="2697479"/>
            <a:ext cx="420624" cy="420624"/>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2</a:t>
            </a:r>
          </a:p>
        </p:txBody>
      </p:sp>
      <p:sp>
        <p:nvSpPr>
          <p:cNvPr id="7" name="TextBox 6"/>
          <p:cNvSpPr txBox="1"/>
          <p:nvPr/>
        </p:nvSpPr>
        <p:spPr>
          <a:xfrm>
            <a:off x="1527048" y="2679191"/>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Schreib zu jedem einen konkreten Moment aus deiner letzten Woche auf.</a:t>
            </a:r>
          </a:p>
        </p:txBody>
      </p:sp>
      <p:sp>
        <p:nvSpPr>
          <p:cNvPr id="8" name="Oval 7"/>
          <p:cNvSpPr/>
          <p:nvPr/>
        </p:nvSpPr>
        <p:spPr>
          <a:xfrm>
            <a:off x="868680" y="3429000"/>
            <a:ext cx="420624" cy="420624"/>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3</a:t>
            </a:r>
          </a:p>
        </p:txBody>
      </p:sp>
      <p:sp>
        <p:nvSpPr>
          <p:cNvPr id="9" name="TextBox 8"/>
          <p:cNvSpPr txBox="1"/>
          <p:nvPr/>
        </p:nvSpPr>
        <p:spPr>
          <a:xfrm>
            <a:off x="1527048" y="341071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Frag bei jedem: Wollte ich so reagieren – oder lief es automatisch?</a:t>
            </a:r>
          </a:p>
        </p:txBody>
      </p:sp>
      <p:sp>
        <p:nvSpPr>
          <p:cNvPr id="10" name="Oval 9"/>
          <p:cNvSpPr/>
          <p:nvPr/>
        </p:nvSpPr>
        <p:spPr>
          <a:xfrm>
            <a:off x="868680" y="4160520"/>
            <a:ext cx="420624" cy="420624"/>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500" b="1" i="0">
                <a:solidFill>
                  <a:srgbClr val="FFFFFF"/>
                </a:solidFill>
                <a:latin typeface="Cambria"/>
              </a:rPr>
              <a:t>4</a:t>
            </a:r>
          </a:p>
        </p:txBody>
      </p:sp>
      <p:sp>
        <p:nvSpPr>
          <p:cNvPr id="11" name="TextBox 10"/>
          <p:cNvSpPr txBox="1"/>
          <p:nvPr/>
        </p:nvSpPr>
        <p:spPr>
          <a:xfrm>
            <a:off x="1527048" y="4142232"/>
            <a:ext cx="9795967" cy="731519"/>
          </a:xfrm>
          <a:prstGeom prst="rect">
            <a:avLst/>
          </a:prstGeom>
          <a:noFill/>
        </p:spPr>
        <p:txBody>
          <a:bodyPr wrap="square" anchor="ctr" lIns="0" rIns="0" tIns="0" bIns="0">
            <a:noAutofit/>
          </a:bodyPr>
          <a:lstStyle/>
          <a:p>
            <a:pPr>
              <a:lnSpc>
                <a:spcPct val="108000"/>
              </a:lnSpc>
            </a:pPr>
            <a:r>
              <a:rPr sz="1550" b="0" i="0">
                <a:solidFill>
                  <a:srgbClr val="D8DBE6"/>
                </a:solidFill>
                <a:latin typeface="Calibri"/>
              </a:rPr>
              <a:t>Wähle ein einziges Thema, an dem du in den nächsten Wochen dranbleibst.</a:t>
            </a:r>
          </a:p>
        </p:txBody>
      </p:sp>
      <p:sp>
        <p:nvSpPr>
          <p:cNvPr id="12" name="Rounded Rectangle 11"/>
          <p:cNvSpPr/>
          <p:nvPr/>
        </p:nvSpPr>
        <p:spPr>
          <a:xfrm>
            <a:off x="868680" y="5166360"/>
            <a:ext cx="10454335" cy="1051560"/>
          </a:xfrm>
          <a:prstGeom prst="roundRect">
            <a:avLst>
              <a:gd name="adj" fmla="val 11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19" y="5349240"/>
            <a:ext cx="9814255" cy="320040"/>
          </a:xfrm>
          <a:prstGeom prst="rect">
            <a:avLst/>
          </a:prstGeom>
          <a:noFill/>
        </p:spPr>
        <p:txBody>
          <a:bodyPr wrap="square" anchor="t" lIns="0" rIns="0" tIns="0" bIns="0">
            <a:noAutofit/>
          </a:bodyPr>
          <a:lstStyle/>
          <a:p>
            <a:pPr>
              <a:spcAft>
                <a:spcPts val="600"/>
              </a:spcAft>
            </a:pPr>
            <a:r>
              <a:rPr sz="1150" b="1" i="0" spc="240">
                <a:solidFill>
                  <a:srgbClr val="8CC63F"/>
                </a:solidFill>
                <a:latin typeface="Calibri"/>
              </a:rPr>
              <a:t>MITNEHMEN</a:t>
            </a:r>
          </a:p>
        </p:txBody>
      </p:sp>
      <p:sp>
        <p:nvSpPr>
          <p:cNvPr id="14" name="TextBox 13"/>
          <p:cNvSpPr txBox="1"/>
          <p:nvPr/>
        </p:nvSpPr>
        <p:spPr>
          <a:xfrm>
            <a:off x="1188719" y="5669280"/>
            <a:ext cx="9814255" cy="502920"/>
          </a:xfrm>
          <a:prstGeom prst="rect">
            <a:avLst/>
          </a:prstGeom>
          <a:noFill/>
        </p:spPr>
        <p:txBody>
          <a:bodyPr wrap="square" anchor="t" lIns="0" rIns="0" tIns="0" bIns="0">
            <a:noAutofit/>
          </a:bodyPr>
          <a:lstStyle/>
          <a:p>
            <a:pPr>
              <a:lnSpc>
                <a:spcPct val="110000"/>
              </a:lnSpc>
            </a:pPr>
            <a:r>
              <a:rPr sz="1450" b="0" i="1">
                <a:solidFill>
                  <a:srgbClr val="FFFFFF"/>
                </a:solidFill>
                <a:latin typeface="Calibri"/>
              </a:rPr>
              <a:t>Nicht alles auf einmal. Ein Thema, bewusst gelebt, verändert mehr als zehn, die du nur gehört hast.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10454335"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WAS BLEIBT</a:t>
            </a:r>
          </a:p>
        </p:txBody>
      </p:sp>
      <p:sp>
        <p:nvSpPr>
          <p:cNvPr id="3" name="TextBox 2"/>
          <p:cNvSpPr txBox="1"/>
          <p:nvPr/>
        </p:nvSpPr>
        <p:spPr>
          <a:xfrm>
            <a:off x="868680" y="1024128"/>
            <a:ext cx="10454335" cy="640080"/>
          </a:xfrm>
          <a:prstGeom prst="rect">
            <a:avLst/>
          </a:prstGeom>
          <a:noFill/>
        </p:spPr>
        <p:txBody>
          <a:bodyPr wrap="square" anchor="t" lIns="0" rIns="0" tIns="0" bIns="0">
            <a:noAutofit/>
          </a:bodyPr>
          <a:lstStyle/>
          <a:p>
            <a:r>
              <a:rPr sz="3000" b="1" i="0">
                <a:solidFill>
                  <a:srgbClr val="FFFFFF"/>
                </a:solidFill>
                <a:latin typeface="Cambria"/>
              </a:rPr>
              <a:t>Drei Bewegungen für den Alltag</a:t>
            </a:r>
          </a:p>
        </p:txBody>
      </p:sp>
      <p:sp>
        <p:nvSpPr>
          <p:cNvPr id="4" name="Rounded Rectangle 3"/>
          <p:cNvSpPr/>
          <p:nvPr/>
        </p:nvSpPr>
        <p:spPr>
          <a:xfrm>
            <a:off x="868680" y="2286000"/>
            <a:ext cx="3240938" cy="3108960"/>
          </a:xfrm>
          <a:prstGeom prst="roundRect">
            <a:avLst>
              <a:gd name="adj" fmla="val 8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19" y="2651760"/>
            <a:ext cx="640080" cy="64008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2200" b="1" i="0">
                <a:solidFill>
                  <a:srgbClr val="FFFFFF"/>
                </a:solidFill>
                <a:latin typeface="Cambria"/>
              </a:rPr>
              <a:t>1</a:t>
            </a:r>
          </a:p>
        </p:txBody>
      </p:sp>
      <p:sp>
        <p:nvSpPr>
          <p:cNvPr id="6" name="TextBox 5"/>
          <p:cNvSpPr txBox="1"/>
          <p:nvPr/>
        </p:nvSpPr>
        <p:spPr>
          <a:xfrm>
            <a:off x="1188719" y="3520440"/>
            <a:ext cx="2600858" cy="457200"/>
          </a:xfrm>
          <a:prstGeom prst="rect">
            <a:avLst/>
          </a:prstGeom>
          <a:noFill/>
        </p:spPr>
        <p:txBody>
          <a:bodyPr wrap="square" anchor="t" lIns="0" rIns="0" tIns="0" bIns="0">
            <a:noAutofit/>
          </a:bodyPr>
          <a:lstStyle/>
          <a:p>
            <a:r>
              <a:rPr sz="2000" b="1" i="0">
                <a:solidFill>
                  <a:srgbClr val="FFFFFF"/>
                </a:solidFill>
                <a:latin typeface="Cambria"/>
              </a:rPr>
              <a:t>Beobachten</a:t>
            </a:r>
          </a:p>
        </p:txBody>
      </p:sp>
      <p:sp>
        <p:nvSpPr>
          <p:cNvPr id="7" name="TextBox 6"/>
          <p:cNvSpPr txBox="1"/>
          <p:nvPr/>
        </p:nvSpPr>
        <p:spPr>
          <a:xfrm>
            <a:off x="1188719" y="4069080"/>
            <a:ext cx="2600858" cy="1188720"/>
          </a:xfrm>
          <a:prstGeom prst="rect">
            <a:avLst/>
          </a:prstGeom>
          <a:noFill/>
        </p:spPr>
        <p:txBody>
          <a:bodyPr wrap="square" anchor="t" lIns="0" rIns="0" tIns="0" bIns="0">
            <a:noAutofit/>
          </a:bodyPr>
          <a:lstStyle/>
          <a:p>
            <a:pPr>
              <a:lnSpc>
                <a:spcPct val="120000"/>
              </a:lnSpc>
            </a:pPr>
            <a:r>
              <a:rPr sz="1400" b="0" i="0">
                <a:solidFill>
                  <a:srgbClr val="D8DBE6"/>
                </a:solidFill>
                <a:latin typeface="Calibri"/>
              </a:rPr>
              <a:t>Zwischen dich und deine Gedanken passt ein Abstand. In ihm liegt deine Freiheit.</a:t>
            </a:r>
          </a:p>
        </p:txBody>
      </p:sp>
      <p:sp>
        <p:nvSpPr>
          <p:cNvPr id="8" name="Rounded Rectangle 7"/>
          <p:cNvSpPr/>
          <p:nvPr/>
        </p:nvSpPr>
        <p:spPr>
          <a:xfrm>
            <a:off x="4475378" y="2286000"/>
            <a:ext cx="3240938" cy="3108960"/>
          </a:xfrm>
          <a:prstGeom prst="roundRect">
            <a:avLst>
              <a:gd name="adj" fmla="val 8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95418" y="2651760"/>
            <a:ext cx="640080" cy="640080"/>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2200" b="1" i="0">
                <a:solidFill>
                  <a:srgbClr val="FFFFFF"/>
                </a:solidFill>
                <a:latin typeface="Cambria"/>
              </a:rPr>
              <a:t>2</a:t>
            </a:r>
          </a:p>
        </p:txBody>
      </p:sp>
      <p:sp>
        <p:nvSpPr>
          <p:cNvPr id="10" name="TextBox 9"/>
          <p:cNvSpPr txBox="1"/>
          <p:nvPr/>
        </p:nvSpPr>
        <p:spPr>
          <a:xfrm>
            <a:off x="4795418" y="3520440"/>
            <a:ext cx="2600858" cy="457200"/>
          </a:xfrm>
          <a:prstGeom prst="rect">
            <a:avLst/>
          </a:prstGeom>
          <a:noFill/>
        </p:spPr>
        <p:txBody>
          <a:bodyPr wrap="square" anchor="t" lIns="0" rIns="0" tIns="0" bIns="0">
            <a:noAutofit/>
          </a:bodyPr>
          <a:lstStyle/>
          <a:p>
            <a:r>
              <a:rPr sz="2000" b="1" i="0">
                <a:solidFill>
                  <a:srgbClr val="FFFFFF"/>
                </a:solidFill>
                <a:latin typeface="Cambria"/>
              </a:rPr>
              <a:t>Prüfen</a:t>
            </a:r>
          </a:p>
        </p:txBody>
      </p:sp>
      <p:sp>
        <p:nvSpPr>
          <p:cNvPr id="11" name="TextBox 10"/>
          <p:cNvSpPr txBox="1"/>
          <p:nvPr/>
        </p:nvSpPr>
        <p:spPr>
          <a:xfrm>
            <a:off x="4795418" y="4069080"/>
            <a:ext cx="2600858" cy="1188720"/>
          </a:xfrm>
          <a:prstGeom prst="rect">
            <a:avLst/>
          </a:prstGeom>
          <a:noFill/>
        </p:spPr>
        <p:txBody>
          <a:bodyPr wrap="square" anchor="t" lIns="0" rIns="0" tIns="0" bIns="0">
            <a:noAutofit/>
          </a:bodyPr>
          <a:lstStyle/>
          <a:p>
            <a:pPr>
              <a:lnSpc>
                <a:spcPct val="120000"/>
              </a:lnSpc>
            </a:pPr>
            <a:r>
              <a:rPr sz="1400" b="0" i="0">
                <a:solidFill>
                  <a:srgbClr val="D8DBE6"/>
                </a:solidFill>
                <a:latin typeface="Calibri"/>
              </a:rPr>
              <a:t>Nichts stimmt, nur weil es vertraut klingt oder oft wiederholt wird – innen wie außen.</a:t>
            </a:r>
          </a:p>
        </p:txBody>
      </p:sp>
      <p:sp>
        <p:nvSpPr>
          <p:cNvPr id="12" name="Rounded Rectangle 11"/>
          <p:cNvSpPr/>
          <p:nvPr/>
        </p:nvSpPr>
        <p:spPr>
          <a:xfrm>
            <a:off x="8082076" y="2286000"/>
            <a:ext cx="3240938" cy="3108960"/>
          </a:xfrm>
          <a:prstGeom prst="roundRect">
            <a:avLst>
              <a:gd name="adj" fmla="val 8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02116" y="2651760"/>
            <a:ext cx="640080" cy="64008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2200" b="1" i="0">
                <a:solidFill>
                  <a:srgbClr val="FFFFFF"/>
                </a:solidFill>
                <a:latin typeface="Cambria"/>
              </a:rPr>
              <a:t>3</a:t>
            </a:r>
          </a:p>
        </p:txBody>
      </p:sp>
      <p:sp>
        <p:nvSpPr>
          <p:cNvPr id="14" name="TextBox 13"/>
          <p:cNvSpPr txBox="1"/>
          <p:nvPr/>
        </p:nvSpPr>
        <p:spPr>
          <a:xfrm>
            <a:off x="8402116" y="3520440"/>
            <a:ext cx="2600858" cy="457200"/>
          </a:xfrm>
          <a:prstGeom prst="rect">
            <a:avLst/>
          </a:prstGeom>
          <a:noFill/>
        </p:spPr>
        <p:txBody>
          <a:bodyPr wrap="square" anchor="t" lIns="0" rIns="0" tIns="0" bIns="0">
            <a:noAutofit/>
          </a:bodyPr>
          <a:lstStyle/>
          <a:p>
            <a:r>
              <a:rPr sz="2000" b="1" i="0">
                <a:solidFill>
                  <a:srgbClr val="FFFFFF"/>
                </a:solidFill>
                <a:latin typeface="Cambria"/>
              </a:rPr>
              <a:t>Wählen</a:t>
            </a:r>
          </a:p>
        </p:txBody>
      </p:sp>
      <p:sp>
        <p:nvSpPr>
          <p:cNvPr id="15" name="TextBox 14"/>
          <p:cNvSpPr txBox="1"/>
          <p:nvPr/>
        </p:nvSpPr>
        <p:spPr>
          <a:xfrm>
            <a:off x="8402116" y="4069080"/>
            <a:ext cx="2600858" cy="1188720"/>
          </a:xfrm>
          <a:prstGeom prst="rect">
            <a:avLst/>
          </a:prstGeom>
          <a:noFill/>
        </p:spPr>
        <p:txBody>
          <a:bodyPr wrap="square" anchor="t" lIns="0" rIns="0" tIns="0" bIns="0">
            <a:noAutofit/>
          </a:bodyPr>
          <a:lstStyle/>
          <a:p>
            <a:pPr>
              <a:lnSpc>
                <a:spcPct val="120000"/>
              </a:lnSpc>
            </a:pPr>
            <a:r>
              <a:rPr sz="1400" b="0" i="0">
                <a:solidFill>
                  <a:srgbClr val="D8DBE6"/>
                </a:solidFill>
                <a:latin typeface="Calibri"/>
              </a:rPr>
              <a:t>Zwischen Reiz und Reaktion liegt ein Raum – und in ihm entscheidest du.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102A"/>
        </a:solidFill>
        <a:effectLst/>
      </p:bgPr>
    </p:bg>
    <p:spTree>
      <p:nvGrpSpPr>
        <p:cNvPr id="1" name=""/>
        <p:cNvGrpSpPr/>
        <p:nvPr/>
      </p:nvGrpSpPr>
      <p:grpSpPr/>
      <p:sp>
        <p:nvSpPr>
          <p:cNvPr id="2" name="TextBox 1"/>
          <p:cNvSpPr txBox="1"/>
          <p:nvPr/>
        </p:nvSpPr>
        <p:spPr>
          <a:xfrm>
            <a:off x="868680" y="640080"/>
            <a:ext cx="6858000" cy="365760"/>
          </a:xfrm>
          <a:prstGeom prst="rect">
            <a:avLst/>
          </a:prstGeom>
          <a:noFill/>
        </p:spPr>
        <p:txBody>
          <a:bodyPr wrap="square" anchor="t" lIns="0" rIns="0" tIns="0" bIns="0">
            <a:noAutofit/>
          </a:bodyPr>
          <a:lstStyle/>
          <a:p>
            <a:pPr>
              <a:spcAft>
                <a:spcPts val="600"/>
              </a:spcAft>
            </a:pPr>
            <a:r>
              <a:rPr sz="1250" b="1" i="0" spc="240">
                <a:solidFill>
                  <a:srgbClr val="8CC63F"/>
                </a:solidFill>
                <a:latin typeface="Calibri"/>
              </a:rPr>
              <a:t>WIE ES WEITERGEHT</a:t>
            </a:r>
          </a:p>
        </p:txBody>
      </p:sp>
      <p:sp>
        <p:nvSpPr>
          <p:cNvPr id="3" name="TextBox 2"/>
          <p:cNvSpPr txBox="1"/>
          <p:nvPr/>
        </p:nvSpPr>
        <p:spPr>
          <a:xfrm>
            <a:off x="868680" y="1024128"/>
            <a:ext cx="6858000" cy="914400"/>
          </a:xfrm>
          <a:prstGeom prst="rect">
            <a:avLst/>
          </a:prstGeom>
          <a:noFill/>
        </p:spPr>
        <p:txBody>
          <a:bodyPr wrap="square" anchor="t" lIns="0" rIns="0" tIns="0" bIns="0">
            <a:noAutofit/>
          </a:bodyPr>
          <a:lstStyle/>
          <a:p>
            <a:pPr>
              <a:lnSpc>
                <a:spcPct val="105000"/>
              </a:lnSpc>
            </a:pPr>
            <a:r>
              <a:rPr sz="2800" b="1" i="0">
                <a:solidFill>
                  <a:srgbClr val="FFFFFF"/>
                </a:solidFill>
                <a:latin typeface="Cambria"/>
              </a:rPr>
              <a:t>Vertief die Themen in deinem Tempo</a:t>
            </a:r>
          </a:p>
        </p:txBody>
      </p:sp>
      <p:sp>
        <p:nvSpPr>
          <p:cNvPr id="4" name="Oval 3"/>
          <p:cNvSpPr/>
          <p:nvPr/>
        </p:nvSpPr>
        <p:spPr>
          <a:xfrm>
            <a:off x="868680" y="2468880"/>
            <a:ext cx="365760" cy="36576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1</a:t>
            </a:r>
          </a:p>
        </p:txBody>
      </p:sp>
      <p:sp>
        <p:nvSpPr>
          <p:cNvPr id="5" name="TextBox 4"/>
          <p:cNvSpPr txBox="1"/>
          <p:nvPr/>
        </p:nvSpPr>
        <p:spPr>
          <a:xfrm>
            <a:off x="1435607" y="2450592"/>
            <a:ext cx="6035040" cy="640080"/>
          </a:xfrm>
          <a:prstGeom prst="rect">
            <a:avLst/>
          </a:prstGeom>
          <a:noFill/>
        </p:spPr>
        <p:txBody>
          <a:bodyPr wrap="square" anchor="ctr" lIns="0" rIns="0" tIns="0" bIns="0">
            <a:noAutofit/>
          </a:bodyPr>
          <a:lstStyle/>
          <a:p>
            <a:r>
              <a:rPr sz="1550" b="0" i="0">
                <a:solidFill>
                  <a:srgbClr val="D8DBE6"/>
                </a:solidFill>
                <a:latin typeface="Calibri"/>
              </a:rPr>
              <a:t>Alle Vertiefungen als Wissens-Bibliothek – jederzeit nachlesbar.</a:t>
            </a:r>
          </a:p>
        </p:txBody>
      </p:sp>
      <p:sp>
        <p:nvSpPr>
          <p:cNvPr id="6" name="Oval 5"/>
          <p:cNvSpPr/>
          <p:nvPr/>
        </p:nvSpPr>
        <p:spPr>
          <a:xfrm>
            <a:off x="868680" y="3127248"/>
            <a:ext cx="365760" cy="365760"/>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2</a:t>
            </a:r>
          </a:p>
        </p:txBody>
      </p:sp>
      <p:sp>
        <p:nvSpPr>
          <p:cNvPr id="7" name="TextBox 6"/>
          <p:cNvSpPr txBox="1"/>
          <p:nvPr/>
        </p:nvSpPr>
        <p:spPr>
          <a:xfrm>
            <a:off x="1435607" y="3108960"/>
            <a:ext cx="6035040" cy="640080"/>
          </a:xfrm>
          <a:prstGeom prst="rect">
            <a:avLst/>
          </a:prstGeom>
          <a:noFill/>
        </p:spPr>
        <p:txBody>
          <a:bodyPr wrap="square" anchor="ctr" lIns="0" rIns="0" tIns="0" bIns="0">
            <a:noAutofit/>
          </a:bodyPr>
          <a:lstStyle/>
          <a:p>
            <a:r>
              <a:rPr sz="1550" b="0" i="0">
                <a:solidFill>
                  <a:srgbClr val="D8DBE6"/>
                </a:solidFill>
                <a:latin typeface="Calibri"/>
              </a:rPr>
              <a:t>Die 7 Stufen der Bewusstseinsentwicklung, Schritt für Schritt.</a:t>
            </a:r>
          </a:p>
        </p:txBody>
      </p:sp>
      <p:sp>
        <p:nvSpPr>
          <p:cNvPr id="8" name="Oval 7"/>
          <p:cNvSpPr/>
          <p:nvPr/>
        </p:nvSpPr>
        <p:spPr>
          <a:xfrm>
            <a:off x="868680" y="3785616"/>
            <a:ext cx="365760" cy="365760"/>
          </a:xfrm>
          <a:prstGeom prst="ellipse">
            <a:avLst/>
          </a:prstGeom>
          <a:solidFill>
            <a:srgbClr val="21B2B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3</a:t>
            </a:r>
          </a:p>
        </p:txBody>
      </p:sp>
      <p:sp>
        <p:nvSpPr>
          <p:cNvPr id="9" name="TextBox 8"/>
          <p:cNvSpPr txBox="1"/>
          <p:nvPr/>
        </p:nvSpPr>
        <p:spPr>
          <a:xfrm>
            <a:off x="1435607" y="3767328"/>
            <a:ext cx="6035040" cy="640080"/>
          </a:xfrm>
          <a:prstGeom prst="rect">
            <a:avLst/>
          </a:prstGeom>
          <a:noFill/>
        </p:spPr>
        <p:txBody>
          <a:bodyPr wrap="square" anchor="ctr" lIns="0" rIns="0" tIns="0" bIns="0">
            <a:noAutofit/>
          </a:bodyPr>
          <a:lstStyle/>
          <a:p>
            <a:r>
              <a:rPr sz="1550" b="0" i="0">
                <a:solidFill>
                  <a:srgbClr val="D8DBE6"/>
                </a:solidFill>
                <a:latin typeface="Calibri"/>
              </a:rPr>
              <a:t>Praxis-Übungen und Reflexionsfragen zu jedem Thema.</a:t>
            </a:r>
          </a:p>
        </p:txBody>
      </p:sp>
      <p:sp>
        <p:nvSpPr>
          <p:cNvPr id="10" name="Oval 9"/>
          <p:cNvSpPr/>
          <p:nvPr/>
        </p:nvSpPr>
        <p:spPr>
          <a:xfrm>
            <a:off x="868680" y="4443984"/>
            <a:ext cx="365760" cy="365760"/>
          </a:xfrm>
          <a:prstGeom prst="ellipse">
            <a:avLst/>
          </a:prstGeom>
          <a:solidFill>
            <a:srgbClr val="4F9E1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r>
              <a:rPr sz="1400" b="1" i="0">
                <a:solidFill>
                  <a:srgbClr val="FFFFFF"/>
                </a:solidFill>
                <a:latin typeface="Cambria"/>
              </a:rPr>
              <a:t>4</a:t>
            </a:r>
          </a:p>
        </p:txBody>
      </p:sp>
      <p:sp>
        <p:nvSpPr>
          <p:cNvPr id="11" name="TextBox 10"/>
          <p:cNvSpPr txBox="1"/>
          <p:nvPr/>
        </p:nvSpPr>
        <p:spPr>
          <a:xfrm>
            <a:off x="1435607" y="4425696"/>
            <a:ext cx="6035040" cy="640080"/>
          </a:xfrm>
          <a:prstGeom prst="rect">
            <a:avLst/>
          </a:prstGeom>
          <a:noFill/>
        </p:spPr>
        <p:txBody>
          <a:bodyPr wrap="square" anchor="ctr" lIns="0" rIns="0" tIns="0" bIns="0">
            <a:noAutofit/>
          </a:bodyPr>
          <a:lstStyle/>
          <a:p>
            <a:r>
              <a:rPr sz="1550" b="0" i="0">
                <a:solidFill>
                  <a:srgbClr val="D8DBE6"/>
                </a:solidFill>
                <a:latin typeface="Calibri"/>
              </a:rPr>
              <a:t>Neue Deep-Dives und Artikel, laufend ergänzt.</a:t>
            </a:r>
          </a:p>
        </p:txBody>
      </p:sp>
      <p:sp>
        <p:nvSpPr>
          <p:cNvPr id="12" name="Rounded Rectangle 11"/>
          <p:cNvSpPr/>
          <p:nvPr/>
        </p:nvSpPr>
        <p:spPr>
          <a:xfrm>
            <a:off x="7818120" y="2286000"/>
            <a:ext cx="3520440" cy="2468880"/>
          </a:xfrm>
          <a:prstGeom prst="roundRect">
            <a:avLst>
              <a:gd name="adj" fmla="val 9000"/>
            </a:avLst>
          </a:prstGeom>
          <a:solidFill>
            <a:srgbClr val="1A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606040"/>
            <a:ext cx="3063240" cy="822960"/>
          </a:xfrm>
          <a:prstGeom prst="rect">
            <a:avLst/>
          </a:prstGeom>
          <a:noFill/>
        </p:spPr>
        <p:txBody>
          <a:bodyPr wrap="square" anchor="t" lIns="0" rIns="0" tIns="0" bIns="0">
            <a:noAutofit/>
          </a:bodyPr>
          <a:lstStyle/>
          <a:p>
            <a:pPr algn="ctr"/>
            <a:r>
              <a:rPr sz="4600" b="1" i="0">
                <a:solidFill>
                  <a:srgbClr val="34C4C4"/>
                </a:solidFill>
                <a:latin typeface="Cambria"/>
              </a:rPr>
              <a:t>49 €</a:t>
            </a:r>
            <a:r>
              <a:rPr sz="1500" b="0" i="0">
                <a:solidFill>
                  <a:srgbClr val="AEB6C6"/>
                </a:solidFill>
                <a:latin typeface="Calibri"/>
              </a:rPr>
              <a:t> / Monat</a:t>
            </a:r>
          </a:p>
        </p:txBody>
      </p:sp>
      <p:sp>
        <p:nvSpPr>
          <p:cNvPr id="14" name="TextBox 13"/>
          <p:cNvSpPr txBox="1"/>
          <p:nvPr/>
        </p:nvSpPr>
        <p:spPr>
          <a:xfrm>
            <a:off x="8046720" y="3611880"/>
            <a:ext cx="3063240" cy="365760"/>
          </a:xfrm>
          <a:prstGeom prst="rect">
            <a:avLst/>
          </a:prstGeom>
          <a:noFill/>
        </p:spPr>
        <p:txBody>
          <a:bodyPr wrap="square" anchor="t" lIns="0" rIns="0" tIns="0" bIns="0">
            <a:noAutofit/>
          </a:bodyPr>
          <a:lstStyle/>
          <a:p>
            <a:pPr algn="ctr"/>
            <a:r>
              <a:rPr sz="1400" b="1" i="0">
                <a:solidFill>
                  <a:srgbClr val="FFFFFF"/>
                </a:solidFill>
                <a:latin typeface="Calibri"/>
              </a:rPr>
              <a:t>Mitgliedschaft</a:t>
            </a:r>
          </a:p>
        </p:txBody>
      </p:sp>
      <p:sp>
        <p:nvSpPr>
          <p:cNvPr id="15" name="TextBox 14"/>
          <p:cNvSpPr txBox="1"/>
          <p:nvPr/>
        </p:nvSpPr>
        <p:spPr>
          <a:xfrm>
            <a:off x="8046720" y="4023360"/>
            <a:ext cx="3063240" cy="457200"/>
          </a:xfrm>
          <a:prstGeom prst="rect">
            <a:avLst/>
          </a:prstGeom>
          <a:noFill/>
        </p:spPr>
        <p:txBody>
          <a:bodyPr wrap="square" anchor="t" lIns="0" rIns="0" tIns="0" bIns="0">
            <a:noAutofit/>
          </a:bodyPr>
          <a:lstStyle/>
          <a:p>
            <a:pPr algn="ctr">
              <a:lnSpc>
                <a:spcPct val="105000"/>
              </a:lnSpc>
            </a:pPr>
            <a:r>
              <a:rPr sz="1100" b="0" i="0">
                <a:solidFill>
                  <a:srgbClr val="AEB6C6"/>
                </a:solidFill>
                <a:latin typeface="Calibri"/>
              </a:rPr>
              <a:t>werdemeisterdeinergedanken.de/mitgliedschaft</a:t>
            </a:r>
          </a:p>
        </p:txBody>
      </p:sp>
      <p:sp>
        <p:nvSpPr>
          <p:cNvPr id="16" name="TextBox 15"/>
          <p:cNvSpPr txBox="1"/>
          <p:nvPr/>
        </p:nvSpPr>
        <p:spPr>
          <a:xfrm>
            <a:off x="868680" y="5806440"/>
            <a:ext cx="10454335" cy="457200"/>
          </a:xfrm>
          <a:prstGeom prst="rect">
            <a:avLst/>
          </a:prstGeom>
          <a:noFill/>
        </p:spPr>
        <p:txBody>
          <a:bodyPr wrap="square" anchor="t" lIns="0" rIns="0" tIns="0" bIns="0">
            <a:noAutofit/>
          </a:bodyPr>
          <a:lstStyle/>
          <a:p>
            <a:r>
              <a:rPr sz="1350" b="0" i="1">
                <a:solidFill>
                  <a:srgbClr val="A3D64F"/>
                </a:solidFill>
                <a:latin typeface="Calibri"/>
              </a:rPr>
              <a:t>Erster Schritt kostenlos: der Bewusstseinstest.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titl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68680" y="2194560"/>
            <a:ext cx="10454335" cy="1463040"/>
          </a:xfrm>
          <a:prstGeom prst="rect">
            <a:avLst/>
          </a:prstGeom>
          <a:noFill/>
        </p:spPr>
        <p:txBody>
          <a:bodyPr wrap="square" anchor="ctr" lIns="0" rIns="0" tIns="0" bIns="0">
            <a:noAutofit/>
          </a:bodyPr>
          <a:lstStyle/>
          <a:p>
            <a:pPr>
              <a:lnSpc>
                <a:spcPct val="105000"/>
              </a:lnSpc>
            </a:pPr>
            <a:r>
              <a:rPr sz="4000" b="1" i="0">
                <a:solidFill>
                  <a:srgbClr val="FFFFFF"/>
                </a:solidFill>
                <a:latin typeface="Cambria"/>
              </a:rPr>
              <a:t>Werde Meister deiner </a:t>
            </a:r>
            <a:r>
              <a:rPr sz="4000" b="1" i="0">
                <a:solidFill>
                  <a:srgbClr val="34C4C4"/>
                </a:solidFill>
                <a:latin typeface="Cambria"/>
              </a:rPr>
              <a:t>Gedanken</a:t>
            </a:r>
            <a:r>
              <a:rPr sz="4000" b="1" i="0">
                <a:solidFill>
                  <a:srgbClr val="FFFFFF"/>
                </a:solidFill>
                <a:latin typeface="Cambria"/>
              </a:rPr>
              <a:t>.</a:t>
            </a:r>
          </a:p>
        </p:txBody>
      </p:sp>
      <p:sp>
        <p:nvSpPr>
          <p:cNvPr id="4" name="TextBox 3"/>
          <p:cNvSpPr txBox="1"/>
          <p:nvPr/>
        </p:nvSpPr>
        <p:spPr>
          <a:xfrm>
            <a:off x="868680" y="3977639"/>
            <a:ext cx="10454335" cy="548640"/>
          </a:xfrm>
          <a:prstGeom prst="rect">
            <a:avLst/>
          </a:prstGeom>
          <a:noFill/>
        </p:spPr>
        <p:txBody>
          <a:bodyPr wrap="square" anchor="t" lIns="0" rIns="0" tIns="0" bIns="0">
            <a:noAutofit/>
          </a:bodyPr>
          <a:lstStyle/>
          <a:p>
            <a:r>
              <a:rPr sz="1700" b="0" i="0">
                <a:solidFill>
                  <a:srgbClr val="D8DBE6"/>
                </a:solidFill>
                <a:latin typeface="Calibri"/>
              </a:rPr>
              <a:t>Danke, dass du heute dabei warst.</a:t>
            </a:r>
          </a:p>
        </p:txBody>
      </p:sp>
      <p:sp>
        <p:nvSpPr>
          <p:cNvPr id="5" name="TextBox 4"/>
          <p:cNvSpPr txBox="1"/>
          <p:nvPr/>
        </p:nvSpPr>
        <p:spPr>
          <a:xfrm>
            <a:off x="868680" y="5989320"/>
            <a:ext cx="10454335" cy="365760"/>
          </a:xfrm>
          <a:prstGeom prst="rect">
            <a:avLst/>
          </a:prstGeom>
          <a:noFill/>
        </p:spPr>
        <p:txBody>
          <a:bodyPr wrap="square" anchor="t" lIns="0" rIns="0" tIns="0" bIns="0">
            <a:noAutofit/>
          </a:bodyPr>
          <a:lstStyle/>
          <a:p>
            <a:r>
              <a:rPr sz="1300" b="0" i="0">
                <a:solidFill>
                  <a:srgbClr val="AEB6C6"/>
                </a:solidFill>
                <a:latin typeface="Calibri"/>
              </a:rPr>
              <a:t>werdemeisterdeinergedanken.de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