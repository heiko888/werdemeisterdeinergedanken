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Begrüßung. Kurz vorstellen. Rahmen setzen: heute geht es ums bewusste Sehen, nicht um Ratschläge. Vertraulichkeit im Raum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ruhig durchgehen. Zeitrahmen nennen. Frage in die Runde: Was möchtet ihr heute mitnehmen?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Wirken lassen. Kurze Stille nach dem 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Zahl 7 nicht überhöhen. Betonen: Es geht nicht um Menge, sondern um Kontinuität.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 wirklich geben und die Stille aushalten. Niemand muss vorlesen – das Blatt bleibt privat.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Ruhiger Übergang. Klarmachen: Das sind Werkzeuge, keine Pflicht – jede:r nimmt mit, was passt.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durchgehen, nicht erklären. Die Tiefe kommt in den einzelnen Modul-Folien.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Anknüpfen an das Ritual Morgen-Ausrichtung: erst schreiben, dann zum Handy greifen.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Betonen: Es geht ums Sehen, nicht ums Ändern. Ein Wort genügt oft schon.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vormachen: einen Satz laut umformulieren. Der Unterschied ist sofort spürbar.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lassen. Manche entdecken hier zum ersten Mal ein wiederkehrendes Muster – Raum dafür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Sensibel moderieren. Zusichern, dass nichts geteilt wird. Wer mag, zerreißt das Blatt danach.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Warnen vor zu großen Sprüngen. Der neue Satz muss sich erreichbar anfühlen, sonst glaubt das System ihn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Anknüpfen an das Ritual Abend-Reflexion. Kein Selbst-Gericht, nur freundliches Bemerken.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Genug Zeit geben – das ist die Kern-Schreibübung des Tages. Bei Schritt 3 auf Glaubwürdigkeit 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Langsam sprechen. Jeden der drei Begriffe kurz stehen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Verkaufsdruck. Als natürliche Fortsetzung des Geschriebenen anbieten, nicht als Pflicht.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Ruhig ausklingen lassen. Einladen, das erste Blatt gleich morgen wieder zur Hand zu 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640080"/>
            <a:ext cx="2488163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0515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A3D64F"/>
                </a:solidFill>
                <a:latin typeface="Calibri"/>
              </a:rPr>
              <a:t>WORKSHOP · JOURNALING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7782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5200" b="1" i="0">
                <a:solidFill>
                  <a:srgbClr val="FFFFFF"/>
                </a:solidFill>
                <a:latin typeface="Cambria"/>
              </a:rPr>
              <a:t>Die Kraft der </a:t>
            </a:r>
          </a:p>
          <a:p>
            <a:pPr>
              <a:lnSpc>
                <a:spcPct val="102000"/>
              </a:lnSpc>
            </a:pPr>
            <a:r>
              <a:rPr sz="5200" b="1" i="0">
                <a:solidFill>
                  <a:srgbClr val="34C4C4"/>
                </a:solidFill>
                <a:latin typeface="Cambria"/>
              </a:rPr>
              <a:t>Reflexion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D8DBE6"/>
                </a:solidFill>
                <a:latin typeface="Calibri"/>
              </a:rPr>
              <a:t>Schreiben schafft Abstand – und aus Abstand entsteht Klarheit. Ein Praxis-Halbtag rund um Journaling und tägliche Impulse.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 i="0">
                <a:solidFill>
                  <a:srgbClr val="AEB6C6"/>
                </a:solidFill>
                <a:latin typeface="Calibri"/>
              </a:rPr>
              <a:t>Heiko Schwaninger  ·  werdemeisterdeinergedanken.de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Was dich heute erwartet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2938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Warum Schreiben wirkt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Wie ein aufgeschriebener Gedanke aufhört, sich im Kreis zu drehen.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834639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9806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Freies Schreiben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Zum Ankommen erst einmal die Hand laufen lassen – ungefiltert.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6674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Die sieben Bausteine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Von der Morgenseite bis zum Tagesrückblick, jeweils mit Reflexion.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35424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Gedanken umschreiben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Die ausführliche Schreibübung: vom alten zum tragenden Satz.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40679"/>
            <a:ext cx="457200" cy="45720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404103"/>
            <a:ext cx="976853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Deine Routine</a:t>
            </a:r>
          </a:p>
          <a:p>
            <a:pPr>
              <a:spcBef>
                <a:spcPts val="100"/>
              </a:spcBef>
            </a:pPr>
            <a:r>
              <a:rPr sz="1350" b="0" i="0">
                <a:solidFill>
                  <a:srgbClr val="AEB6C6"/>
                </a:solidFill>
                <a:latin typeface="Calibri"/>
              </a:rPr>
              <a:t>Eine kleine, tragfähige Schreibgewohnheit für den Alltag.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1920240"/>
            <a:ext cx="97228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Die meisten Menschen tragen ihre Gedanken ungeschrieben mit sich herum – </a:t>
            </a:r>
            <a:r>
              <a:rPr sz="3200" b="1" i="0">
                <a:solidFill>
                  <a:srgbClr val="34C4C4"/>
                </a:solidFill>
                <a:latin typeface="Cambria"/>
              </a:rPr>
              <a:t>Schreiben schafft Abstand</a:t>
            </a:r>
            <a:r>
              <a:rPr sz="3200" b="1" i="0">
                <a:solidFill>
                  <a:srgbClr val="FFFFFF"/>
                </a:solidFill>
                <a:latin typeface="Cambria"/>
              </a:rPr>
              <a:t>.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D8DBE6"/>
                </a:solidFill>
                <a:latin typeface="Calibri"/>
              </a:rPr>
              <a:t>Und aus Abstand entsteht Klarheit.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AUSGANGSPUNKT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Warum Schreiben wirkt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630936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0" i="0">
                <a:solidFill>
                  <a:srgbClr val="D8DBE6"/>
                </a:solidFill>
                <a:latin typeface="Calibri"/>
              </a:rPr>
              <a:t>Ein Gedanke im Kopf dreht sich im Kreis. Sobald du ihn aufschreibst, wird er zu etwas, das du anschauen kannst – von außen, mit Abstand. Aus „So ist es“ wird „Da ist ein Gedanke“.</a:t>
            </a:r>
          </a:p>
          <a:p>
            <a:pPr>
              <a:lnSpc>
                <a:spcPct val="122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Genau das übt dieser Halbtag: das ruhige Zu-Papier-Bringen dessen, was in dir läuft. Als leise Begleiter dienen dazwischen die wöchentlichen Impulse – jeder ein Gedanke und eine kleine Übung.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0116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1" i="0" spc="200">
                <a:solidFill>
                  <a:srgbClr val="8CC63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34C4C4"/>
                </a:solidFill>
                <a:latin typeface="Cambria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wöchentliche Impulse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2062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AEB6C6"/>
                </a:solidFill>
                <a:latin typeface="Calibri"/>
              </a:rPr>
              <a:t>Ein Gedanke, eine Mini-Übung – die Serie begleitet dich Woche für Woche und läuft zyklisch weiter.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1 · 10 MINUTEN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Freies Schreiben – der erste Gedanke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Nimm ein leeres Blatt und schreib zehn Minuten am Stück – ehrlich, ungefiltert, ohne abzusetzen.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Beginne mit dem Satz „Gerade geht mir durch den Kopf …“ und lass die Hand einfach weiterlaufen.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Korrigiere nichts, bewerte nichts. Auch „mir fällt nichts ein“ ist ein gültiger Satz.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Lies zum Schluss einmal ruhig durch und unterstreiche den einen Satz, der dich am meisten berührt.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Was aus dem Kopf aufs Papier wandert, hört auf, sich im Kreis zu drehen.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28600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300" b="1" i="0" spc="240">
                <a:solidFill>
                  <a:srgbClr val="8CC63F"/>
                </a:solidFill>
                <a:latin typeface="Calibri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Sieben Bausteine des Schreibens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600" b="0" i="0">
                <a:solidFill>
                  <a:srgbClr val="D8DBE6"/>
                </a:solidFill>
                <a:latin typeface="Calibri"/>
              </a:rPr>
              <a:t>Von der Morgenseite bis zum Tagesrückblick – kleine Formen, die deine Reflexion tragen.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DEINE WERKZEUGE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Cambria"/>
              </a:rPr>
              <a:t>Womit du schreibst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1837943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Morgenseiten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Frei starten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99466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95808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Autopilot-Check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Bemerken, was läuft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1480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407822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„Da ist ein Gedanke“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Abstand schreiben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2349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5198364"/>
            <a:ext cx="4449927" cy="11201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Gedanken benennen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Muster sichtbar machen</a:t>
            </a:r>
          </a:p>
        </p:txBody>
      </p:sp>
      <p:sp>
        <p:nvSpPr>
          <p:cNvPr id="12" name="Oval 11"/>
          <p:cNvSpPr/>
          <p:nvPr/>
        </p:nvSpPr>
        <p:spPr>
          <a:xfrm>
            <a:off x="6095847" y="1874519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2775" y="1837943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Gefühle als Welle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Fühlen und loslassen</a:t>
            </a:r>
          </a:p>
        </p:txBody>
      </p:sp>
      <p:sp>
        <p:nvSpPr>
          <p:cNvPr id="14" name="Oval 13"/>
          <p:cNvSpPr/>
          <p:nvPr/>
        </p:nvSpPr>
        <p:spPr>
          <a:xfrm>
            <a:off x="6095847" y="3368040"/>
            <a:ext cx="402336" cy="402336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2775" y="333146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Den Satz umschreiben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Neu wählen</a:t>
            </a:r>
          </a:p>
        </p:txBody>
      </p:sp>
      <p:sp>
        <p:nvSpPr>
          <p:cNvPr id="16" name="Oval 15"/>
          <p:cNvSpPr/>
          <p:nvPr/>
        </p:nvSpPr>
        <p:spPr>
          <a:xfrm>
            <a:off x="6095847" y="4861560"/>
            <a:ext cx="402336" cy="402336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2775" y="4824984"/>
            <a:ext cx="4449927" cy="1493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Tagesrückblick</a:t>
            </a:r>
          </a:p>
          <a:p>
            <a:r>
              <a:rPr sz="1150" b="0" i="0">
                <a:solidFill>
                  <a:srgbClr val="AEB6C6"/>
                </a:solidFill>
                <a:latin typeface="Calibri"/>
              </a:rPr>
              <a:t>Den Tag schließen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Morgenseiten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Der Tag beginnt mit 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Bevor der Autopilot übernimmt, gehören die ersten Minuten dir. Ein paar Zeilen am Morgen – frei, ohne Ziel – richten dich aus, statt dich in den Tag stolpern zu lassen.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Wie will ich diesem Tag begegnen – in einem Wort?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Der Autopilot-Check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Bemerken, was läuft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Vieles läuft automatisch – Reaktionen, Gewohnheiten, Gedanken. Ein kurzer schriftlicher Stopp macht den Autopiloten für einen Moment sichtbar: Was tue ich gerade, und bin ich wirklich dabei?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An welchen Stellen deines Alltags läufst du am meisten im Autopilot?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„Da ist ein Gedanke“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Abstand schreiben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Statt „So ist es“ schreibst du „Da ist der Gedanke, dass …“. Diese kleine Verschiebung macht aus einer scheinbaren Wahrheit ein Angebot – und schafft sofort Abstand.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Welchen Gedanken hältst du für wahr, nur weil er in deinem Kopf auftaucht?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Gedanken benennen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Muster sichtbar machen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Gib jedem Gedanken eine schlichte Etikette – „planen“, „sorgen“, „bewerten“. Schwarz auf weiß treten hinter den einzelnen Gedanken die Muster hervor, die dich bisher gesteuert haben.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Welches Muster erkennst du gerade zum ersten Mal klar bei dir?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Gefühle als Welle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Fühlen und loslassen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Manche Themen sitzen tiefer als der Kopf. Sie brauchen einen Ort, an dem sie ungefiltert raus dürfen – ein Brief, den niemand liest, lässt ein Gefühl als Welle durchziehen, statt es festzuhalten.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 Last würdest du gern zu Ende schreiben und loslassen?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Den Satz umschreiben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Neu wählen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Einen einengenden Glaubenssatz erkennst du – dann formulierst du ihn neu: ehrlich, in der Gegenwart, glaubwürdig. Aus „Ich bin …“ wird „Ich lerne gerade, …“.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Welchen Satz über dich möchtest du ehrlicher und stärkender formulieren?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005840"/>
            <a:ext cx="2743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0" b="1" i="0">
                <a:solidFill>
                  <a:srgbClr val="1A2233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1234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MODUL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64592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Der Tagesrückblick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00" b="1" i="0">
                <a:solidFill>
                  <a:srgbClr val="34C4C4"/>
                </a:solidFill>
                <a:latin typeface="Calibri"/>
              </a:rPr>
              <a:t>Den Tag schließen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88036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D8DBE6"/>
                </a:solidFill>
                <a:latin typeface="Calibri"/>
              </a:rPr>
              <a:t>Am Abend ziehst du den Tag ohne Wertung noch einmal vorbei: Wo war ich bewusst? Wofür bin ich dankbar? Nicht bilanzieren – nur bemerken, und den Kopf für die Nacht beruhigen.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4800600"/>
            <a:ext cx="7772400" cy="10972"/>
          </a:xfrm>
          <a:prstGeom prst="rect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4983480"/>
            <a:ext cx="7955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21B2BD"/>
                </a:solidFill>
                <a:latin typeface="Calibri"/>
              </a:rPr>
              <a:t>REFLEXION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303520"/>
            <a:ext cx="795527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Wofür bist du heute dankbar – und sei es eine Kleinigkeit?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21B2BD"/>
                </a:solidFill>
                <a:latin typeface="Calibri"/>
              </a:rPr>
              <a:t>ÜBUNG 2 · GEDANKEN UMSCHREIBEN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Vom alten zum tragenden Satz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4767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Schreib einen einengenden Satz auf, den du oft über dich denkst – wörtlich, so hart wie er klingt.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697479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79191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Darunter: Woher kenne ich diesen Satz? Seit wann begleitet er mich?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41071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Formuliere eine neue, ehrliche Version – in der Gegenwart, in deinen Worten. Prüfe: Fühlt sie sich erreichbar an?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420624" cy="420624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4142232"/>
            <a:ext cx="9795967" cy="73151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08000"/>
              </a:lnSpc>
            </a:pPr>
            <a:r>
              <a:rPr sz="1550" b="0" i="0">
                <a:solidFill>
                  <a:srgbClr val="D8DBE6"/>
                </a:solidFill>
                <a:latin typeface="Calibri"/>
              </a:rPr>
              <a:t>Wähle eine kleine Handlung für diese Woche, die zum neuen Satz passt, und schreib sie dazu.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10454335" cy="1051560"/>
          </a:xfrm>
          <a:prstGeom prst="roundRect">
            <a:avLst>
              <a:gd name="adj" fmla="val 11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5349240"/>
            <a:ext cx="98142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150" b="1" i="0" spc="240">
                <a:solidFill>
                  <a:srgbClr val="8CC63F"/>
                </a:solidFill>
                <a:latin typeface="Calibri"/>
              </a:rPr>
              <a:t>MITNEHMEN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669280"/>
            <a:ext cx="981425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Was du oft genug denkst und fühlst, wird zu deiner neuen Normalität.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WAS BLEIBT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Drei Dinge zum Mitnehmen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19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Abstand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Aufgeschrieben wird ein Gedanke zu etwas, das du anschauen kannst – statt darin zu stecken.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5378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95418" y="2651760"/>
            <a:ext cx="640080" cy="64008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5418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Routine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5418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Nicht die Menge zählt, sondern die Kontinuität: ein paar ehrliche Zeilen, regelmäßig.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2286000"/>
            <a:ext cx="3240938" cy="3108960"/>
          </a:xfrm>
          <a:prstGeom prst="roundRect">
            <a:avLst>
              <a:gd name="adj" fmla="val 8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2116" y="2651760"/>
            <a:ext cx="640080" cy="64008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3520440"/>
            <a:ext cx="26008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Spiegel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4069080"/>
            <a:ext cx="2600858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D8DBE6"/>
                </a:solidFill>
                <a:latin typeface="Calibri"/>
              </a:rPr>
              <a:t>Dein Journal wächst mit jeder Frage, die du beantwortest – ein Spiegel, der zeigt, wo du stehst.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50" b="1" i="0" spc="240">
                <a:solidFill>
                  <a:srgbClr val="8CC63F"/>
                </a:solidFill>
                <a:latin typeface="Calibri"/>
              </a:rPr>
              <a:t>WIE ES WEITERGEHT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Weiterschreiben im Mitgliederbereich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7" y="2450592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Wöchentliche Impulse per E-Mail – ein Gedanke und eine kleine Übung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127248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3108960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Dein digitales Journal, das mit jeder Reflexion weiterwächst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85616"/>
            <a:ext cx="365760" cy="365760"/>
          </a:xfrm>
          <a:prstGeom prst="ellipse">
            <a:avLst/>
          </a:prstGeom>
          <a:solidFill>
            <a:srgbClr val="21B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767328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Reflexionsfragen aus den 7 Stufen und den Vertiefungen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443984"/>
            <a:ext cx="365760" cy="365760"/>
          </a:xfrm>
          <a:prstGeom prst="ellipse">
            <a:avLst/>
          </a:prstGeom>
          <a:solidFill>
            <a:srgbClr val="4F9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425696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550" b="0" i="0">
                <a:solidFill>
                  <a:srgbClr val="D8DBE6"/>
                </a:solidFill>
                <a:latin typeface="Calibri"/>
              </a:rPr>
              <a:t>Rituale wie Morgen-Ausrichtung und Abend-Reflexion zum Anhören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286000"/>
            <a:ext cx="3520440" cy="2468880"/>
          </a:xfrm>
          <a:prstGeom prst="roundRect">
            <a:avLst>
              <a:gd name="adj" fmla="val 9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6060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34C4C4"/>
                </a:solidFill>
                <a:latin typeface="Cambria"/>
              </a:rPr>
              <a:t>49 €</a:t>
            </a:r>
            <a:r>
              <a:rPr sz="1500" b="0" i="0">
                <a:solidFill>
                  <a:srgbClr val="AEB6C6"/>
                </a:solidFill>
                <a:latin typeface="Calibri"/>
              </a:rPr>
              <a:t> / Monat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11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Mitgliedschaft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AEB6C6"/>
                </a:solidFill>
                <a:latin typeface="Calibri"/>
              </a:rPr>
              <a:t>werdemeisterdeinergedanken.de/mitgliedschaft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 i="1">
                <a:solidFill>
                  <a:srgbClr val="A3D64F"/>
                </a:solidFill>
                <a:latin typeface="Calibri"/>
              </a:rPr>
              <a:t>Erster Schritt kostenlos: der Bewusstseinstest.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Werde Meister deiner </a:t>
            </a:r>
            <a:r>
              <a:rPr sz="4000" b="1" i="0">
                <a:solidFill>
                  <a:srgbClr val="A3D64F"/>
                </a:solidFill>
                <a:latin typeface="Cambria"/>
              </a:rPr>
              <a:t>Gedanken</a:t>
            </a:r>
            <a:r>
              <a:rPr sz="40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3CCDD"/>
                </a:solidFill>
                <a:latin typeface="Calibri"/>
              </a:rPr>
              <a:t>Danke, dass du heute geschrieben hast.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34C4C4"/>
                </a:solidFill>
                <a:latin typeface="Calibri"/>
              </a:rPr>
              <a:t>werdemeisterdeinergedanken.de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