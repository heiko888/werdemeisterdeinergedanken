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1: Automatische Gedanken – Die Stimme, die immer schon urteilt.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2: Kognitive Verzerrungen – Die häufigsten Denkfehler.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3: Grübeln &amp; Gedankenkreisen – Raus aus der Endlosschleife.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4: Konditionierung – Warum alte Reize noch feuern.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5: Kernüberzeugungen – Die tiefen Regeln unter den Gedanken.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6: Der innere Kritiker – Die strenge Stimme verstehen.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7: Selbstmitgefühl – Der freundliche Umgang mit dir.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8: Emotionsregulation – Gefühle steuern, ohne sie zu unterdrücken.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9: Muster, Körper &amp; Gesundheit – Wenn Denken unter die Haut geht.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10: Die Reiz-Reaktions-Lücke – Der Raum, in dem du frei bist.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11: Neuroplastizität – Warum Veränderung möglich ist.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12: Werte &amp; Ziele – Die Richtung unter dem Tun.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Baustein 13: Integration &amp; Weitergabe – Vom Wissen zur gelebten Haltung. Kernaussage, Beispiel, Reflexionsfrage. Ca. 15 Min pro Mechanismus.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image" Target="../media/image-7-1.png"/><Relationship Id="rId7" Type="http://schemas.openxmlformats.org/officeDocument/2006/relationships/image" Target="../media/image-7-1.png"/><Relationship Id="rId8" Type="http://schemas.openxmlformats.org/officeDocument/2006/relationships/image" Target="../media/image-7-1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1.png"/><Relationship Id="rId3" Type="http://schemas.openxmlformats.org/officeDocument/2006/relationships/image" Target="../media/image-22-1.png"/><Relationship Id="rId4" Type="http://schemas.openxmlformats.org/officeDocument/2006/relationships/image" Target="../media/image-2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1.png"/><Relationship Id="rId3" Type="http://schemas.openxmlformats.org/officeDocument/2006/relationships/image" Target="../media/image-2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9164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TAGES-WORKSHOP · VERTIEFUNG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31520" y="1645920"/>
            <a:ext cx="7955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Deinen Kopf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34C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77240" y="416052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8D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Bausteine: die psychologischen Mechanismen hinter deinen Gedanken.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Heiko Schwaninger  ·  werdemeisterdeinergedanken.de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dich heute erwartet</a:t>
            </a:r>
            <a:endParaRPr lang="en-US" sz="3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00200" y="19293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Ankommen &amp; Einstieg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00200" y="22768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Muster schneller sind als Vorsätze.</a:t>
            </a:r>
            <a:endParaRPr lang="en-US" sz="140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6207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1600200" y="28254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Gedanken &amp; Verzerrungen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00200" y="31729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automatisch in dir abläuft.</a:t>
            </a:r>
            <a:endParaRPr lang="en-US" sz="140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758184"/>
            <a:ext cx="566928" cy="5669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37581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1600200" y="37216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tiefen Schichten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600200" y="4069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Konditionierung, Kernüberzeugungen, innerer Kritiker.</a:t>
            </a:r>
            <a:endParaRPr lang="en-US" sz="140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54296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4654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1600200" y="46177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Veränderung &amp; Freiheit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600200" y="49651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Reiz-Reaktions-Lücke, Neuroplastizität, Emotion.</a:t>
            </a:r>
            <a:endParaRPr lang="en-US" sz="140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550408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5550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15"/>
          <p:cNvSpPr/>
          <p:nvPr/>
        </p:nvSpPr>
        <p:spPr>
          <a:xfrm>
            <a:off x="1600200" y="551383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Ausrichtung &amp; Integration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1600200" y="58613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Werte, Körper, gelebte Haltung.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011680"/>
            <a:ext cx="10149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du verstehst, </a:t>
            </a:r>
            <a:pPr indent="0" marL="0">
              <a:lnSpc>
                <a:spcPct val="110000"/>
              </a:lnSpc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kann dich nicht mehr unbemerkt steuern</a:t>
            </a:r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24128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Verstehen ist der erste Schritt zur Veränderung.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AUSGANGSPUNKT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040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Muster laufen schneller als Vorsätze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Großteil deines Verhaltens läuft automatisch – Prägungen, alte Reize und Schutzstrategien feuern, bevor der Verstand eingreift.</a:t>
            </a:r>
            <a:endParaRPr lang="en-US" sz="165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nur an der Oberfläche kämpft, bekämpft Symptome. Wer die Mechanismen versteht, setzt an der Wurzel an.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55280" y="1554480"/>
            <a:ext cx="3566160" cy="3840480"/>
          </a:xfrm>
          <a:prstGeom prst="roundRect">
            <a:avLst>
              <a:gd name="adj" fmla="val 3590"/>
            </a:avLst>
          </a:prstGeom>
          <a:solidFill>
            <a:srgbClr val="08102A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3317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Lücke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13816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Reiz und Reaktion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0" y="40233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diesem winzigen Raum liegt dein ganzer Freiraum.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1 · GEDANKENPROTOKOLL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Einen Gedanken entlarven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 Situation, die dich zuletzt belastet hat.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Welcher automatische Gedanke schoss dir durch den Kopf?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Verzerrung steckt darin (Schwarz-Weiß, Katastrophe …)?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würde ein guter Freund dieselbe Lage sehen?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du aufschreibst, verliert seine Selbstverständlichkeit. Beobachten ist schon der Anfang von Verändern.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MECHANISMEN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6012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Bausteine des Denkens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70332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automatischen Gedanken bis zur gelebten Haltung.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13 Bausteine im Überblick  (1/2)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Gedanken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Stimme, die immer schon urteilt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Kognitive Verzerrungen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häufigsten Denkfehler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Grübeln &amp; Gedankenkreisen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Raus aus der Endlosschleife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Konditionierung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alte Reize noch feuern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Kernüberzeugungen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tiefen Regeln unter den Gedanken</a:t>
            </a:r>
            <a:endParaRPr lang="en-US" sz="1150" dirty="0"/>
          </a:p>
        </p:txBody>
      </p:sp>
      <p:pic>
        <p:nvPicPr>
          <p:cNvPr id="24" name="Image 5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907792"/>
            <a:ext cx="603504" cy="6035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18"/>
          <p:cNvSpPr/>
          <p:nvPr/>
        </p:nvSpPr>
        <p:spPr>
          <a:xfrm>
            <a:off x="7269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innere Kritiker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7269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strenge Stimme verstehen</a:t>
            </a:r>
            <a:endParaRPr lang="en-US" sz="1150" dirty="0"/>
          </a:p>
        </p:txBody>
      </p:sp>
      <p:pic>
        <p:nvPicPr>
          <p:cNvPr id="28" name="Image 6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986784"/>
            <a:ext cx="603504" cy="6035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446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Text 21"/>
          <p:cNvSpPr/>
          <p:nvPr/>
        </p:nvSpPr>
        <p:spPr>
          <a:xfrm>
            <a:off x="7269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Selbstmitgefühl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69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freundliche Umgang mit dir</a:t>
            </a:r>
            <a:endParaRPr lang="en-US" sz="1150" dirty="0"/>
          </a:p>
        </p:txBody>
      </p:sp>
      <p:pic>
        <p:nvPicPr>
          <p:cNvPr id="32" name="Image 7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065776"/>
            <a:ext cx="603504" cy="60350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46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7269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Emotionsregulation</a:t>
            </a:r>
            <a:endParaRPr lang="en-US" sz="1500" dirty="0"/>
          </a:p>
        </p:txBody>
      </p:sp>
      <p:sp>
        <p:nvSpPr>
          <p:cNvPr id="35" name="Text 25"/>
          <p:cNvSpPr/>
          <p:nvPr/>
        </p:nvSpPr>
        <p:spPr>
          <a:xfrm>
            <a:off x="7269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Gefühle steuern, ohne sie zu unterdrücken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LANDKARTE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13 Bausteine im Überblick  (2/2)</a:t>
            </a:r>
            <a:endParaRPr lang="en-US" sz="28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54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Muster, Körper &amp; Gesundheit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Denken unter die Haut geht</a:t>
            </a:r>
            <a:endParaRPr lang="en-US" sz="1150" dirty="0"/>
          </a:p>
        </p:txBody>
      </p:sp>
      <p:pic>
        <p:nvPicPr>
          <p:cNvPr id="8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07792"/>
            <a:ext cx="603504" cy="603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9077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554480" y="288950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Reiz-Reaktions-Lücke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554480" y="322783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Raum, in dem du frei bist</a:t>
            </a:r>
            <a:endParaRPr lang="en-US" sz="1150" dirty="0"/>
          </a:p>
        </p:txBody>
      </p:sp>
      <p:pic>
        <p:nvPicPr>
          <p:cNvPr id="12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86784"/>
            <a:ext cx="603504" cy="6035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398678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54480" y="39684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Neuroplastizität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554480" y="430682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Veränderung möglich ist</a:t>
            </a:r>
            <a:endParaRPr lang="en-US" sz="1150" dirty="0"/>
          </a:p>
        </p:txBody>
      </p:sp>
      <p:pic>
        <p:nvPicPr>
          <p:cNvPr id="16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065776"/>
            <a:ext cx="603504" cy="6035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31520" y="506577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544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&amp; Ziele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554480" y="5385816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Richtung unter dem Tun</a:t>
            </a:r>
            <a:endParaRPr lang="en-US" sz="1150" dirty="0"/>
          </a:p>
        </p:txBody>
      </p:sp>
      <p:pic>
        <p:nvPicPr>
          <p:cNvPr id="20" name="Image 4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603504" cy="6035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46520" y="18288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269480" y="1810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Weitergabe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72694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i="1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Wissen zur gelebten Haltung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Automatische Gedanken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Stimme, die immer schon urteilt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Blitzschnelle, ungefragte Bewertungen, die deine Stimmung steuern – lange bevor du sie bemerkst.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Welcher automatische Gedanke taucht bei dir am häufigsten auf?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Kognitive Verzerrungen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häufigsten Denkfehler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Systematische Denkfehler, die die Wirklichkeit verzerren – und wie du sie im Alltag entlarvst.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neigst du zu Schwarz-Weiß- oder Katastrophendenken?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Grübeln &amp; Gedankenkreisen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Raus aus der Endlosschleife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sich das ewige Wiederkäuen wie Problemlösen anfühlt – und es doch nie eines ist.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welches Thema kreisen deine Gedanken immer wieder?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Konditionierung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alte Reize noch feuern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dein Nervensystem lernt, automatisch zu reagieren – und warum manche Reaktionen längst überholt sind.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Reaktion von dir passt nicht mehr zur heutigen Situation?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Kernüberzeugungen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tiefen Regeln unter den Gedanken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Grundannahmen über dich, andere und die Welt – die unsichtbare Schicht unter deinen automatischen Gedanken.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stille Grundregel steuert dich, ohne dass du sie gewählt hast?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6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innere Kritiker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strenge Stimme verstehen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Woher die abwertende innere Stimme kommt, was sie eigentlich will – und wie du ihr souverän begegnest.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klingt dein innerer Kritiker – und wessen Stimme ist das?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7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Selbstmitgefühl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freundliche Umgang mit dir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Härte gegen dich selbst dich nicht besser macht – und Freundlichkeit kein Weichspüler ist.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würdest du mit einem guten Freund in deiner Lage sprechen?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8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Emotionsregulation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Gefühle steuern, ohne sie zu unterdrücken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du starke Gefühle halten und lenken lernst – zwischen Wegdrücken und Überflutetwerden.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Gefühl drückst du eher weg – und welches überflutet dich?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9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Muster, Körper &amp; Gesundheit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Wenn Denken unter die Haut geht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anhaltende Muster und Stress auf den Körper wirken – und warum innere Arbeit auch Körperarbeit ist.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spürst du Stress oder alte Muster in deinem Körper?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10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Reiz-Reaktions-Lücke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Raum, in dem du frei bist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Zwischen dem, was passiert, und dem, was du tust, liegt ein winziger Moment – dein ganzer Freiraum.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 willst du künftig kurz innehalten, bevor du reagierst?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11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Neuroplastizität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Veränderung möglich ist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Gehirn ist formbar – ein Leben lang. Die neurologische Grundlage dafür, dass Umlernen wirklich geht.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neue Bahn willst du in dir anlegen?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12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Werte &amp; Ziele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Richtung unter dem Tun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Ziele ohne Werte leer bleiben – und wie du eine Richtung findest, die wirklich dich meint.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ist dir wirklich wichtig – unter all den Zielen?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685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24231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 13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377440" y="9601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&amp; Weitergabe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395728" y="1874520"/>
            <a:ext cx="905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B2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Vom Wissen zur gelebten Haltung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aus einzelnen Erkenntnissen eine stabile innere Haltung wird – und warum Weitergeben sie vertieft.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366760" y="3200400"/>
            <a:ext cx="3154680" cy="2560320"/>
          </a:xfrm>
          <a:prstGeom prst="roundRect">
            <a:avLst>
              <a:gd name="adj" fmla="val 4286"/>
            </a:avLst>
          </a:prstGeom>
          <a:solidFill>
            <a:srgbClr val="E7F4F5"/>
          </a:solidFill>
          <a:ln w="12700">
            <a:solidFill>
              <a:srgbClr val="CFE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1B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37947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von heute willst du wirklich leben – und weitergeben?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 2 · DER FREIRAUM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Reiz-Reaktions-Lücke</a:t>
            </a:r>
            <a:endParaRPr lang="en-US" sz="3600" dirty="0"/>
          </a:p>
        </p:txBody>
      </p:sp>
      <p:pic>
        <p:nvPicPr>
          <p:cNvPr id="4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1488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554480" y="2167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Erinnere eine typische Auslöser-Situation.</a:t>
            </a:r>
            <a:endParaRPr lang="en-US" sz="1650" dirty="0"/>
          </a:p>
        </p:txBody>
      </p:sp>
      <p:pic>
        <p:nvPicPr>
          <p:cNvPr id="7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90088"/>
            <a:ext cx="512064" cy="512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990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1554480" y="300837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genau sitzt der Reiz – ein Wort, ein Ton, ein Blick?</a:t>
            </a:r>
            <a:endParaRPr lang="en-US" sz="1650" dirty="0"/>
          </a:p>
        </p:txBody>
      </p:sp>
      <p:pic>
        <p:nvPicPr>
          <p:cNvPr id="10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831336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7240" y="38313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554480" y="384962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Nimm einen bewussten Atemzug, bevor du reagierst.</a:t>
            </a:r>
            <a:endParaRPr lang="en-US" sz="1650" dirty="0"/>
          </a:p>
        </p:txBody>
      </p:sp>
      <p:pic>
        <p:nvPicPr>
          <p:cNvPr id="13" name="Image 3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672584"/>
            <a:ext cx="512064" cy="51206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7240" y="46725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554480" y="46908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Wähle eine andere Reaktion – und probiere sie beim nächsten Mal.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8366760" y="214884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08102A"/>
          </a:solidFill>
          <a:ln/>
        </p:spPr>
      </p:sp>
      <p:sp>
        <p:nvSpPr>
          <p:cNvPr id="17" name="Text 11"/>
          <p:cNvSpPr/>
          <p:nvPr/>
        </p:nvSpPr>
        <p:spPr>
          <a:xfrm>
            <a:off x="859536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MITNEHMEN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595360" y="27889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Zwischen Reiz und Reaktion liegt ein Raum. In diesem Raum liegt deine Freiheit.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4F9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BLEIBT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Von Einsicht zu Veränderung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5" name="Image 0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5146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05156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siehst die automatischen Gedanken und Muster.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3484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0" name="Image 1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1460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475488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Verstehen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5488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weißt, woher sie kommen – Prägung, Konditionierung, alte Regeln.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194560"/>
            <a:ext cx="3429000" cy="3108960"/>
          </a:xfrm>
          <a:prstGeom prst="roundRect">
            <a:avLst>
              <a:gd name="adj" fmla="val 3529"/>
            </a:avLst>
          </a:prstGeom>
          <a:solidFill>
            <a:srgbClr val="F2F6EC"/>
          </a:solidFill>
          <a:ln w="12700">
            <a:solidFill>
              <a:srgbClr val="E4E7E0"/>
            </a:solidFill>
            <a:prstDash val="solid"/>
          </a:ln>
        </p:spPr>
      </p:sp>
      <p:pic>
        <p:nvPicPr>
          <p:cNvPr id="15" name="Image 2" descr="/tmp/claude-0/-home-user-werdemeisterdeinergedanken/4e63162c-faaf-5cdf-9e83-105262259c9d/scratchpad/presentation/assets/bad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51460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1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845820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Verändern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58200" y="38862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85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die Reiz-Reaktions-Lücke und Neuroplastizität wählst du neu.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ES WEITERGEHT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Vertiefe jeden Baustein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7223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Bausteine als Vertiefung im Mitgliederbereich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Praxis-Übungen &amp; 31 Vertiefungen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Bewusstseinstest, Wachstumskurve &amp; Journal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700" dirty="0">
                <a:solidFill>
                  <a:srgbClr val="E7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deinem Tempo – ohne Druck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503920" y="2651760"/>
            <a:ext cx="3017520" cy="1828800"/>
          </a:xfrm>
          <a:prstGeom prst="roundRect">
            <a:avLst>
              <a:gd name="adj" fmla="val 6000"/>
            </a:avLst>
          </a:prstGeom>
          <a:solidFill>
            <a:srgbClr val="0F1E44"/>
          </a:solidFill>
          <a:ln w="15875">
            <a:solidFill>
              <a:srgbClr val="21B2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2880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Mitgliedschaft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49 €</a:t>
            </a:r>
            <a:pPr algn="ctr" indent="0" marL="0">
              <a:buNone/>
            </a:pPr>
            <a:r>
              <a:rPr lang="en-US" sz="1600" dirty="0">
                <a:solidFill>
                  <a:srgbClr val="C3CC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/ Monat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3D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werdemeisterdeinergedanken.de/mitgliedschaft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Erster Schritt kostenlos: der Bewusstseinstest.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rdemeisterdeinergedanken/4e63162c-faaf-5cdf-9e83-105262259c9d/scratchpad/presentation/asset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82296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749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 Meister deiner </a:t>
            </a:r>
            <a:pPr algn="ctr" indent="0" marL="0">
              <a:buNone/>
            </a:pPr>
            <a:r>
              <a:rPr lang="en-US" sz="4000" b="1" i="1" dirty="0">
                <a:solidFill>
                  <a:srgbClr val="A3D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Gedanken</a:t>
            </a:r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3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Danke, dass du heute dabei warst.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werdemeisterdeinergedanken.de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Werde Meister deiner Gedanken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Heiko Schwaninger</dc:creator>
  <cp:lastModifiedBy>Heiko Schwaninger</cp:lastModifiedBy>
  <cp:revision>1</cp:revision>
  <dcterms:created xsi:type="dcterms:W3CDTF">2026-08-01T02:33:56Z</dcterms:created>
  <dcterms:modified xsi:type="dcterms:W3CDTF">2026-08-01T02:33:56Z</dcterms:modified>
</cp:coreProperties>
</file>