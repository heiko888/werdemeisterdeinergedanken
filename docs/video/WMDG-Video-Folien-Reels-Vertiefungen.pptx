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</p:sldIdLst>
  <p:sldSz cx="6858000" cy="1219169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46304"/>
          </a:xfrm>
          <a:prstGeom prst="rect">
            <a:avLst/>
          </a:prstGeom>
          <a:gradFill>
            <a:gsLst>
              <a:gs pos="0">
                <a:srgbClr val="E8C15F"/>
              </a:gs>
              <a:gs pos="100000">
                <a:srgbClr val="7E64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brain-g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0" y="2194560"/>
            <a:ext cx="1554480" cy="14845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4023360"/>
            <a:ext cx="548640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0" i="0" spc="160">
                <a:solidFill>
                  <a:srgbClr val="16231F"/>
                </a:solidFill>
                <a:latin typeface="Fraunces"/>
              </a:rPr>
              <a:t>WERDE </a:t>
            </a:r>
            <a:r>
              <a:rPr sz="1300" b="0" i="0" spc="160">
                <a:solidFill>
                  <a:srgbClr val="7E6410"/>
                </a:solidFill>
                <a:latin typeface="Fraunces"/>
              </a:rPr>
              <a:t>MEISTER</a:t>
            </a:r>
          </a:p>
          <a:p>
            <a:pPr algn="ctr">
              <a:spcBef>
                <a:spcPts val="100"/>
              </a:spcBef>
            </a:pPr>
            <a:r>
              <a:rPr sz="800" b="0" i="0" spc="300">
                <a:solidFill>
                  <a:srgbClr val="48524E"/>
                </a:solidFill>
                <a:latin typeface="Fraunces"/>
              </a:rPr>
              <a:t>—  DEINER GEDANKEN  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120640"/>
            <a:ext cx="5577840" cy="2743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3000"/>
              </a:lnSpc>
            </a:pPr>
            <a:r>
              <a:rPr sz="4600" b="1" i="0">
                <a:solidFill>
                  <a:srgbClr val="16231F"/>
                </a:solidFill>
                <a:latin typeface="Fraunces"/>
              </a:rPr>
              <a:t>„Vertiefungen“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955279"/>
            <a:ext cx="521208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0" i="0">
                <a:solidFill>
                  <a:srgbClr val="48524E"/>
                </a:solidFill>
                <a:latin typeface="Inter"/>
              </a:rPr>
              <a:t>Reel-Serie · Vertiefungen · Hook · On-Screen · CTA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240280" y="4815687"/>
            <a:ext cx="2377440" cy="73152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8C15F"/>
              </a:gs>
              <a:gs pos="100000">
                <a:srgbClr val="7E64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5135727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250" b="1" i="0" spc="260">
                <a:solidFill>
                  <a:srgbClr val="7E6410"/>
                </a:solidFill>
                <a:latin typeface="Inter"/>
              </a:rPr>
              <a:t>THEMA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547207"/>
            <a:ext cx="5943600" cy="1645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3000"/>
              </a:lnSpc>
            </a:pPr>
            <a:r>
              <a:rPr sz="4200" b="1" i="0">
                <a:solidFill>
                  <a:srgbClr val="16231F"/>
                </a:solidFill>
                <a:latin typeface="Fraunces"/>
              </a:rPr>
              <a:t>Automatische Gedanken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01 · A · HOOK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3600" b="1" i="0">
                <a:solidFill>
                  <a:srgbClr val="16231F"/>
                </a:solidFill>
                <a:latin typeface="Fraunces"/>
              </a:rPr>
              <a:t>Nicht die Situation macht dein Gefühl. Etwas anderes tut das.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01 · A · ON-SCREEN 1/4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01 · A · ON-SCREEN 2/4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Gedanke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01 · A · ON-SCREEN 3/4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Gefühl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01 · A · ON-SCREEN 4/4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Kein Fakt – eine Interpretation.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01 · A · CTA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2600" b="1" i="0">
                <a:solidFill>
                  <a:srgbClr val="16231F"/>
                </a:solidFill>
                <a:latin typeface="Fraunces"/>
              </a:rPr>
              <a:t>Folge für den nächsten Mechanismus deines Denkens.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01 · B · HOOK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3600" b="1" i="0">
                <a:solidFill>
                  <a:srgbClr val="16231F"/>
                </a:solidFill>
                <a:latin typeface="Fraunces"/>
              </a:rPr>
              <a:t>Behandle deinen nächsten schweren Gedanken wie eine Hypothese.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01 · B · ON-SCREEN 1/4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Belege dafür?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01 · B · ON-SCREEN 2/4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Belege dagegen?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01 · B · ON-SCREEN 3/4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Wahrscheinlichste Erklärung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01 · B · ON-SCREEN 4/4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Fairer Satz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01 · B · CTA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2600" b="1" i="0">
                <a:solidFill>
                  <a:srgbClr val="16231F"/>
                </a:solidFill>
                <a:latin typeface="Fraunces"/>
              </a:rPr>
              <a:t>Speichern &amp; beim nächsten Gedankenkippen anwenden.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240280" y="4815687"/>
            <a:ext cx="2377440" cy="73152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8C15F"/>
              </a:gs>
              <a:gs pos="100000">
                <a:srgbClr val="7E64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5135727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250" b="1" i="0" spc="260">
                <a:solidFill>
                  <a:srgbClr val="7E6410"/>
                </a:solidFill>
                <a:latin typeface="Inter"/>
              </a:rPr>
              <a:t>THEMA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547207"/>
            <a:ext cx="5943600" cy="1645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3000"/>
              </a:lnSpc>
            </a:pPr>
            <a:r>
              <a:rPr sz="4200" b="1" i="0">
                <a:solidFill>
                  <a:srgbClr val="16231F"/>
                </a:solidFill>
                <a:latin typeface="Fraunces"/>
              </a:rPr>
              <a:t>Konditionierung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02 · A · HOOK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3600" b="1" i="0">
                <a:solidFill>
                  <a:srgbClr val="16231F"/>
                </a:solidFill>
                <a:latin typeface="Fraunces"/>
              </a:rPr>
              <a:t>Deine Überreaktion ist keine Charakterschwäche. Sie ist gelernt.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02 · A · ON-SCREEN 1/3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Reiz + Gefühl gekoppelt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02 · A · ON-SCREEN 2/3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Kein Schicksal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02 · A · ON-SCREEN 3/3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Gelernt = umlernbar.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02 · A · CTA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2600" b="1" i="0">
                <a:solidFill>
                  <a:srgbClr val="16231F"/>
                </a:solidFill>
                <a:latin typeface="Fraunces"/>
              </a:rPr>
              <a:t>Folge für den nächsten Mechanismus deines Denkens.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02 · B · HOOK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3600" b="1" i="0">
                <a:solidFill>
                  <a:srgbClr val="16231F"/>
                </a:solidFill>
                <a:latin typeface="Fraunces"/>
              </a:rPr>
              <a:t>Finde den einen Reiz, der dich immer wieder kapert.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02 · B · ON-SCREEN 1/4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3 Überreaktionen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02 · B · ON-SCREEN 2/4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Der Auslöser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02 · B · ON-SCREEN 3/4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Die alte Erwartung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02 · B · ON-SCREEN 4/4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Neu erfahren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02 · B · CTA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2600" b="1" i="0">
                <a:solidFill>
                  <a:srgbClr val="16231F"/>
                </a:solidFill>
                <a:latin typeface="Fraunces"/>
              </a:rPr>
              <a:t>Speichern &amp; deine Auslöser diese Woche kartieren.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240280" y="4815687"/>
            <a:ext cx="2377440" cy="73152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8C15F"/>
              </a:gs>
              <a:gs pos="100000">
                <a:srgbClr val="7E64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5135727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250" b="1" i="0" spc="260">
                <a:solidFill>
                  <a:srgbClr val="7E6410"/>
                </a:solidFill>
                <a:latin typeface="Inter"/>
              </a:rPr>
              <a:t>THEMA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547207"/>
            <a:ext cx="5943600" cy="1645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3000"/>
              </a:lnSpc>
            </a:pPr>
            <a:r>
              <a:rPr sz="4200" b="1" i="0">
                <a:solidFill>
                  <a:srgbClr val="16231F"/>
                </a:solidFill>
                <a:latin typeface="Fraunces"/>
              </a:rPr>
              <a:t>Kognitive Verzerrungen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03 · A · HOOK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3600" b="1" i="0">
                <a:solidFill>
                  <a:srgbClr val="16231F"/>
                </a:solidFill>
                <a:latin typeface="Fraunces"/>
              </a:rPr>
              <a:t>Nicht jeder Gedanke, der überzeugend klingt, ist auch wahr.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03 · A · ON-SCREEN 1/4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Schwarz-Weiß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03 · A · ON-SCREEN 2/4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Katastrophisieren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03 · A · ON-SCREEN 3/4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Gedankenlesen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03 · A · ON-SCREEN 4/4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Gefühl ≠ Beweis.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03 · A · CTA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2600" b="1" i="0">
                <a:solidFill>
                  <a:srgbClr val="16231F"/>
                </a:solidFill>
                <a:latin typeface="Fraunces"/>
              </a:rPr>
              <a:t>Folge für den nächsten Mechanismus deines Denkens.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03 · B · HOOK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3600" b="1" i="0">
                <a:solidFill>
                  <a:srgbClr val="16231F"/>
                </a:solidFill>
                <a:latin typeface="Fraunces"/>
              </a:rPr>
              <a:t>Gib deinem nächsten dunklen Gedanken einen Namen.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03 · B · ON-SCREEN 1/4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Gedanke aufschreiben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03 · B · ON-SCREEN 2/4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Muster erkennen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03 · B · ON-SCREEN 3/4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Alle benennen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03 · B · ON-SCREEN 4/4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Fair neu formulieren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03 · B · CTA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2600" b="1" i="0">
                <a:solidFill>
                  <a:srgbClr val="16231F"/>
                </a:solidFill>
                <a:latin typeface="Fraunces"/>
              </a:rPr>
              <a:t>Speichern als deine kleine Denkfehler-Checkliste.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240280" y="4815687"/>
            <a:ext cx="2377440" cy="73152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8C15F"/>
              </a:gs>
              <a:gs pos="100000">
                <a:srgbClr val="7E64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5135727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250" b="1" i="0" spc="260">
                <a:solidFill>
                  <a:srgbClr val="7E6410"/>
                </a:solidFill>
                <a:latin typeface="Inter"/>
              </a:rPr>
              <a:t>THEMA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547207"/>
            <a:ext cx="5943600" cy="1645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3000"/>
              </a:lnSpc>
            </a:pPr>
            <a:r>
              <a:rPr sz="4200" b="1" i="0">
                <a:solidFill>
                  <a:srgbClr val="16231F"/>
                </a:solidFill>
                <a:latin typeface="Fraunces"/>
              </a:rPr>
              <a:t>Kernüberzeugungen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04 · A · HOOK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3600" b="1" i="0">
                <a:solidFill>
                  <a:srgbClr val="16231F"/>
                </a:solidFill>
                <a:latin typeface="Fraunces"/>
              </a:rPr>
              <a:t>Unter deinen vielen Gedanken liegen nur wenige tiefe Sätze.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04 · A · ON-SCREEN 1/3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Gedanke = Blatt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04 · A · ON-SCREEN 2/3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Überzeugung = Wurzel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04 · A · ON-SCREEN 3/3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Sie filtert, statt zu stimmen.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04 · A · CTA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2600" b="1" i="0">
                <a:solidFill>
                  <a:srgbClr val="16231F"/>
                </a:solidFill>
                <a:latin typeface="Fraunces"/>
              </a:rPr>
              <a:t>Folge für den nächsten Mechanismus deines Denkens.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04 · B · HOOK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3600" b="1" i="0">
                <a:solidFill>
                  <a:srgbClr val="16231F"/>
                </a:solidFill>
                <a:latin typeface="Fraunces"/>
              </a:rPr>
              <a:t>Vier Fragen bis zu dem Satz, der alles einfärbt.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04 · B · ON-SCREEN 1/4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Was sagt das über mich?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04 · B · ON-SCREEN 2/4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3–4 Mal fragen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04 · B · ON-SCREEN 3/4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Der „Klick"-Satz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04 · B · ON-SCREEN 4/4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Gegenbeweise sammeln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04 · B · CTA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2600" b="1" i="0">
                <a:solidFill>
                  <a:srgbClr val="16231F"/>
                </a:solidFill>
                <a:latin typeface="Fraunces"/>
              </a:rPr>
              <a:t>Speichern &amp; die Abwärts-Frage einmal in Ruhe machen.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240280" y="4815687"/>
            <a:ext cx="2377440" cy="73152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8C15F"/>
              </a:gs>
              <a:gs pos="100000">
                <a:srgbClr val="7E64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5135727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250" b="1" i="0" spc="260">
                <a:solidFill>
                  <a:srgbClr val="7E6410"/>
                </a:solidFill>
                <a:latin typeface="Inter"/>
              </a:rPr>
              <a:t>THEMA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547207"/>
            <a:ext cx="5943600" cy="1645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3000"/>
              </a:lnSpc>
            </a:pPr>
            <a:r>
              <a:rPr sz="4200" b="1" i="0">
                <a:solidFill>
                  <a:srgbClr val="16231F"/>
                </a:solidFill>
                <a:latin typeface="Fraunces"/>
              </a:rPr>
              <a:t>Der innere Kritiker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05 · A · HOOK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3600" b="1" i="0">
                <a:solidFill>
                  <a:srgbClr val="16231F"/>
                </a:solidFill>
                <a:latin typeface="Fraunces"/>
              </a:rPr>
              <a:t>Deine strengste innere Stimme ist nicht dein Feind.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05 · A · ON-SCREEN 1/3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Übernommene Stimme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05 · A · ON-SCREEN 2/3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Alter Schutz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05 · A · ON-SCREEN 3/3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Nicht besiegen – entmachten.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05 · A · CTA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2600" b="1" i="0">
                <a:solidFill>
                  <a:srgbClr val="16231F"/>
                </a:solidFill>
                <a:latin typeface="Fraunces"/>
              </a:rPr>
              <a:t>Folge für den nächsten Mechanismus deines Denkens.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05 · B · HOOK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3600" b="1" i="0">
                <a:solidFill>
                  <a:srgbClr val="16231F"/>
                </a:solidFill>
                <a:latin typeface="Fraunces"/>
              </a:rPr>
              <a:t>Antworte deinem inneren Kritiker wie ein guter Mentor.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05 · B · ON-SCREEN 1/4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Kritiker-Satz notieren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05 · B · ON-SCREEN 2/4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Wovor schützt du mich?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05 · B · ON-SCREEN 3/4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Mentor antwortet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05 · B · ON-SCREEN 4/4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Laut sagen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05 · B · CTA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2600" b="1" i="0">
                <a:solidFill>
                  <a:srgbClr val="16231F"/>
                </a:solidFill>
                <a:latin typeface="Fraunces"/>
              </a:rPr>
              <a:t>Speichern &amp; beim nächsten harten Satz die Mentor-Antwort finden.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240280" y="4815687"/>
            <a:ext cx="2377440" cy="73152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8C15F"/>
              </a:gs>
              <a:gs pos="100000">
                <a:srgbClr val="7E64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5135727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250" b="1" i="0" spc="260">
                <a:solidFill>
                  <a:srgbClr val="7E6410"/>
                </a:solidFill>
                <a:latin typeface="Inter"/>
              </a:rPr>
              <a:t>THEMA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547207"/>
            <a:ext cx="5943600" cy="1645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3000"/>
              </a:lnSpc>
            </a:pPr>
            <a:r>
              <a:rPr sz="4200" b="1" i="0">
                <a:solidFill>
                  <a:srgbClr val="16231F"/>
                </a:solidFill>
                <a:latin typeface="Fraunces"/>
              </a:rPr>
              <a:t>Neuroplastizität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06 · A · HOOK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3600" b="1" i="0">
                <a:solidFill>
                  <a:srgbClr val="16231F"/>
                </a:solidFill>
                <a:latin typeface="Fraunces"/>
              </a:rPr>
              <a:t>Veränderung ist kein Wunschdenken. Sie ist Biologie.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06 · A · ON-SCREEN 1/3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Wiederholen = verstärken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06 · A · ON-SCREEN 2/3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Ungenutztes verblasst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06 · A · ON-SCREEN 3/3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Häufigkeit schlägt Intensität.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06 · A · CTA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2600" b="1" i="0">
                <a:solidFill>
                  <a:srgbClr val="16231F"/>
                </a:solidFill>
                <a:latin typeface="Fraunces"/>
              </a:rPr>
              <a:t>Folge für den nächsten Mechanismus deines Denkens.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06 · B · HOOK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3600" b="1" i="0">
                <a:solidFill>
                  <a:srgbClr val="16231F"/>
                </a:solidFill>
                <a:latin typeface="Fraunces"/>
              </a:rPr>
              <a:t>Zwei Minuten am Tag legen eine neue Spur in deinem Gehirn an.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06 · B · ON-SCREEN 1/4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Ein Gedanke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06 · B · ON-SCREEN 2/4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Feste Gelegenheit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06 · B · ON-SCREEN 3/4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Mit Gefühl koppeln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06 · B · ON-SCREEN 4/4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Täglich dran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06 · B · CTA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2600" b="1" i="0">
                <a:solidFill>
                  <a:srgbClr val="16231F"/>
                </a:solidFill>
                <a:latin typeface="Fraunces"/>
              </a:rPr>
              <a:t>Speichern &amp; deine eine Bahn ab morgen bahnen.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240280" y="4815687"/>
            <a:ext cx="2377440" cy="73152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8C15F"/>
              </a:gs>
              <a:gs pos="100000">
                <a:srgbClr val="7E64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5135727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250" b="1" i="0" spc="260">
                <a:solidFill>
                  <a:srgbClr val="7E6410"/>
                </a:solidFill>
                <a:latin typeface="Inter"/>
              </a:rPr>
              <a:t>THEMA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547207"/>
            <a:ext cx="5943600" cy="1645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3000"/>
              </a:lnSpc>
            </a:pPr>
            <a:r>
              <a:rPr sz="4200" b="1" i="0">
                <a:solidFill>
                  <a:srgbClr val="16231F"/>
                </a:solidFill>
                <a:latin typeface="Fraunces"/>
              </a:rPr>
              <a:t>Die Reiz-Reaktions-Lücke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07 · A · HOOK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3600" b="1" i="0">
                <a:solidFill>
                  <a:srgbClr val="16231F"/>
                </a:solidFill>
                <a:latin typeface="Fraunces"/>
              </a:rPr>
              <a:t>Zwischen dem, was passiert, und dem, was du tust, liegt dein ganzer Freiraum.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07 · A · ON-SCREEN 1/3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Reiz → Reaktion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07 · A · ON-SCREEN 2/3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Automatik unter Stress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07 · A · ON-SCREEN 3/3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Antworten statt reagieren.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07 · A · CTA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2600" b="1" i="0">
                <a:solidFill>
                  <a:srgbClr val="16231F"/>
                </a:solidFill>
                <a:latin typeface="Fraunces"/>
              </a:rPr>
              <a:t>Folge für den nächsten Mechanismus deines Denkens.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07 · B · HOOK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3600" b="1" i="0">
                <a:solidFill>
                  <a:srgbClr val="16231F"/>
                </a:solidFill>
                <a:latin typeface="Fraunces"/>
              </a:rPr>
              <a:t>Ein einziger Atemzug schiebt einen Keil zwischen Reiz und Reaktion.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07 · B · ON-SCREEN 1/4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Innehalten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07 · B · ON-SCREEN 2/4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Ein Atemzug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07 · B · ON-SCREEN 3/4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Wie will ich antworten?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07 · B · ON-SCREEN 4/4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Bewusst handeln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07 · B · CTA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2600" b="1" i="0">
                <a:solidFill>
                  <a:srgbClr val="16231F"/>
                </a:solidFill>
                <a:latin typeface="Fraunces"/>
              </a:rPr>
              <a:t>Speichern &amp; bei der nächsten Provokation den einen Atemzug nehmen.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240280" y="4815687"/>
            <a:ext cx="2377440" cy="73152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8C15F"/>
              </a:gs>
              <a:gs pos="100000">
                <a:srgbClr val="7E64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5135727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250" b="1" i="0" spc="260">
                <a:solidFill>
                  <a:srgbClr val="7E6410"/>
                </a:solidFill>
                <a:latin typeface="Inter"/>
              </a:rPr>
              <a:t>THEMA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547207"/>
            <a:ext cx="5943600" cy="1645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3000"/>
              </a:lnSpc>
            </a:pPr>
            <a:r>
              <a:rPr sz="4200" b="1" i="0">
                <a:solidFill>
                  <a:srgbClr val="16231F"/>
                </a:solidFill>
                <a:latin typeface="Fraunces"/>
              </a:rPr>
              <a:t>Grübeln &amp; Gedankenkreisen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08 · A · HOOK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3600" b="1" i="0">
                <a:solidFill>
                  <a:srgbClr val="16231F"/>
                </a:solidFill>
                <a:latin typeface="Fraunces"/>
              </a:rPr>
              <a:t>Grübeln fühlt sich an wie Problemlösen. Ist aber keins.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08 · A · ON-SCREEN 1/3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Kreisen ≠ Lösen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08 · A · ON-SCREEN 2/3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Näher an der Antwort?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08 · A · ON-SCREEN 3/3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Muster, kein Nachdenken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08 · A · CTA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2600" b="1" i="0">
                <a:solidFill>
                  <a:srgbClr val="16231F"/>
                </a:solidFill>
                <a:latin typeface="Fraunces"/>
              </a:rPr>
              <a:t>Folge für den nächsten Mechanismus deines Denkens.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08 · B · HOOK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3600" b="1" i="0">
                <a:solidFill>
                  <a:srgbClr val="16231F"/>
                </a:solidFill>
                <a:latin typeface="Fraunces"/>
              </a:rPr>
              <a:t>Eine Frage entlarvt jede Grübelschleife sofort.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08 · B · ON-SCREEN 1/4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Löse oder wiederhole ich?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08 · B · ON-SCREEN 2/4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Stopp.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08 · B · ON-SCREEN 3/4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5 Dinge sehen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08 · B · ON-SCREEN 4/4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Ein nächster Schritt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08 · B · CTA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2600" b="1" i="0">
                <a:solidFill>
                  <a:srgbClr val="16231F"/>
                </a:solidFill>
                <a:latin typeface="Fraunces"/>
              </a:rPr>
              <a:t>Speichern &amp; beim nächsten Gedankenkarussell den Cut setzen.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240280" y="4815687"/>
            <a:ext cx="2377440" cy="73152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8C15F"/>
              </a:gs>
              <a:gs pos="100000">
                <a:srgbClr val="7E64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5135727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250" b="1" i="0" spc="260">
                <a:solidFill>
                  <a:srgbClr val="7E6410"/>
                </a:solidFill>
                <a:latin typeface="Inter"/>
              </a:rPr>
              <a:t>THEMA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547207"/>
            <a:ext cx="5943600" cy="1645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3000"/>
              </a:lnSpc>
            </a:pPr>
            <a:r>
              <a:rPr sz="4200" b="1" i="0">
                <a:solidFill>
                  <a:srgbClr val="16231F"/>
                </a:solidFill>
                <a:latin typeface="Fraunces"/>
              </a:rPr>
              <a:t>Emotionsregulation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09 · A · HOOK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3600" b="1" i="0">
                <a:solidFill>
                  <a:srgbClr val="16231F"/>
                </a:solidFill>
                <a:latin typeface="Fraunces"/>
              </a:rPr>
              <a:t>Es gibt einen dritten Weg zwischen Wegdrücken und Überflutetwerden.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09 · A · ON-SCREEN 1/4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Nicht wegdrücken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09 · A · ON-SCREEN 2/4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Nicht überflutet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09 · A · ON-SCREEN 3/4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Steigt, kippt, sinkt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09 · A · ON-SCREEN 4/4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Die Welle trägt.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09 · A · CTA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2600" b="1" i="0">
                <a:solidFill>
                  <a:srgbClr val="16231F"/>
                </a:solidFill>
                <a:latin typeface="Fraunces"/>
              </a:rPr>
              <a:t>Folge für den nächsten Mechanismus deines Denkens.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09 · B · HOOK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3600" b="1" i="0">
                <a:solidFill>
                  <a:srgbClr val="16231F"/>
                </a:solidFill>
                <a:latin typeface="Fraunces"/>
              </a:rPr>
              <a:t>Gib einem heftigen Gefühl 90 Sekunden, bevor du entscheidest.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09 · B · ON-SCREEN 1/4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Benennen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09 · B · ON-SCREEN 2/4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Im Körper verorten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09 · B · ON-SCREEN 3/4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Länger ausatmen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09 · B · ON-SCREEN 4/4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90 Sekunden warten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09 · B · CTA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2600" b="1" i="0">
                <a:solidFill>
                  <a:srgbClr val="16231F"/>
                </a:solidFill>
                <a:latin typeface="Fraunces"/>
              </a:rPr>
              <a:t>Speichern &amp; im nächsten Sturm die 90-Sekunden-Regel nutzen.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240280" y="4815687"/>
            <a:ext cx="2377440" cy="73152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8C15F"/>
              </a:gs>
              <a:gs pos="100000">
                <a:srgbClr val="7E64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5135727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250" b="1" i="0" spc="260">
                <a:solidFill>
                  <a:srgbClr val="7E6410"/>
                </a:solidFill>
                <a:latin typeface="Inter"/>
              </a:rPr>
              <a:t>THEMA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547207"/>
            <a:ext cx="5943600" cy="1645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3000"/>
              </a:lnSpc>
            </a:pPr>
            <a:r>
              <a:rPr sz="4200" b="1" i="0">
                <a:solidFill>
                  <a:srgbClr val="16231F"/>
                </a:solidFill>
                <a:latin typeface="Fraunces"/>
              </a:rPr>
              <a:t>Selbstmitgefühl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10 · A · HOOK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3600" b="1" i="0">
                <a:solidFill>
                  <a:srgbClr val="16231F"/>
                </a:solidFill>
                <a:latin typeface="Fraunces"/>
              </a:rPr>
              <a:t>Du wirst nicht besser, indem du hart mit dir bist. Das Gegenteil stimmt.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10 · A · ON-SCREEN 1/3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Härte ≠ Motor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10 · A · ON-SCREEN 2/3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Kein Weichspüler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10 · A · ON-SCREEN 3/3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Der stabilere Boden.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10 · A · CTA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2600" b="1" i="0">
                <a:solidFill>
                  <a:srgbClr val="16231F"/>
                </a:solidFill>
                <a:latin typeface="Fraunces"/>
              </a:rPr>
              <a:t>Folge für den nächsten Mechanismus deines Denkens.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10 · B · HOOK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3600" b="1" i="0">
                <a:solidFill>
                  <a:srgbClr val="16231F"/>
                </a:solidFill>
                <a:latin typeface="Fraunces"/>
              </a:rPr>
              <a:t>Sag dir, was du einem geliebten Freund in derselben Lage sagen würdest.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10 · B · ON-SCREEN 1/4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Was sagst du einem Freund?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10 · B · ON-SCREEN 2/4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Hand auf die Brust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10 · B · ON-SCREEN 3/4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Das ist schwer.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10 · B · ON-SCREEN 4/4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Ich bin nicht allein.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10 · B · CTA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2600" b="1" i="0">
                <a:solidFill>
                  <a:srgbClr val="16231F"/>
                </a:solidFill>
                <a:latin typeface="Fraunces"/>
              </a:rPr>
              <a:t>Speichern &amp; beim nächsten harten Tag die Freundes-Hand nutzen.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240280" y="4815687"/>
            <a:ext cx="2377440" cy="73152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8C15F"/>
              </a:gs>
              <a:gs pos="100000">
                <a:srgbClr val="7E64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5135727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250" b="1" i="0" spc="260">
                <a:solidFill>
                  <a:srgbClr val="7E6410"/>
                </a:solidFill>
                <a:latin typeface="Inter"/>
              </a:rPr>
              <a:t>THEMA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547207"/>
            <a:ext cx="5943600" cy="1645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3000"/>
              </a:lnSpc>
            </a:pPr>
            <a:r>
              <a:rPr sz="4200" b="1" i="0">
                <a:solidFill>
                  <a:srgbClr val="16231F"/>
                </a:solidFill>
                <a:latin typeface="Fraunces"/>
              </a:rPr>
              <a:t>Werte &amp; Ziele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11 · A · HOOK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3600" b="1" i="0">
                <a:solidFill>
                  <a:srgbClr val="16231F"/>
                </a:solidFill>
                <a:latin typeface="Fraunces"/>
              </a:rPr>
              <a:t>Du kannst jedes Ziel erreichen und dich trotzdem leer fühlen.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11 · A · ON-SCREEN 1/4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Ziel = Punkt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11 · A · ON-SCREEN 2/4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Wert = Richtung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11 · A · ON-SCREEN 3/4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Das Wofür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11 · A · ON-SCREEN 4/4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Ein Kompass, keine Liste.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11 · A · CTA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2600" b="1" i="0">
                <a:solidFill>
                  <a:srgbClr val="16231F"/>
                </a:solidFill>
                <a:latin typeface="Fraunces"/>
              </a:rPr>
              <a:t>Folge für den nächsten Mechanismus deines Denkens.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11 · B · HOOK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3600" b="1" i="0">
                <a:solidFill>
                  <a:srgbClr val="16231F"/>
                </a:solidFill>
                <a:latin typeface="Fraunces"/>
              </a:rPr>
              <a:t>Ein stimmiger Moment verrät dir, was dir wirklich wichtig ist.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11 · B · ON-SCREEN 1/4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Stimmiger Moment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11 · B · ON-SCREEN 2/4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8–10 Wörter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11 · B · ON-SCREEN 3/4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Auf 3–4 kürzen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11 · B · ON-SCREEN 4/4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Ich lebe ihn, wenn ich 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11 · B · CTA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2600" b="1" i="0">
                <a:solidFill>
                  <a:srgbClr val="16231F"/>
                </a:solidFill>
                <a:latin typeface="Fraunces"/>
              </a:rPr>
              <a:t>Speichern &amp; dir 20 Minuten für deine Kern-Werte nehmen.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240280" y="4815687"/>
            <a:ext cx="2377440" cy="73152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8C15F"/>
              </a:gs>
              <a:gs pos="100000">
                <a:srgbClr val="7E64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5135727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250" b="1" i="0" spc="260">
                <a:solidFill>
                  <a:srgbClr val="7E6410"/>
                </a:solidFill>
                <a:latin typeface="Inter"/>
              </a:rPr>
              <a:t>THEMA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547207"/>
            <a:ext cx="5943600" cy="1645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3000"/>
              </a:lnSpc>
            </a:pPr>
            <a:r>
              <a:rPr sz="4200" b="1" i="0">
                <a:solidFill>
                  <a:srgbClr val="16231F"/>
                </a:solidFill>
                <a:latin typeface="Fraunces"/>
              </a:rPr>
              <a:t>Muster, Körper &amp; Gesundheit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12 · A · HOOK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3600" b="1" i="0">
                <a:solidFill>
                  <a:srgbClr val="16231F"/>
                </a:solidFill>
                <a:latin typeface="Fraunces"/>
              </a:rPr>
              <a:t>Dein Körper unterscheidet nicht zwischen echter Gefahr und einem sorgenvollen Gedanken.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12 · A · ON-SCREEN 1/3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Gedanke = Stressreaktion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12 · A · ON-SCREEN 2/3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Chronisch → körperlich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12 · A · ON-SCREEN 3/3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Innere Arbeit ist Körperarbeit.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12 · A · CTA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2600" b="1" i="0">
                <a:solidFill>
                  <a:srgbClr val="16231F"/>
                </a:solidFill>
                <a:latin typeface="Fraunces"/>
              </a:rPr>
              <a:t>Folge für den nächsten Mechanismus deines Denkens. (Ersetzt keine ärztliche Behandlung.)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12 · B · HOOK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3600" b="1" i="0">
                <a:solidFill>
                  <a:srgbClr val="16231F"/>
                </a:solidFill>
                <a:latin typeface="Fraunces"/>
              </a:rPr>
              <a:t>Wo sitzt dein Stress gerade – im Kiefer, im Nacken, im Bauch?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12 · B · ON-SCREEN 1/4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Körper scannen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12 · B · ON-SCREEN 2/4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Stelle lockern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12 · B · ON-SCREEN 3/4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Ein 4, aus 6–8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12 · B · ON-SCREEN 4/4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Warnsignale notieren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12 · B · CTA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2600" b="1" i="0">
                <a:solidFill>
                  <a:srgbClr val="16231F"/>
                </a:solidFill>
                <a:latin typeface="Fraunces"/>
              </a:rPr>
              <a:t>Speichern &amp; den Körper-Check heute dreimal machen.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240280" y="4815687"/>
            <a:ext cx="2377440" cy="73152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8C15F"/>
              </a:gs>
              <a:gs pos="100000">
                <a:srgbClr val="7E64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5135727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250" b="1" i="0" spc="260">
                <a:solidFill>
                  <a:srgbClr val="7E6410"/>
                </a:solidFill>
                <a:latin typeface="Inter"/>
              </a:rPr>
              <a:t>THEMA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547207"/>
            <a:ext cx="5943600" cy="1645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3000"/>
              </a:lnSpc>
            </a:pPr>
            <a:r>
              <a:rPr sz="4200" b="1" i="0">
                <a:solidFill>
                  <a:srgbClr val="16231F"/>
                </a:solidFill>
                <a:latin typeface="Fraunces"/>
              </a:rPr>
              <a:t>Integration &amp; Weitergabe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13 · A · HOOK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3600" b="1" i="0">
                <a:solidFill>
                  <a:srgbClr val="16231F"/>
                </a:solidFill>
                <a:latin typeface="Fraunces"/>
              </a:rPr>
              <a:t>Du kannst alles verstanden haben und im Streit trotzdem reagieren wie früher.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13 · A · ON-SCREEN 1/3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Wissen ≠ Verkörpern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13 · A · ON-SCREEN 2/3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Wiederholung im Alltag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13 · A · ON-SCREEN 3/3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Kürzerer Weg zurück.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13 · A · CTA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2600" b="1" i="0">
                <a:solidFill>
                  <a:srgbClr val="16231F"/>
                </a:solidFill>
                <a:latin typeface="Fraunces"/>
              </a:rPr>
              <a:t>Folge für den nächsten Mechanismus deines Denkens.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13 · B · HOOK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3600" b="1" i="0">
                <a:solidFill>
                  <a:srgbClr val="16231F"/>
                </a:solidFill>
                <a:latin typeface="Fraunces"/>
              </a:rPr>
              <a:t>Erklär es einem Menschen, der dir wichtig ist – und du merkst, was du wirklich lebst.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13 · B · ON-SCREEN 1/4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In 3–4 Sätzen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13 · B · ON-SCREEN 2/4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Ohne Fachbegriffe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13 · B · ON-SCREEN 3/4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Streiche Ungelebtes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13 · B · ON-SCREEN 4/4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Was bleibt = dein Fundament.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206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260">
                <a:solidFill>
                  <a:srgbClr val="7E6410"/>
                </a:solidFill>
                <a:latin typeface="Inter"/>
              </a:rPr>
              <a:t>THEMA 13 · B · CTA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5577840" cy="320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</a:pPr>
            <a:r>
              <a:rPr sz="2600" b="1" i="0">
                <a:solidFill>
                  <a:srgbClr val="16231F"/>
                </a:solidFill>
                <a:latin typeface="Fraunces"/>
              </a:rPr>
              <a:t>Speichern &amp; einem wichtigen Menschen deinen wichtigsten Satz weitergeben.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688775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