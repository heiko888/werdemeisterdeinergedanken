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01 – Autopilot. Ziellänge: 6–8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01 · Autopilot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02 – Erwachen. Ziellänge: 6–8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02 · Erwachen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03 – Selbstbeobachtung. Ziellänge: 7–9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03 · Selbstbeobachtung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04 – Emotionale Reifung. Ziellänge: 7–9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04 · Emotionale Reifung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05 – Schöpferkraft. Ziellänge: 7–9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05 · Schöpferkraft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06 – Innere Ausrichtung. Ziellänge: 6–8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06 · Innere Ausrichtung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Titel-Einblendung. Stufe 07 – Meisterschaft. Ziellänge: 7–9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Stufe 07 · Meisterschaft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4-6-Atmung.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Atembeobachtung.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Box Breathing.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Verlängertes Ausatmen.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Body-Scan.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Herz-Kohärenz.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Der innere Beobachter.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Abend-Reflexion.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Der Autopilot-Check.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Loslass-Ritual.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Morgen-Ausrichtung.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Präsenz-Spaziergang.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Praxis-Übung: Die tägliche Rückkehr.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Automatische Gedanken.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Automatische Gedanken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Emotionsregulation.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Emotionsregulation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Grübeln &amp; Gedankenkreisen.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Grübeln &amp; Gedankenkreisen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Der innere Kritiker.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Der innere Kritiker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Integration &amp; Weitergabe.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Integration &amp; Weitergabe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Kernüberzeugungen.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Kernüberzeugungen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Kognitive Verzerrungen.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Kognitive Verzerrungen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Konditionierung.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Konditionierung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Muster, Körper &amp; Gesundheit.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Muster, Körper &amp; Gesundheit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Neuroplastizität.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Neuroplastizität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Die Reiz-Reaktions-Lücke.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Die Reiz-Reaktions-Lücke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Selbstmitgefühl.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Selbstmitgefühl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Titel-Einblendung Vertiefung: Werte &amp; Ziele.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Merksatz-Einblendung (Abschluss). Werte &amp; Ziele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in-freigestel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87" y="123444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2647" y="30632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495" b="0" i="0" spc="160">
                <a:solidFill>
                  <a:srgbClr val="16231F"/>
                </a:solidFill>
                <a:latin typeface="Fraunces"/>
              </a:rPr>
              <a:t>WERDE </a:t>
            </a:r>
            <a:r>
              <a:rPr sz="1495" b="0" i="0" spc="160">
                <a:solidFill>
                  <a:srgbClr val="7E6410"/>
                </a:solidFill>
                <a:latin typeface="Fraunces"/>
              </a:rPr>
              <a:t>MEISTER</a:t>
            </a:r>
          </a:p>
          <a:p>
            <a:pPr algn="ctr">
              <a:spcBef>
                <a:spcPts val="100"/>
              </a:spcBef>
            </a:pPr>
            <a:r>
              <a:rPr sz="919" b="0" i="0" spc="300">
                <a:solidFill>
                  <a:srgbClr val="48524E"/>
                </a:solidFill>
                <a:latin typeface="Fraunces"/>
              </a:rPr>
              <a:t>—  DEINER GEDANKEN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849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4000" b="1" i="0">
                <a:solidFill>
                  <a:srgbClr val="16231F"/>
                </a:solidFill>
                <a:latin typeface="Fraunces"/>
              </a:rPr>
              <a:t>Video-Folien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257800"/>
            <a:ext cx="85340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8524E"/>
                </a:solidFill>
                <a:latin typeface="Inter"/>
              </a:rPr>
              <a:t>On-Screen-Einblendungen für die Langvideos · Creme-Branding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2377440"/>
            <a:ext cx="82296" cy="21031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560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DIE REISE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0"/>
            <a:ext cx="949421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16231F"/>
                </a:solidFill>
                <a:latin typeface="Fraunces"/>
              </a:rPr>
              <a:t>Die 7 Stufen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Autopilot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wirst gelebt“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bin nicht mein Autopilot. Ich kann bemerken, was in mir abläuft – und das verändert alles.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01 · AUTOPILOT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Erwachen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bemerkst es“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bin nicht meine Gedanken. Ich bin das Bewusstsein, das sie bemerkt.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02 · ERWACHEN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Selbstbeobachtung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siehst dir zu“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sehe meinen Gedanken und Mustern ruhig zu. Ich muss ihnen nicht folgen.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03 · SELBSTBEOBACHTUNG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Emotionale Reifung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lässt los“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darf fühlen, was ist – und ich darf loslassen, was war. Ich werde leicht.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04 · EMOTIONALE REIFUNG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Schöpferkraft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erschaffst bewusst“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wähle meine Gedanken bewusst. Was ich nähre, wächst.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05 · SCHÖPFERKRAFT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Innere Ausrichtung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„Kopf, Herz und Handeln“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Kopf, Herz und Handeln ziehen an einem Strang. Ich bin stimmig.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06 · INNERE AUSRICHTUNG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" y="2331720"/>
            <a:ext cx="1828800" cy="1828800"/>
          </a:xfrm>
          <a:prstGeom prst="ellipse">
            <a:avLst/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  <a:r>
              <a:rPr sz="4000" b="1" i="0">
                <a:solidFill>
                  <a:srgbClr val="F6F4EE"/>
                </a:solidFill>
                <a:latin typeface="Fraunce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75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STUFE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0" y="2560320"/>
            <a:ext cx="803117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400" b="1" i="0">
                <a:solidFill>
                  <a:srgbClr val="16231F"/>
                </a:solidFill>
                <a:latin typeface="Fraunces"/>
              </a:rPr>
              <a:t>Meisterschaft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379476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4023360"/>
            <a:ext cx="803117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5000"/>
              </a:lnSpc>
            </a:pPr>
            <a:r>
              <a:rPr sz="2600" b="0" i="1">
                <a:solidFill>
                  <a:srgbClr val="48524E"/>
                </a:solidFill>
                <a:latin typeface="Fraunces"/>
              </a:rPr>
              <a:t>„Du gestaltest“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STUFE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Ich reagiere nicht mehr – ich gestalte. Bewusstsein ist mein Zuhause.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STUFE 07 · MEISTERSCHAFT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2377440"/>
            <a:ext cx="82296" cy="21031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560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WERKZEUGKASTEN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0"/>
            <a:ext cx="949421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16231F"/>
                </a:solidFill>
                <a:latin typeface="Fraunces"/>
              </a:rPr>
              <a:t>Praxis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ATEMÜBUNG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4-6-Atmung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~3 Min  ·  Stufe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MEDITATION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Atembeobachtung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~8 Min  ·  Stufe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ATEMÜBUNG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Box Breathing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3–5 Min  ·  Stufe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ATEMÜBUNG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Verlängertes Ausatmen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3–5 Min  ·  Stufe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MEDITATION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Body-Scan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~15 Min  ·  Stufe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MEDITATION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Herz-Kohärenz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~8 Min  ·  Stufe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MEDITATION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Der innere Beobachter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~10 Min  ·  Stufe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Abend-Reflexion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5–10 Min  ·  Stufe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Der Autopilot-Check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~2 Min  ·  Stufe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Loslass-Ritual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~15 Min  ·  Stufe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Morgen-Ausrichtung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~5 Min  ·  Stufe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Präsenz-Spaziergang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10–20 Min  ·  Stufe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PRAXIS ·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45433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800" b="1" i="0">
                <a:solidFill>
                  <a:srgbClr val="16231F"/>
                </a:solidFill>
                <a:latin typeface="Fraunces"/>
              </a:rPr>
              <a:t>Die tägliche Rückkehr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16052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 i="0">
                <a:solidFill>
                  <a:srgbClr val="48524E"/>
                </a:solidFill>
                <a:latin typeface="Inter"/>
              </a:rPr>
              <a:t>~5 Min  ·  Stufe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2377440"/>
            <a:ext cx="82296" cy="210312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560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HINTERGRUND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0"/>
            <a:ext cx="949421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16231F"/>
                </a:solidFill>
                <a:latin typeface="Fraunces"/>
              </a:rPr>
              <a:t>Vertiefungen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Automatische Gedanken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Zwischen Situation und Gefühl steht immer ein Gedanke. Wer ihn erwischt, gewinnt die Wahl zurück.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AUTOMATISCHE GEDANKEN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Emotionsregulation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Gefühle sind Wellen mit Anfang und Ende. Benennen, halten, atmen – dann tragen sie dich, statt dich fortzureißen.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EMOTIONSREGULATION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Grübeln &amp; Gedankenkreisen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Grübeln ist Wiederholung, kein Fortschritt. Du gewinnst es nicht – du unterbrichst 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GRÜBELN &amp; GEDANKENKREISEN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Der innere Kritiker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Der innere Kritiker ist ein alter Beschützer. Du besiegst ihn nicht – du nimmst ihm die Autorität.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DER INNERE KRITIKER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Integration &amp; Weitergabe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Meisterschaft zeigt sich nicht im Nie-mehr-Fallen, sondern im ruhigen Zurückkehren – und im Weitergeben dessen, was du wirklich lebst.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INTEGRATION &amp; WEITERGABE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Kernüberzeugungen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Unter den Gedanken liegen wenige tiefe Regeln. Sie ändern sich durch Gegenerfahrung, nicht durch Sprüche.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KERNÜBERZEUGUNGEN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Kognitive Verzerrungen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Denkfehler folgen wenigen Mustern. Wer sie benennt, muss ihnen nicht mehr glauben.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KOGNITIVE VERZERRUNGEN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Konditionierung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Konditionierung ist gelerntes Reagieren – kein Schicksal. Neue Erfahrung schreibt die alte Kopplung 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KONDITIONIERUNG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Muster, Körper &amp; Gesundheit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Anhaltende Muster gehen in den Körper – ein reguliertes Nervensystem entlastet ihn wieder. Innere Arbeit ist auch Körperarbeit.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MUSTER, KÖRPER &amp; GESUNDHEIT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Neuroplastizität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Dein Gehirn folgt dem, was du wiederholst. Häufigkeit schlägt Intensität – und macht Veränderung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NEUROPLASTIZITÄT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Die Reiz-Reaktions-Lücke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Du kannst den Reiz nicht wählen – aber den Moment danach. In diesem Spalt liegt deine ganze Freiheit.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DIE REIZ-REAKTIONS-LÜCKE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Selbstmitgefühl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Freundlichkeit zu dir ist kein Nachlassen, sondern der stabilere Boden. Menschen wachsen durch Ermutigung, nicht durch Abwertung.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SELBSTMITGEFÜHL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7E6410"/>
                </a:solidFill>
                <a:latin typeface="Inter"/>
              </a:rPr>
              <a:t>VERTIEFUNG · STUFE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2000"/>
              </a:lnSpc>
            </a:pPr>
            <a:r>
              <a:rPr sz="4600" b="1" i="0">
                <a:solidFill>
                  <a:srgbClr val="16231F"/>
                </a:solidFill>
                <a:latin typeface="Fraunces"/>
              </a:rPr>
              <a:t>Werte &amp; Ziele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4526280"/>
            <a:ext cx="2377440" cy="548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C15F"/>
              </a:gs>
              <a:gs pos="100000">
                <a:srgbClr val="7E641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 spc="260">
                <a:solidFill>
                  <a:srgbClr val="626B67"/>
                </a:solidFill>
                <a:latin typeface="Fraunces"/>
              </a:rPr>
              <a:t>WERDE MEISTER DEINER GEDANKEN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260">
                <a:solidFill>
                  <a:srgbClr val="7E6410"/>
                </a:solidFill>
                <a:latin typeface="Inter"/>
              </a:rPr>
              <a:t>MERKSATZ · VERTIEFUNG · STUFE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0876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7000" b="1" i="0">
                <a:solidFill>
                  <a:srgbClr val="D9A93A"/>
                </a:solidFill>
                <a:latin typeface="Fraunce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14600"/>
            <a:ext cx="9265615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</a:pPr>
            <a:r>
              <a:rPr sz="3300" b="0" i="0">
                <a:solidFill>
                  <a:srgbClr val="16231F"/>
                </a:solidFill>
                <a:latin typeface="Fraunces"/>
              </a:rPr>
              <a:t>Ziele erreichst du, Werte lebst du. Wer seine Richtung kennt, findet Sinn im Weg – nicht erst im Ergebnis.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 spc="240">
                <a:solidFill>
                  <a:srgbClr val="7E6410"/>
                </a:solidFill>
                <a:latin typeface="Inter"/>
              </a:rPr>
              <a:t>WERTE &amp; ZIELE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