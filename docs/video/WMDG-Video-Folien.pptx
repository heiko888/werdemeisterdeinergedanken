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Stufe 01 – Autopilot. Ziellänge: 6–8 Min.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Stufe 01 · Autopilot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Stufe 02 – Erwachen. Ziellänge: 6–8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Stufe 02 · Erwachen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Stufe 03 – Selbstbeobachtung. Ziellänge: 7–9 Min.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Stufe 03 · Selbstbeobachtung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Stufe 04 – Emotionale Reifung. Ziellänge: 7–9 Min.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Stufe 04 · Emotionale Reifung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Stufe 05 – Schöpferkraft. Ziellänge: 7–9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Stufe 05 · Schöpferkraft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Stufe 06 – Innere Ausrichtung. Ziellänge: 6–8 Min.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Stufe 06 · Innere Ausrichtung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Stufe 07 – Meisterschaft. Ziellänge: 7–9 Min.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Stufe 07 · Meisterschaft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Praxis-Übung: 4-6-Atmung.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Praxis-Übung: Atembeobachtung.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Praxis-Übung: Box Breathing.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Praxis-Übung: Verlängertes Ausatmen.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Praxis-Übung: Body-Scan.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Praxis-Übung: Herz-Kohärenz.</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Praxis-Übung: Der innere Beobachter.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Praxis-Übung: Abend-Reflexion.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Praxis-Übung: Der Autopilot-Check.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Praxis-Übung: Loslass-Ritual.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Praxis-Übung: Morgen-Ausrichtung.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Praxis-Übung: Präsenz-Spaziergang.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Praxis-Übung: Die tägliche Rückkehr.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Vertiefung: Automatische Gedanken.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Automatische Gedanken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Vertiefung: Emotionsregulation.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Emotionsregulation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Vertiefung: Grübeln &amp; Gedankenkreisen.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Grübeln &amp; Gedankenkreisen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Vertiefung: Der innere Kritiker.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Der innere Kritiker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Vertiefung: Integration &amp; Weitergabe.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Integration &amp; Weitergabe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Vertiefung: Kernüberzeugungen.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Kernüberzeugungen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Vertiefung: Kognitive Verzerrungen.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Kognitive Verzerrungen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Vertiefung: Konditionierung.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Konditionierung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Vertiefung: Muster, Körper &amp; Gesundheit.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Muster, Körper &amp; Gesundheit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Vertiefung: Neuroplastizität.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Neuroplastizität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Vertiefung: Die Reiz-Reaktions-Lücke.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Die Reiz-Reaktions-Lücke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Vertiefung: Selbstmitgefühl.</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Selbstmitgefühl</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Vertiefung: Werte &amp; Ziele.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Werte &amp; Ziele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SV 1: Propaganda &amp; Konditionierung.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Propaganda &amp; Konditionierung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SV 2: Framing.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Framing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SV 3: Sprache &amp; Etiketten.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Sprache &amp; Etiketten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SV 4: Medien &amp; Aufmerksamkeit.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Medien &amp; Aufmerksamkeit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SV 5: Algorithmen &amp; Filterblasen.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Algorithmen &amp; Filterblasen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SV 6: Werbung &amp; künstlicher Mangel.</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Werbung &amp; künstlicher Mangel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SV 7: Gruppendruck &amp; Schweigespirale.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Gruppendruck &amp; Schweigespirale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SV 8: Autorität &amp; Gehorsam.</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Autorität &amp; Gehorsam</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SV 9: Angst als Steuerungsmittel.</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Angst als Steuerungsmittel</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SV 10: Wiederholung wird zur Wahrheit.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Wiederholung wird zur Wahrheit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SV 11: Ablenkung &amp; Überflutung.</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Ablenkung &amp; Überflutung</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SV 12: Kognitive Dissonanz.</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Kognitive Dissonanz</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SV 13: Normalisierung.</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Normalisierung</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SV 14: Bilder statt Argumente.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Bilder statt Argumente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SV 15: Identität &amp; Meinung.</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Identität &amp; Meinung</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Titel-Einblendung SV 16: Reizüberflutung &amp; Alarmbereitschaft.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Merksatz-Einblendung (Abschluss). Reizüberflutung &amp; Alarmbereitschaft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Rectangle 1"/>
          <p:cNvSpPr/>
          <p:nvPr/>
        </p:nvSpPr>
        <p:spPr>
          <a:xfrm>
            <a:off x="0" y="0"/>
            <a:ext cx="12191695" cy="146304"/>
          </a:xfrm>
          <a:prstGeom prst="rect">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brain-gold.png"/>
          <p:cNvPicPr>
            <a:picLocks noChangeAspect="1"/>
          </p:cNvPicPr>
          <p:nvPr/>
        </p:nvPicPr>
        <p:blipFill>
          <a:blip r:embed="rId2"/>
          <a:stretch>
            <a:fillRect/>
          </a:stretch>
        </p:blipFill>
        <p:spPr>
          <a:xfrm>
            <a:off x="5272887" y="1234440"/>
            <a:ext cx="1645920" cy="1571854"/>
          </a:xfrm>
          <a:prstGeom prst="rect">
            <a:avLst/>
          </a:prstGeom>
        </p:spPr>
      </p:pic>
      <p:sp>
        <p:nvSpPr>
          <p:cNvPr id="4" name="TextBox 3"/>
          <p:cNvSpPr txBox="1"/>
          <p:nvPr/>
        </p:nvSpPr>
        <p:spPr>
          <a:xfrm>
            <a:off x="3352647" y="3063240"/>
            <a:ext cx="5486400" cy="640080"/>
          </a:xfrm>
          <a:prstGeom prst="rect">
            <a:avLst/>
          </a:prstGeom>
          <a:noFill/>
        </p:spPr>
        <p:txBody>
          <a:bodyPr wrap="square" anchor="t" lIns="0" rIns="0" tIns="0" bIns="0">
            <a:noAutofit/>
          </a:bodyPr>
          <a:lstStyle/>
          <a:p>
            <a:pPr algn="ctr"/>
            <a:r>
              <a:rPr sz="1495" b="0" i="0" spc="160">
                <a:solidFill>
                  <a:srgbClr val="16231F"/>
                </a:solidFill>
                <a:latin typeface="Fraunces"/>
              </a:rPr>
              <a:t>WERDE </a:t>
            </a:r>
            <a:r>
              <a:rPr sz="1495" b="0" i="0" spc="160">
                <a:solidFill>
                  <a:srgbClr val="7E6410"/>
                </a:solidFill>
                <a:latin typeface="Fraunces"/>
              </a:rPr>
              <a:t>MEISTER</a:t>
            </a:r>
          </a:p>
          <a:p>
            <a:pPr algn="ctr">
              <a:spcBef>
                <a:spcPts val="100"/>
              </a:spcBef>
            </a:pPr>
            <a:r>
              <a:rPr sz="919" b="0" i="0" spc="300">
                <a:solidFill>
                  <a:srgbClr val="48524E"/>
                </a:solidFill>
                <a:latin typeface="Fraunces"/>
              </a:rPr>
              <a:t>—  DEINER GEDANKEN  —</a:t>
            </a:r>
          </a:p>
        </p:txBody>
      </p:sp>
      <p:sp>
        <p:nvSpPr>
          <p:cNvPr id="5" name="TextBox 4"/>
          <p:cNvSpPr txBox="1"/>
          <p:nvPr/>
        </p:nvSpPr>
        <p:spPr>
          <a:xfrm>
            <a:off x="1371600" y="3703320"/>
            <a:ext cx="9448495" cy="1828800"/>
          </a:xfrm>
          <a:prstGeom prst="rect">
            <a:avLst/>
          </a:prstGeom>
          <a:noFill/>
        </p:spPr>
        <p:txBody>
          <a:bodyPr wrap="square" anchor="t" lIns="0" rIns="0" tIns="0" bIns="0">
            <a:noAutofit/>
          </a:bodyPr>
          <a:lstStyle/>
          <a:p>
            <a:pPr algn="ctr">
              <a:lnSpc>
                <a:spcPct val="102000"/>
              </a:lnSpc>
            </a:pPr>
            <a:r>
              <a:rPr sz="4000" b="1" i="0">
                <a:solidFill>
                  <a:srgbClr val="16231F"/>
                </a:solidFill>
                <a:latin typeface="Fraunces"/>
              </a:rPr>
              <a:t>Video-Folien</a:t>
            </a:r>
          </a:p>
        </p:txBody>
      </p:sp>
      <p:sp>
        <p:nvSpPr>
          <p:cNvPr id="6" name="TextBox 5"/>
          <p:cNvSpPr txBox="1"/>
          <p:nvPr/>
        </p:nvSpPr>
        <p:spPr>
          <a:xfrm>
            <a:off x="1828800" y="5257800"/>
            <a:ext cx="8534095" cy="731520"/>
          </a:xfrm>
          <a:prstGeom prst="rect">
            <a:avLst/>
          </a:prstGeom>
          <a:noFill/>
        </p:spPr>
        <p:txBody>
          <a:bodyPr wrap="square" anchor="t" lIns="0" rIns="0" tIns="0" bIns="0">
            <a:noAutofit/>
          </a:bodyPr>
          <a:lstStyle/>
          <a:p>
            <a:pPr algn="ctr">
              <a:lnSpc>
                <a:spcPct val="120000"/>
              </a:lnSpc>
            </a:pPr>
            <a:r>
              <a:rPr sz="1500" b="0" i="0">
                <a:solidFill>
                  <a:srgbClr val="48524E"/>
                </a:solidFill>
                <a:latin typeface="Inter"/>
              </a:rPr>
              <a:t>On-Screen-Einblendungen für die Langvideos · Creme-Branding</a:t>
            </a:r>
          </a:p>
        </p:txBody>
      </p:sp>
      <p:sp>
        <p:nvSpPr>
          <p:cNvPr id="7" name="TextBox 6"/>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Rounded Rectangle 1"/>
          <p:cNvSpPr/>
          <p:nvPr/>
        </p:nvSpPr>
        <p:spPr>
          <a:xfrm>
            <a:off x="868680" y="2377440"/>
            <a:ext cx="82296" cy="2103120"/>
          </a:xfrm>
          <a:prstGeom prst="roundRect">
            <a:avLst>
              <a:gd name="adj" fmla="val 50000"/>
            </a:avLst>
          </a:prstGeom>
          <a:gradFill>
            <a:gsLst>
              <a:gs pos="0">
                <a:srgbClr val="E8C15F"/>
              </a:gs>
              <a:gs pos="100000">
                <a:srgbClr val="7E641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80160" y="2560320"/>
            <a:ext cx="7315200" cy="365760"/>
          </a:xfrm>
          <a:prstGeom prst="rect">
            <a:avLst/>
          </a:prstGeom>
          <a:noFill/>
        </p:spPr>
        <p:txBody>
          <a:bodyPr wrap="square" anchor="t" lIns="0" rIns="0" tIns="0" bIns="0">
            <a:noAutofit/>
          </a:bodyPr>
          <a:lstStyle/>
          <a:p>
            <a:pPr algn="l"/>
            <a:r>
              <a:rPr sz="1250" b="1" i="0" spc="260">
                <a:solidFill>
                  <a:srgbClr val="7E6410"/>
                </a:solidFill>
                <a:latin typeface="Inter"/>
              </a:rPr>
              <a:t>DIE REISE</a:t>
            </a:r>
          </a:p>
        </p:txBody>
      </p:sp>
      <p:sp>
        <p:nvSpPr>
          <p:cNvPr id="4" name="TextBox 3"/>
          <p:cNvSpPr txBox="1"/>
          <p:nvPr/>
        </p:nvSpPr>
        <p:spPr>
          <a:xfrm>
            <a:off x="1280160" y="2926080"/>
            <a:ext cx="9494215" cy="1463040"/>
          </a:xfrm>
          <a:prstGeom prst="rect">
            <a:avLst/>
          </a:prstGeom>
          <a:noFill/>
        </p:spPr>
        <p:txBody>
          <a:bodyPr wrap="square" anchor="t" lIns="0" rIns="0" tIns="0" bIns="0">
            <a:noAutofit/>
          </a:bodyPr>
          <a:lstStyle/>
          <a:p>
            <a:pPr>
              <a:lnSpc>
                <a:spcPct val="103000"/>
              </a:lnSpc>
            </a:pPr>
            <a:r>
              <a:rPr sz="4400" b="1" i="0">
                <a:solidFill>
                  <a:srgbClr val="16231F"/>
                </a:solidFill>
                <a:latin typeface="Fraunces"/>
              </a:rPr>
              <a:t>Die 7 Stufen</a:t>
            </a: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Oval 1"/>
          <p:cNvSpPr/>
          <p:nvPr/>
        </p:nvSpPr>
        <p:spPr>
          <a:xfrm>
            <a:off x="868680" y="2331720"/>
            <a:ext cx="1828800" cy="1828800"/>
          </a:xfrm>
          <a:prstGeom prst="ellipse">
            <a:avLst/>
          </a:prstGeom>
          <a:gradFill>
            <a:gsLst>
              <a:gs pos="0">
                <a:srgbClr val="E8C15F"/>
              </a:gs>
              <a:gs pos="100000">
                <a:srgbClr val="7E641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4000" b="1" i="0">
                <a:solidFill>
                  <a:srgbClr val="F6F4EE"/>
                </a:solidFill>
                <a:latin typeface="Fraunces"/>
              </a:rPr>
              <a:t>1</a:t>
            </a:r>
          </a:p>
        </p:txBody>
      </p:sp>
      <p:sp>
        <p:nvSpPr>
          <p:cNvPr id="3" name="TextBox 2"/>
          <p:cNvSpPr txBox="1"/>
          <p:nvPr/>
        </p:nvSpPr>
        <p:spPr>
          <a:xfrm>
            <a:off x="3337560" y="2148840"/>
            <a:ext cx="7315200" cy="365760"/>
          </a:xfrm>
          <a:prstGeom prst="rect">
            <a:avLst/>
          </a:prstGeom>
          <a:noFill/>
        </p:spPr>
        <p:txBody>
          <a:bodyPr wrap="square" anchor="t" lIns="0" rIns="0" tIns="0" bIns="0">
            <a:noAutofit/>
          </a:bodyPr>
          <a:lstStyle/>
          <a:p>
            <a:pPr algn="l"/>
            <a:r>
              <a:rPr sz="1250" b="1" i="0" spc="260">
                <a:solidFill>
                  <a:srgbClr val="7E6410"/>
                </a:solidFill>
                <a:latin typeface="Inter"/>
              </a:rPr>
              <a:t>STUFE 01</a:t>
            </a:r>
          </a:p>
        </p:txBody>
      </p:sp>
      <p:sp>
        <p:nvSpPr>
          <p:cNvPr id="4" name="TextBox 3"/>
          <p:cNvSpPr txBox="1"/>
          <p:nvPr/>
        </p:nvSpPr>
        <p:spPr>
          <a:xfrm>
            <a:off x="3337560" y="2560320"/>
            <a:ext cx="8031175" cy="1371600"/>
          </a:xfrm>
          <a:prstGeom prst="rect">
            <a:avLst/>
          </a:prstGeom>
          <a:noFill/>
        </p:spPr>
        <p:txBody>
          <a:bodyPr wrap="square" anchor="t" lIns="0" rIns="0" tIns="0" bIns="0">
            <a:noAutofit/>
          </a:bodyPr>
          <a:lstStyle/>
          <a:p>
            <a:pPr>
              <a:lnSpc>
                <a:spcPct val="100000"/>
              </a:lnSpc>
            </a:pPr>
            <a:r>
              <a:rPr sz="5400" b="1" i="0">
                <a:solidFill>
                  <a:srgbClr val="16231F"/>
                </a:solidFill>
                <a:latin typeface="Fraunces"/>
              </a:rPr>
              <a:t>Autopilot</a:t>
            </a:r>
          </a:p>
        </p:txBody>
      </p:sp>
      <p:sp>
        <p:nvSpPr>
          <p:cNvPr id="5" name="Rounded Rectangle 4"/>
          <p:cNvSpPr/>
          <p:nvPr/>
        </p:nvSpPr>
        <p:spPr>
          <a:xfrm>
            <a:off x="3355848" y="379476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337560" y="4023360"/>
            <a:ext cx="8031175" cy="1097280"/>
          </a:xfrm>
          <a:prstGeom prst="rect">
            <a:avLst/>
          </a:prstGeom>
          <a:noFill/>
        </p:spPr>
        <p:txBody>
          <a:bodyPr wrap="square" anchor="t" lIns="0" rIns="0" tIns="0" bIns="0">
            <a:noAutofit/>
          </a:bodyPr>
          <a:lstStyle/>
          <a:p>
            <a:pPr>
              <a:lnSpc>
                <a:spcPct val="115000"/>
              </a:lnSpc>
            </a:pPr>
            <a:r>
              <a:rPr sz="2600" b="0" i="1">
                <a:solidFill>
                  <a:srgbClr val="48524E"/>
                </a:solidFill>
                <a:latin typeface="Fraunces"/>
              </a:rPr>
              <a:t>„Du wirst gelebt“</a:t>
            </a:r>
          </a:p>
        </p:txBody>
      </p:sp>
      <p:sp>
        <p:nvSpPr>
          <p:cNvPr id="7" name="TextBox 6"/>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STUFE 01</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Ich bin nicht mein Autopilot. Ich kann bemerken, was in mir abläuft – und das verändert alles.</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STUFE 01 · AUTOPILOT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Oval 1"/>
          <p:cNvSpPr/>
          <p:nvPr/>
        </p:nvSpPr>
        <p:spPr>
          <a:xfrm>
            <a:off x="868680" y="2331720"/>
            <a:ext cx="1828800" cy="1828800"/>
          </a:xfrm>
          <a:prstGeom prst="ellipse">
            <a:avLst/>
          </a:prstGeom>
          <a:gradFill>
            <a:gsLst>
              <a:gs pos="0">
                <a:srgbClr val="E8C15F"/>
              </a:gs>
              <a:gs pos="100000">
                <a:srgbClr val="7E641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4000" b="1" i="0">
                <a:solidFill>
                  <a:srgbClr val="F6F4EE"/>
                </a:solidFill>
                <a:latin typeface="Fraunces"/>
              </a:rPr>
              <a:t>2</a:t>
            </a:r>
          </a:p>
        </p:txBody>
      </p:sp>
      <p:sp>
        <p:nvSpPr>
          <p:cNvPr id="3" name="TextBox 2"/>
          <p:cNvSpPr txBox="1"/>
          <p:nvPr/>
        </p:nvSpPr>
        <p:spPr>
          <a:xfrm>
            <a:off x="3337560" y="2148840"/>
            <a:ext cx="7315200" cy="365760"/>
          </a:xfrm>
          <a:prstGeom prst="rect">
            <a:avLst/>
          </a:prstGeom>
          <a:noFill/>
        </p:spPr>
        <p:txBody>
          <a:bodyPr wrap="square" anchor="t" lIns="0" rIns="0" tIns="0" bIns="0">
            <a:noAutofit/>
          </a:bodyPr>
          <a:lstStyle/>
          <a:p>
            <a:pPr algn="l"/>
            <a:r>
              <a:rPr sz="1250" b="1" i="0" spc="260">
                <a:solidFill>
                  <a:srgbClr val="7E6410"/>
                </a:solidFill>
                <a:latin typeface="Inter"/>
              </a:rPr>
              <a:t>STUFE 02</a:t>
            </a:r>
          </a:p>
        </p:txBody>
      </p:sp>
      <p:sp>
        <p:nvSpPr>
          <p:cNvPr id="4" name="TextBox 3"/>
          <p:cNvSpPr txBox="1"/>
          <p:nvPr/>
        </p:nvSpPr>
        <p:spPr>
          <a:xfrm>
            <a:off x="3337560" y="2560320"/>
            <a:ext cx="8031175" cy="1371600"/>
          </a:xfrm>
          <a:prstGeom prst="rect">
            <a:avLst/>
          </a:prstGeom>
          <a:noFill/>
        </p:spPr>
        <p:txBody>
          <a:bodyPr wrap="square" anchor="t" lIns="0" rIns="0" tIns="0" bIns="0">
            <a:noAutofit/>
          </a:bodyPr>
          <a:lstStyle/>
          <a:p>
            <a:pPr>
              <a:lnSpc>
                <a:spcPct val="100000"/>
              </a:lnSpc>
            </a:pPr>
            <a:r>
              <a:rPr sz="5400" b="1" i="0">
                <a:solidFill>
                  <a:srgbClr val="16231F"/>
                </a:solidFill>
                <a:latin typeface="Fraunces"/>
              </a:rPr>
              <a:t>Erwachen</a:t>
            </a:r>
          </a:p>
        </p:txBody>
      </p:sp>
      <p:sp>
        <p:nvSpPr>
          <p:cNvPr id="5" name="Rounded Rectangle 4"/>
          <p:cNvSpPr/>
          <p:nvPr/>
        </p:nvSpPr>
        <p:spPr>
          <a:xfrm>
            <a:off x="3355848" y="379476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337560" y="4023360"/>
            <a:ext cx="8031175" cy="1097280"/>
          </a:xfrm>
          <a:prstGeom prst="rect">
            <a:avLst/>
          </a:prstGeom>
          <a:noFill/>
        </p:spPr>
        <p:txBody>
          <a:bodyPr wrap="square" anchor="t" lIns="0" rIns="0" tIns="0" bIns="0">
            <a:noAutofit/>
          </a:bodyPr>
          <a:lstStyle/>
          <a:p>
            <a:pPr>
              <a:lnSpc>
                <a:spcPct val="115000"/>
              </a:lnSpc>
            </a:pPr>
            <a:r>
              <a:rPr sz="2600" b="0" i="1">
                <a:solidFill>
                  <a:srgbClr val="48524E"/>
                </a:solidFill>
                <a:latin typeface="Fraunces"/>
              </a:rPr>
              <a:t>„Du bemerkst es“</a:t>
            </a:r>
          </a:p>
        </p:txBody>
      </p:sp>
      <p:sp>
        <p:nvSpPr>
          <p:cNvPr id="7" name="TextBox 6"/>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STUFE 02</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Ich bin nicht meine Gedanken. Ich bin das Bewusstsein, das sie bemerkt.</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STUFE 02 · ERWACHEN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Oval 1"/>
          <p:cNvSpPr/>
          <p:nvPr/>
        </p:nvSpPr>
        <p:spPr>
          <a:xfrm>
            <a:off x="868680" y="2331720"/>
            <a:ext cx="1828800" cy="1828800"/>
          </a:xfrm>
          <a:prstGeom prst="ellipse">
            <a:avLst/>
          </a:prstGeom>
          <a:gradFill>
            <a:gsLst>
              <a:gs pos="0">
                <a:srgbClr val="E8C15F"/>
              </a:gs>
              <a:gs pos="100000">
                <a:srgbClr val="7E641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4000" b="1" i="0">
                <a:solidFill>
                  <a:srgbClr val="F6F4EE"/>
                </a:solidFill>
                <a:latin typeface="Fraunces"/>
              </a:rPr>
              <a:t>3</a:t>
            </a:r>
          </a:p>
        </p:txBody>
      </p:sp>
      <p:sp>
        <p:nvSpPr>
          <p:cNvPr id="3" name="TextBox 2"/>
          <p:cNvSpPr txBox="1"/>
          <p:nvPr/>
        </p:nvSpPr>
        <p:spPr>
          <a:xfrm>
            <a:off x="3337560" y="2148840"/>
            <a:ext cx="7315200" cy="365760"/>
          </a:xfrm>
          <a:prstGeom prst="rect">
            <a:avLst/>
          </a:prstGeom>
          <a:noFill/>
        </p:spPr>
        <p:txBody>
          <a:bodyPr wrap="square" anchor="t" lIns="0" rIns="0" tIns="0" bIns="0">
            <a:noAutofit/>
          </a:bodyPr>
          <a:lstStyle/>
          <a:p>
            <a:pPr algn="l"/>
            <a:r>
              <a:rPr sz="1250" b="1" i="0" spc="260">
                <a:solidFill>
                  <a:srgbClr val="7E6410"/>
                </a:solidFill>
                <a:latin typeface="Inter"/>
              </a:rPr>
              <a:t>STUFE 03</a:t>
            </a:r>
          </a:p>
        </p:txBody>
      </p:sp>
      <p:sp>
        <p:nvSpPr>
          <p:cNvPr id="4" name="TextBox 3"/>
          <p:cNvSpPr txBox="1"/>
          <p:nvPr/>
        </p:nvSpPr>
        <p:spPr>
          <a:xfrm>
            <a:off x="3337560" y="2560320"/>
            <a:ext cx="8031175" cy="1371600"/>
          </a:xfrm>
          <a:prstGeom prst="rect">
            <a:avLst/>
          </a:prstGeom>
          <a:noFill/>
        </p:spPr>
        <p:txBody>
          <a:bodyPr wrap="square" anchor="t" lIns="0" rIns="0" tIns="0" bIns="0">
            <a:noAutofit/>
          </a:bodyPr>
          <a:lstStyle/>
          <a:p>
            <a:pPr>
              <a:lnSpc>
                <a:spcPct val="100000"/>
              </a:lnSpc>
            </a:pPr>
            <a:r>
              <a:rPr sz="5400" b="1" i="0">
                <a:solidFill>
                  <a:srgbClr val="16231F"/>
                </a:solidFill>
                <a:latin typeface="Fraunces"/>
              </a:rPr>
              <a:t>Selbstbeobachtung</a:t>
            </a:r>
          </a:p>
        </p:txBody>
      </p:sp>
      <p:sp>
        <p:nvSpPr>
          <p:cNvPr id="5" name="Rounded Rectangle 4"/>
          <p:cNvSpPr/>
          <p:nvPr/>
        </p:nvSpPr>
        <p:spPr>
          <a:xfrm>
            <a:off x="3355848" y="379476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337560" y="4023360"/>
            <a:ext cx="8031175" cy="1097280"/>
          </a:xfrm>
          <a:prstGeom prst="rect">
            <a:avLst/>
          </a:prstGeom>
          <a:noFill/>
        </p:spPr>
        <p:txBody>
          <a:bodyPr wrap="square" anchor="t" lIns="0" rIns="0" tIns="0" bIns="0">
            <a:noAutofit/>
          </a:bodyPr>
          <a:lstStyle/>
          <a:p>
            <a:pPr>
              <a:lnSpc>
                <a:spcPct val="115000"/>
              </a:lnSpc>
            </a:pPr>
            <a:r>
              <a:rPr sz="2600" b="0" i="1">
                <a:solidFill>
                  <a:srgbClr val="48524E"/>
                </a:solidFill>
                <a:latin typeface="Fraunces"/>
              </a:rPr>
              <a:t>„Du siehst dir zu“</a:t>
            </a:r>
          </a:p>
        </p:txBody>
      </p:sp>
      <p:sp>
        <p:nvSpPr>
          <p:cNvPr id="7" name="TextBox 6"/>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STUFE 03</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Ich sehe meinen Gedanken und Mustern ruhig zu. Ich muss ihnen nicht folgen.</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STUFE 03 · SELBSTBEOBACHTUNG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Oval 1"/>
          <p:cNvSpPr/>
          <p:nvPr/>
        </p:nvSpPr>
        <p:spPr>
          <a:xfrm>
            <a:off x="868680" y="2331720"/>
            <a:ext cx="1828800" cy="1828800"/>
          </a:xfrm>
          <a:prstGeom prst="ellipse">
            <a:avLst/>
          </a:prstGeom>
          <a:gradFill>
            <a:gsLst>
              <a:gs pos="0">
                <a:srgbClr val="E8C15F"/>
              </a:gs>
              <a:gs pos="100000">
                <a:srgbClr val="7E641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4000" b="1" i="0">
                <a:solidFill>
                  <a:srgbClr val="F6F4EE"/>
                </a:solidFill>
                <a:latin typeface="Fraunces"/>
              </a:rPr>
              <a:t>4</a:t>
            </a:r>
          </a:p>
        </p:txBody>
      </p:sp>
      <p:sp>
        <p:nvSpPr>
          <p:cNvPr id="3" name="TextBox 2"/>
          <p:cNvSpPr txBox="1"/>
          <p:nvPr/>
        </p:nvSpPr>
        <p:spPr>
          <a:xfrm>
            <a:off x="3337560" y="2148840"/>
            <a:ext cx="7315200" cy="365760"/>
          </a:xfrm>
          <a:prstGeom prst="rect">
            <a:avLst/>
          </a:prstGeom>
          <a:noFill/>
        </p:spPr>
        <p:txBody>
          <a:bodyPr wrap="square" anchor="t" lIns="0" rIns="0" tIns="0" bIns="0">
            <a:noAutofit/>
          </a:bodyPr>
          <a:lstStyle/>
          <a:p>
            <a:pPr algn="l"/>
            <a:r>
              <a:rPr sz="1250" b="1" i="0" spc="260">
                <a:solidFill>
                  <a:srgbClr val="7E6410"/>
                </a:solidFill>
                <a:latin typeface="Inter"/>
              </a:rPr>
              <a:t>STUFE 04</a:t>
            </a:r>
          </a:p>
        </p:txBody>
      </p:sp>
      <p:sp>
        <p:nvSpPr>
          <p:cNvPr id="4" name="TextBox 3"/>
          <p:cNvSpPr txBox="1"/>
          <p:nvPr/>
        </p:nvSpPr>
        <p:spPr>
          <a:xfrm>
            <a:off x="3337560" y="2560320"/>
            <a:ext cx="8031175" cy="1371600"/>
          </a:xfrm>
          <a:prstGeom prst="rect">
            <a:avLst/>
          </a:prstGeom>
          <a:noFill/>
        </p:spPr>
        <p:txBody>
          <a:bodyPr wrap="square" anchor="t" lIns="0" rIns="0" tIns="0" bIns="0">
            <a:noAutofit/>
          </a:bodyPr>
          <a:lstStyle/>
          <a:p>
            <a:pPr>
              <a:lnSpc>
                <a:spcPct val="100000"/>
              </a:lnSpc>
            </a:pPr>
            <a:r>
              <a:rPr sz="5400" b="1" i="0">
                <a:solidFill>
                  <a:srgbClr val="16231F"/>
                </a:solidFill>
                <a:latin typeface="Fraunces"/>
              </a:rPr>
              <a:t>Emotionale Reifung</a:t>
            </a:r>
          </a:p>
        </p:txBody>
      </p:sp>
      <p:sp>
        <p:nvSpPr>
          <p:cNvPr id="5" name="Rounded Rectangle 4"/>
          <p:cNvSpPr/>
          <p:nvPr/>
        </p:nvSpPr>
        <p:spPr>
          <a:xfrm>
            <a:off x="3355848" y="379476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337560" y="4023360"/>
            <a:ext cx="8031175" cy="1097280"/>
          </a:xfrm>
          <a:prstGeom prst="rect">
            <a:avLst/>
          </a:prstGeom>
          <a:noFill/>
        </p:spPr>
        <p:txBody>
          <a:bodyPr wrap="square" anchor="t" lIns="0" rIns="0" tIns="0" bIns="0">
            <a:noAutofit/>
          </a:bodyPr>
          <a:lstStyle/>
          <a:p>
            <a:pPr>
              <a:lnSpc>
                <a:spcPct val="115000"/>
              </a:lnSpc>
            </a:pPr>
            <a:r>
              <a:rPr sz="2600" b="0" i="1">
                <a:solidFill>
                  <a:srgbClr val="48524E"/>
                </a:solidFill>
                <a:latin typeface="Fraunces"/>
              </a:rPr>
              <a:t>„Du lässt los“</a:t>
            </a:r>
          </a:p>
        </p:txBody>
      </p:sp>
      <p:sp>
        <p:nvSpPr>
          <p:cNvPr id="7" name="TextBox 6"/>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STUFE 04</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Ich darf fühlen, was ist – und ich darf loslassen, was war. Ich werde leicht.</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STUFE 04 · EMOTIONALE REIFUNG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Oval 1"/>
          <p:cNvSpPr/>
          <p:nvPr/>
        </p:nvSpPr>
        <p:spPr>
          <a:xfrm>
            <a:off x="868680" y="2331720"/>
            <a:ext cx="1828800" cy="1828800"/>
          </a:xfrm>
          <a:prstGeom prst="ellipse">
            <a:avLst/>
          </a:prstGeom>
          <a:gradFill>
            <a:gsLst>
              <a:gs pos="0">
                <a:srgbClr val="E8C15F"/>
              </a:gs>
              <a:gs pos="100000">
                <a:srgbClr val="7E641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4000" b="1" i="0">
                <a:solidFill>
                  <a:srgbClr val="F6F4EE"/>
                </a:solidFill>
                <a:latin typeface="Fraunces"/>
              </a:rPr>
              <a:t>5</a:t>
            </a:r>
          </a:p>
        </p:txBody>
      </p:sp>
      <p:sp>
        <p:nvSpPr>
          <p:cNvPr id="3" name="TextBox 2"/>
          <p:cNvSpPr txBox="1"/>
          <p:nvPr/>
        </p:nvSpPr>
        <p:spPr>
          <a:xfrm>
            <a:off x="3337560" y="2148840"/>
            <a:ext cx="7315200" cy="365760"/>
          </a:xfrm>
          <a:prstGeom prst="rect">
            <a:avLst/>
          </a:prstGeom>
          <a:noFill/>
        </p:spPr>
        <p:txBody>
          <a:bodyPr wrap="square" anchor="t" lIns="0" rIns="0" tIns="0" bIns="0">
            <a:noAutofit/>
          </a:bodyPr>
          <a:lstStyle/>
          <a:p>
            <a:pPr algn="l"/>
            <a:r>
              <a:rPr sz="1250" b="1" i="0" spc="260">
                <a:solidFill>
                  <a:srgbClr val="7E6410"/>
                </a:solidFill>
                <a:latin typeface="Inter"/>
              </a:rPr>
              <a:t>STUFE 05</a:t>
            </a:r>
          </a:p>
        </p:txBody>
      </p:sp>
      <p:sp>
        <p:nvSpPr>
          <p:cNvPr id="4" name="TextBox 3"/>
          <p:cNvSpPr txBox="1"/>
          <p:nvPr/>
        </p:nvSpPr>
        <p:spPr>
          <a:xfrm>
            <a:off x="3337560" y="2560320"/>
            <a:ext cx="8031175" cy="1371600"/>
          </a:xfrm>
          <a:prstGeom prst="rect">
            <a:avLst/>
          </a:prstGeom>
          <a:noFill/>
        </p:spPr>
        <p:txBody>
          <a:bodyPr wrap="square" anchor="t" lIns="0" rIns="0" tIns="0" bIns="0">
            <a:noAutofit/>
          </a:bodyPr>
          <a:lstStyle/>
          <a:p>
            <a:pPr>
              <a:lnSpc>
                <a:spcPct val="100000"/>
              </a:lnSpc>
            </a:pPr>
            <a:r>
              <a:rPr sz="5400" b="1" i="0">
                <a:solidFill>
                  <a:srgbClr val="16231F"/>
                </a:solidFill>
                <a:latin typeface="Fraunces"/>
              </a:rPr>
              <a:t>Schöpferkraft</a:t>
            </a:r>
          </a:p>
        </p:txBody>
      </p:sp>
      <p:sp>
        <p:nvSpPr>
          <p:cNvPr id="5" name="Rounded Rectangle 4"/>
          <p:cNvSpPr/>
          <p:nvPr/>
        </p:nvSpPr>
        <p:spPr>
          <a:xfrm>
            <a:off x="3355848" y="379476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337560" y="4023360"/>
            <a:ext cx="8031175" cy="1097280"/>
          </a:xfrm>
          <a:prstGeom prst="rect">
            <a:avLst/>
          </a:prstGeom>
          <a:noFill/>
        </p:spPr>
        <p:txBody>
          <a:bodyPr wrap="square" anchor="t" lIns="0" rIns="0" tIns="0" bIns="0">
            <a:noAutofit/>
          </a:bodyPr>
          <a:lstStyle/>
          <a:p>
            <a:pPr>
              <a:lnSpc>
                <a:spcPct val="115000"/>
              </a:lnSpc>
            </a:pPr>
            <a:r>
              <a:rPr sz="2600" b="0" i="1">
                <a:solidFill>
                  <a:srgbClr val="48524E"/>
                </a:solidFill>
                <a:latin typeface="Fraunces"/>
              </a:rPr>
              <a:t>„Du erschaffst bewusst“</a:t>
            </a:r>
          </a:p>
        </p:txBody>
      </p:sp>
      <p:sp>
        <p:nvSpPr>
          <p:cNvPr id="7" name="TextBox 6"/>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STUFE 05</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Ich wähle meine Gedanken bewusst. Was ich nähre, wächst.</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STUFE 05 · SCHÖPFERKRAFT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Oval 1"/>
          <p:cNvSpPr/>
          <p:nvPr/>
        </p:nvSpPr>
        <p:spPr>
          <a:xfrm>
            <a:off x="868680" y="2331720"/>
            <a:ext cx="1828800" cy="1828800"/>
          </a:xfrm>
          <a:prstGeom prst="ellipse">
            <a:avLst/>
          </a:prstGeom>
          <a:gradFill>
            <a:gsLst>
              <a:gs pos="0">
                <a:srgbClr val="E8C15F"/>
              </a:gs>
              <a:gs pos="100000">
                <a:srgbClr val="7E641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4000" b="1" i="0">
                <a:solidFill>
                  <a:srgbClr val="F6F4EE"/>
                </a:solidFill>
                <a:latin typeface="Fraunces"/>
              </a:rPr>
              <a:t>6</a:t>
            </a:r>
          </a:p>
        </p:txBody>
      </p:sp>
      <p:sp>
        <p:nvSpPr>
          <p:cNvPr id="3" name="TextBox 2"/>
          <p:cNvSpPr txBox="1"/>
          <p:nvPr/>
        </p:nvSpPr>
        <p:spPr>
          <a:xfrm>
            <a:off x="3337560" y="2148840"/>
            <a:ext cx="7315200" cy="365760"/>
          </a:xfrm>
          <a:prstGeom prst="rect">
            <a:avLst/>
          </a:prstGeom>
          <a:noFill/>
        </p:spPr>
        <p:txBody>
          <a:bodyPr wrap="square" anchor="t" lIns="0" rIns="0" tIns="0" bIns="0">
            <a:noAutofit/>
          </a:bodyPr>
          <a:lstStyle/>
          <a:p>
            <a:pPr algn="l"/>
            <a:r>
              <a:rPr sz="1250" b="1" i="0" spc="260">
                <a:solidFill>
                  <a:srgbClr val="7E6410"/>
                </a:solidFill>
                <a:latin typeface="Inter"/>
              </a:rPr>
              <a:t>STUFE 06</a:t>
            </a:r>
          </a:p>
        </p:txBody>
      </p:sp>
      <p:sp>
        <p:nvSpPr>
          <p:cNvPr id="4" name="TextBox 3"/>
          <p:cNvSpPr txBox="1"/>
          <p:nvPr/>
        </p:nvSpPr>
        <p:spPr>
          <a:xfrm>
            <a:off x="3337560" y="2560320"/>
            <a:ext cx="8031175" cy="1371600"/>
          </a:xfrm>
          <a:prstGeom prst="rect">
            <a:avLst/>
          </a:prstGeom>
          <a:noFill/>
        </p:spPr>
        <p:txBody>
          <a:bodyPr wrap="square" anchor="t" lIns="0" rIns="0" tIns="0" bIns="0">
            <a:noAutofit/>
          </a:bodyPr>
          <a:lstStyle/>
          <a:p>
            <a:pPr>
              <a:lnSpc>
                <a:spcPct val="100000"/>
              </a:lnSpc>
            </a:pPr>
            <a:r>
              <a:rPr sz="5400" b="1" i="0">
                <a:solidFill>
                  <a:srgbClr val="16231F"/>
                </a:solidFill>
                <a:latin typeface="Fraunces"/>
              </a:rPr>
              <a:t>Innere Ausrichtung</a:t>
            </a:r>
          </a:p>
        </p:txBody>
      </p:sp>
      <p:sp>
        <p:nvSpPr>
          <p:cNvPr id="5" name="Rounded Rectangle 4"/>
          <p:cNvSpPr/>
          <p:nvPr/>
        </p:nvSpPr>
        <p:spPr>
          <a:xfrm>
            <a:off x="3355848" y="379476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337560" y="4023360"/>
            <a:ext cx="8031175" cy="1097280"/>
          </a:xfrm>
          <a:prstGeom prst="rect">
            <a:avLst/>
          </a:prstGeom>
          <a:noFill/>
        </p:spPr>
        <p:txBody>
          <a:bodyPr wrap="square" anchor="t" lIns="0" rIns="0" tIns="0" bIns="0">
            <a:noAutofit/>
          </a:bodyPr>
          <a:lstStyle/>
          <a:p>
            <a:pPr>
              <a:lnSpc>
                <a:spcPct val="115000"/>
              </a:lnSpc>
            </a:pPr>
            <a:r>
              <a:rPr sz="2600" b="0" i="1">
                <a:solidFill>
                  <a:srgbClr val="48524E"/>
                </a:solidFill>
                <a:latin typeface="Fraunces"/>
              </a:rPr>
              <a:t>„Kopf, Herz und Handeln“</a:t>
            </a:r>
          </a:p>
        </p:txBody>
      </p:sp>
      <p:sp>
        <p:nvSpPr>
          <p:cNvPr id="7" name="TextBox 6"/>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STUFE 06</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Kopf, Herz und Handeln ziehen an einem Strang. Ich bin stimmig.</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STUFE 06 · INNERE AUSRICHTUNG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Oval 1"/>
          <p:cNvSpPr/>
          <p:nvPr/>
        </p:nvSpPr>
        <p:spPr>
          <a:xfrm>
            <a:off x="868680" y="2331720"/>
            <a:ext cx="1828800" cy="1828800"/>
          </a:xfrm>
          <a:prstGeom prst="ellipse">
            <a:avLst/>
          </a:prstGeom>
          <a:gradFill>
            <a:gsLst>
              <a:gs pos="0">
                <a:srgbClr val="E8C15F"/>
              </a:gs>
              <a:gs pos="100000">
                <a:srgbClr val="7E641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noAutofit/>
          </a:bodyPr>
          <a:lstStyle/>
          <a:p>
            <a:pPr algn="ctr"/>
            <a:r>
              <a:rPr sz="4000" b="1" i="0">
                <a:solidFill>
                  <a:srgbClr val="F6F4EE"/>
                </a:solidFill>
                <a:latin typeface="Fraunces"/>
              </a:rPr>
              <a:t>7</a:t>
            </a:r>
          </a:p>
        </p:txBody>
      </p:sp>
      <p:sp>
        <p:nvSpPr>
          <p:cNvPr id="3" name="TextBox 2"/>
          <p:cNvSpPr txBox="1"/>
          <p:nvPr/>
        </p:nvSpPr>
        <p:spPr>
          <a:xfrm>
            <a:off x="3337560" y="2148840"/>
            <a:ext cx="7315200" cy="365760"/>
          </a:xfrm>
          <a:prstGeom prst="rect">
            <a:avLst/>
          </a:prstGeom>
          <a:noFill/>
        </p:spPr>
        <p:txBody>
          <a:bodyPr wrap="square" anchor="t" lIns="0" rIns="0" tIns="0" bIns="0">
            <a:noAutofit/>
          </a:bodyPr>
          <a:lstStyle/>
          <a:p>
            <a:pPr algn="l"/>
            <a:r>
              <a:rPr sz="1250" b="1" i="0" spc="260">
                <a:solidFill>
                  <a:srgbClr val="7E6410"/>
                </a:solidFill>
                <a:latin typeface="Inter"/>
              </a:rPr>
              <a:t>STUFE 07</a:t>
            </a:r>
          </a:p>
        </p:txBody>
      </p:sp>
      <p:sp>
        <p:nvSpPr>
          <p:cNvPr id="4" name="TextBox 3"/>
          <p:cNvSpPr txBox="1"/>
          <p:nvPr/>
        </p:nvSpPr>
        <p:spPr>
          <a:xfrm>
            <a:off x="3337560" y="2560320"/>
            <a:ext cx="8031175" cy="1371600"/>
          </a:xfrm>
          <a:prstGeom prst="rect">
            <a:avLst/>
          </a:prstGeom>
          <a:noFill/>
        </p:spPr>
        <p:txBody>
          <a:bodyPr wrap="square" anchor="t" lIns="0" rIns="0" tIns="0" bIns="0">
            <a:noAutofit/>
          </a:bodyPr>
          <a:lstStyle/>
          <a:p>
            <a:pPr>
              <a:lnSpc>
                <a:spcPct val="100000"/>
              </a:lnSpc>
            </a:pPr>
            <a:r>
              <a:rPr sz="5400" b="1" i="0">
                <a:solidFill>
                  <a:srgbClr val="16231F"/>
                </a:solidFill>
                <a:latin typeface="Fraunces"/>
              </a:rPr>
              <a:t>Meisterschaft</a:t>
            </a:r>
          </a:p>
        </p:txBody>
      </p:sp>
      <p:sp>
        <p:nvSpPr>
          <p:cNvPr id="5" name="Rounded Rectangle 4"/>
          <p:cNvSpPr/>
          <p:nvPr/>
        </p:nvSpPr>
        <p:spPr>
          <a:xfrm>
            <a:off x="3355848" y="379476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337560" y="4023360"/>
            <a:ext cx="8031175" cy="1097280"/>
          </a:xfrm>
          <a:prstGeom prst="rect">
            <a:avLst/>
          </a:prstGeom>
          <a:noFill/>
        </p:spPr>
        <p:txBody>
          <a:bodyPr wrap="square" anchor="t" lIns="0" rIns="0" tIns="0" bIns="0">
            <a:noAutofit/>
          </a:bodyPr>
          <a:lstStyle/>
          <a:p>
            <a:pPr>
              <a:lnSpc>
                <a:spcPct val="115000"/>
              </a:lnSpc>
            </a:pPr>
            <a:r>
              <a:rPr sz="2600" b="0" i="1">
                <a:solidFill>
                  <a:srgbClr val="48524E"/>
                </a:solidFill>
                <a:latin typeface="Fraunces"/>
              </a:rPr>
              <a:t>„Du gestaltest“</a:t>
            </a:r>
          </a:p>
        </p:txBody>
      </p:sp>
      <p:sp>
        <p:nvSpPr>
          <p:cNvPr id="7" name="TextBox 6"/>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STUFE 07</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Ich reagiere nicht mehr – ich gestalte. Bewusstsein ist mein Zuhause.</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STUFE 07 · MEISTERSCHAFT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Rounded Rectangle 1"/>
          <p:cNvSpPr/>
          <p:nvPr/>
        </p:nvSpPr>
        <p:spPr>
          <a:xfrm>
            <a:off x="868680" y="2377440"/>
            <a:ext cx="82296" cy="2103120"/>
          </a:xfrm>
          <a:prstGeom prst="roundRect">
            <a:avLst>
              <a:gd name="adj" fmla="val 50000"/>
            </a:avLst>
          </a:prstGeom>
          <a:gradFill>
            <a:gsLst>
              <a:gs pos="0">
                <a:srgbClr val="E8C15F"/>
              </a:gs>
              <a:gs pos="100000">
                <a:srgbClr val="7E641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80160" y="2560320"/>
            <a:ext cx="7315200" cy="365760"/>
          </a:xfrm>
          <a:prstGeom prst="rect">
            <a:avLst/>
          </a:prstGeom>
          <a:noFill/>
        </p:spPr>
        <p:txBody>
          <a:bodyPr wrap="square" anchor="t" lIns="0" rIns="0" tIns="0" bIns="0">
            <a:noAutofit/>
          </a:bodyPr>
          <a:lstStyle/>
          <a:p>
            <a:pPr algn="l"/>
            <a:r>
              <a:rPr sz="1250" b="1" i="0" spc="260">
                <a:solidFill>
                  <a:srgbClr val="7E6410"/>
                </a:solidFill>
                <a:latin typeface="Inter"/>
              </a:rPr>
              <a:t>WERKZEUGKASTEN</a:t>
            </a:r>
          </a:p>
        </p:txBody>
      </p:sp>
      <p:sp>
        <p:nvSpPr>
          <p:cNvPr id="4" name="TextBox 3"/>
          <p:cNvSpPr txBox="1"/>
          <p:nvPr/>
        </p:nvSpPr>
        <p:spPr>
          <a:xfrm>
            <a:off x="1280160" y="2926080"/>
            <a:ext cx="9494215" cy="1463040"/>
          </a:xfrm>
          <a:prstGeom prst="rect">
            <a:avLst/>
          </a:prstGeom>
          <a:noFill/>
        </p:spPr>
        <p:txBody>
          <a:bodyPr wrap="square" anchor="t" lIns="0" rIns="0" tIns="0" bIns="0">
            <a:noAutofit/>
          </a:bodyPr>
          <a:lstStyle/>
          <a:p>
            <a:pPr>
              <a:lnSpc>
                <a:spcPct val="103000"/>
              </a:lnSpc>
            </a:pPr>
            <a:r>
              <a:rPr sz="4400" b="1" i="0">
                <a:solidFill>
                  <a:srgbClr val="16231F"/>
                </a:solidFill>
                <a:latin typeface="Fraunces"/>
              </a:rPr>
              <a:t>Praxis</a:t>
            </a: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148840"/>
            <a:ext cx="9144000" cy="365760"/>
          </a:xfrm>
          <a:prstGeom prst="rect">
            <a:avLst/>
          </a:prstGeom>
          <a:noFill/>
        </p:spPr>
        <p:txBody>
          <a:bodyPr wrap="square" anchor="t" lIns="0" rIns="0" tIns="0" bIns="0">
            <a:noAutofit/>
          </a:bodyPr>
          <a:lstStyle/>
          <a:p>
            <a:pPr algn="l"/>
            <a:r>
              <a:rPr sz="1250" b="1" i="0" spc="260">
                <a:solidFill>
                  <a:srgbClr val="7E6410"/>
                </a:solidFill>
                <a:latin typeface="Inter"/>
              </a:rPr>
              <a:t>PRAXIS · ATEMÜBUNG</a:t>
            </a:r>
          </a:p>
        </p:txBody>
      </p:sp>
      <p:sp>
        <p:nvSpPr>
          <p:cNvPr id="3" name="TextBox 2"/>
          <p:cNvSpPr txBox="1"/>
          <p:nvPr/>
        </p:nvSpPr>
        <p:spPr>
          <a:xfrm>
            <a:off x="868680" y="2606040"/>
            <a:ext cx="10454335" cy="1554480"/>
          </a:xfrm>
          <a:prstGeom prst="rect">
            <a:avLst/>
          </a:prstGeom>
          <a:noFill/>
        </p:spPr>
        <p:txBody>
          <a:bodyPr wrap="square" anchor="t" lIns="0" rIns="0" tIns="0" bIns="0">
            <a:noAutofit/>
          </a:bodyPr>
          <a:lstStyle/>
          <a:p>
            <a:pPr>
              <a:lnSpc>
                <a:spcPct val="102000"/>
              </a:lnSpc>
            </a:pPr>
            <a:r>
              <a:rPr sz="4800" b="1" i="0">
                <a:solidFill>
                  <a:srgbClr val="16231F"/>
                </a:solidFill>
                <a:latin typeface="Fraunces"/>
              </a:rPr>
              <a:t>4-6-Atmung</a:t>
            </a:r>
          </a:p>
        </p:txBody>
      </p:sp>
      <p:sp>
        <p:nvSpPr>
          <p:cNvPr id="4" name="Rounded Rectangle 3"/>
          <p:cNvSpPr/>
          <p:nvPr/>
        </p:nvSpPr>
        <p:spPr>
          <a:xfrm>
            <a:off x="886968" y="416052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434840"/>
            <a:ext cx="10454335" cy="457200"/>
          </a:xfrm>
          <a:prstGeom prst="rect">
            <a:avLst/>
          </a:prstGeom>
          <a:noFill/>
        </p:spPr>
        <p:txBody>
          <a:bodyPr wrap="square" anchor="t" lIns="0" rIns="0" tIns="0" bIns="0">
            <a:noAutofit/>
          </a:bodyPr>
          <a:lstStyle/>
          <a:p>
            <a:r>
              <a:rPr sz="1500" b="0" i="0">
                <a:solidFill>
                  <a:srgbClr val="48524E"/>
                </a:solidFill>
                <a:latin typeface="Inter"/>
              </a:rPr>
              <a:t>~3 Min  ·  Stufe 4</a:t>
            </a:r>
          </a:p>
        </p:txBody>
      </p:sp>
      <p:sp>
        <p:nvSpPr>
          <p:cNvPr id="6" name="TextBox 5"/>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148840"/>
            <a:ext cx="9144000" cy="365760"/>
          </a:xfrm>
          <a:prstGeom prst="rect">
            <a:avLst/>
          </a:prstGeom>
          <a:noFill/>
        </p:spPr>
        <p:txBody>
          <a:bodyPr wrap="square" anchor="t" lIns="0" rIns="0" tIns="0" bIns="0">
            <a:noAutofit/>
          </a:bodyPr>
          <a:lstStyle/>
          <a:p>
            <a:pPr algn="l"/>
            <a:r>
              <a:rPr sz="1250" b="1" i="0" spc="260">
                <a:solidFill>
                  <a:srgbClr val="7E6410"/>
                </a:solidFill>
                <a:latin typeface="Inter"/>
              </a:rPr>
              <a:t>PRAXIS · MEDITATION</a:t>
            </a:r>
          </a:p>
        </p:txBody>
      </p:sp>
      <p:sp>
        <p:nvSpPr>
          <p:cNvPr id="3" name="TextBox 2"/>
          <p:cNvSpPr txBox="1"/>
          <p:nvPr/>
        </p:nvSpPr>
        <p:spPr>
          <a:xfrm>
            <a:off x="868680" y="2606040"/>
            <a:ext cx="10454335" cy="1554480"/>
          </a:xfrm>
          <a:prstGeom prst="rect">
            <a:avLst/>
          </a:prstGeom>
          <a:noFill/>
        </p:spPr>
        <p:txBody>
          <a:bodyPr wrap="square" anchor="t" lIns="0" rIns="0" tIns="0" bIns="0">
            <a:noAutofit/>
          </a:bodyPr>
          <a:lstStyle/>
          <a:p>
            <a:pPr>
              <a:lnSpc>
                <a:spcPct val="102000"/>
              </a:lnSpc>
            </a:pPr>
            <a:r>
              <a:rPr sz="4800" b="1" i="0">
                <a:solidFill>
                  <a:srgbClr val="16231F"/>
                </a:solidFill>
                <a:latin typeface="Fraunces"/>
              </a:rPr>
              <a:t>Atembeobachtung</a:t>
            </a:r>
          </a:p>
        </p:txBody>
      </p:sp>
      <p:sp>
        <p:nvSpPr>
          <p:cNvPr id="4" name="Rounded Rectangle 3"/>
          <p:cNvSpPr/>
          <p:nvPr/>
        </p:nvSpPr>
        <p:spPr>
          <a:xfrm>
            <a:off x="886968" y="416052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434840"/>
            <a:ext cx="10454335" cy="457200"/>
          </a:xfrm>
          <a:prstGeom prst="rect">
            <a:avLst/>
          </a:prstGeom>
          <a:noFill/>
        </p:spPr>
        <p:txBody>
          <a:bodyPr wrap="square" anchor="t" lIns="0" rIns="0" tIns="0" bIns="0">
            <a:noAutofit/>
          </a:bodyPr>
          <a:lstStyle/>
          <a:p>
            <a:r>
              <a:rPr sz="1500" b="0" i="0">
                <a:solidFill>
                  <a:srgbClr val="48524E"/>
                </a:solidFill>
                <a:latin typeface="Inter"/>
              </a:rPr>
              <a:t>~8 Min  ·  Stufe 1</a:t>
            </a:r>
          </a:p>
        </p:txBody>
      </p:sp>
      <p:sp>
        <p:nvSpPr>
          <p:cNvPr id="6" name="TextBox 5"/>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148840"/>
            <a:ext cx="9144000" cy="365760"/>
          </a:xfrm>
          <a:prstGeom prst="rect">
            <a:avLst/>
          </a:prstGeom>
          <a:noFill/>
        </p:spPr>
        <p:txBody>
          <a:bodyPr wrap="square" anchor="t" lIns="0" rIns="0" tIns="0" bIns="0">
            <a:noAutofit/>
          </a:bodyPr>
          <a:lstStyle/>
          <a:p>
            <a:pPr algn="l"/>
            <a:r>
              <a:rPr sz="1250" b="1" i="0" spc="260">
                <a:solidFill>
                  <a:srgbClr val="7E6410"/>
                </a:solidFill>
                <a:latin typeface="Inter"/>
              </a:rPr>
              <a:t>PRAXIS · ATEMÜBUNG</a:t>
            </a:r>
          </a:p>
        </p:txBody>
      </p:sp>
      <p:sp>
        <p:nvSpPr>
          <p:cNvPr id="3" name="TextBox 2"/>
          <p:cNvSpPr txBox="1"/>
          <p:nvPr/>
        </p:nvSpPr>
        <p:spPr>
          <a:xfrm>
            <a:off x="868680" y="2606040"/>
            <a:ext cx="10454335" cy="1554480"/>
          </a:xfrm>
          <a:prstGeom prst="rect">
            <a:avLst/>
          </a:prstGeom>
          <a:noFill/>
        </p:spPr>
        <p:txBody>
          <a:bodyPr wrap="square" anchor="t" lIns="0" rIns="0" tIns="0" bIns="0">
            <a:noAutofit/>
          </a:bodyPr>
          <a:lstStyle/>
          <a:p>
            <a:pPr>
              <a:lnSpc>
                <a:spcPct val="102000"/>
              </a:lnSpc>
            </a:pPr>
            <a:r>
              <a:rPr sz="4800" b="1" i="0">
                <a:solidFill>
                  <a:srgbClr val="16231F"/>
                </a:solidFill>
                <a:latin typeface="Fraunces"/>
              </a:rPr>
              <a:t>Box Breathing</a:t>
            </a:r>
          </a:p>
        </p:txBody>
      </p:sp>
      <p:sp>
        <p:nvSpPr>
          <p:cNvPr id="4" name="Rounded Rectangle 3"/>
          <p:cNvSpPr/>
          <p:nvPr/>
        </p:nvSpPr>
        <p:spPr>
          <a:xfrm>
            <a:off x="886968" y="416052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434840"/>
            <a:ext cx="10454335" cy="457200"/>
          </a:xfrm>
          <a:prstGeom prst="rect">
            <a:avLst/>
          </a:prstGeom>
          <a:noFill/>
        </p:spPr>
        <p:txBody>
          <a:bodyPr wrap="square" anchor="t" lIns="0" rIns="0" tIns="0" bIns="0">
            <a:noAutofit/>
          </a:bodyPr>
          <a:lstStyle/>
          <a:p>
            <a:r>
              <a:rPr sz="1500" b="0" i="0">
                <a:solidFill>
                  <a:srgbClr val="48524E"/>
                </a:solidFill>
                <a:latin typeface="Inter"/>
              </a:rPr>
              <a:t>3–5 Min  ·  Stufe 6</a:t>
            </a:r>
          </a:p>
        </p:txBody>
      </p:sp>
      <p:sp>
        <p:nvSpPr>
          <p:cNvPr id="6" name="TextBox 5"/>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148840"/>
            <a:ext cx="9144000" cy="365760"/>
          </a:xfrm>
          <a:prstGeom prst="rect">
            <a:avLst/>
          </a:prstGeom>
          <a:noFill/>
        </p:spPr>
        <p:txBody>
          <a:bodyPr wrap="square" anchor="t" lIns="0" rIns="0" tIns="0" bIns="0">
            <a:noAutofit/>
          </a:bodyPr>
          <a:lstStyle/>
          <a:p>
            <a:pPr algn="l"/>
            <a:r>
              <a:rPr sz="1250" b="1" i="0" spc="260">
                <a:solidFill>
                  <a:srgbClr val="7E6410"/>
                </a:solidFill>
                <a:latin typeface="Inter"/>
              </a:rPr>
              <a:t>PRAXIS · ATEMÜBUNG</a:t>
            </a:r>
          </a:p>
        </p:txBody>
      </p:sp>
      <p:sp>
        <p:nvSpPr>
          <p:cNvPr id="3" name="TextBox 2"/>
          <p:cNvSpPr txBox="1"/>
          <p:nvPr/>
        </p:nvSpPr>
        <p:spPr>
          <a:xfrm>
            <a:off x="868680" y="2606040"/>
            <a:ext cx="10454335" cy="1554480"/>
          </a:xfrm>
          <a:prstGeom prst="rect">
            <a:avLst/>
          </a:prstGeom>
          <a:noFill/>
        </p:spPr>
        <p:txBody>
          <a:bodyPr wrap="square" anchor="t" lIns="0" rIns="0" tIns="0" bIns="0">
            <a:noAutofit/>
          </a:bodyPr>
          <a:lstStyle/>
          <a:p>
            <a:pPr>
              <a:lnSpc>
                <a:spcPct val="102000"/>
              </a:lnSpc>
            </a:pPr>
            <a:r>
              <a:rPr sz="4800" b="1" i="0">
                <a:solidFill>
                  <a:srgbClr val="16231F"/>
                </a:solidFill>
                <a:latin typeface="Fraunces"/>
              </a:rPr>
              <a:t>Verlängertes Ausatmen</a:t>
            </a:r>
          </a:p>
        </p:txBody>
      </p:sp>
      <p:sp>
        <p:nvSpPr>
          <p:cNvPr id="4" name="Rounded Rectangle 3"/>
          <p:cNvSpPr/>
          <p:nvPr/>
        </p:nvSpPr>
        <p:spPr>
          <a:xfrm>
            <a:off x="886968" y="416052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434840"/>
            <a:ext cx="10454335" cy="457200"/>
          </a:xfrm>
          <a:prstGeom prst="rect">
            <a:avLst/>
          </a:prstGeom>
          <a:noFill/>
        </p:spPr>
        <p:txBody>
          <a:bodyPr wrap="square" anchor="t" lIns="0" rIns="0" tIns="0" bIns="0">
            <a:noAutofit/>
          </a:bodyPr>
          <a:lstStyle/>
          <a:p>
            <a:r>
              <a:rPr sz="1500" b="0" i="0">
                <a:solidFill>
                  <a:srgbClr val="48524E"/>
                </a:solidFill>
                <a:latin typeface="Inter"/>
              </a:rPr>
              <a:t>3–5 Min  ·  Stufe 4</a:t>
            </a:r>
          </a:p>
        </p:txBody>
      </p:sp>
      <p:sp>
        <p:nvSpPr>
          <p:cNvPr id="6" name="TextBox 5"/>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148840"/>
            <a:ext cx="9144000" cy="365760"/>
          </a:xfrm>
          <a:prstGeom prst="rect">
            <a:avLst/>
          </a:prstGeom>
          <a:noFill/>
        </p:spPr>
        <p:txBody>
          <a:bodyPr wrap="square" anchor="t" lIns="0" rIns="0" tIns="0" bIns="0">
            <a:noAutofit/>
          </a:bodyPr>
          <a:lstStyle/>
          <a:p>
            <a:pPr algn="l"/>
            <a:r>
              <a:rPr sz="1250" b="1" i="0" spc="260">
                <a:solidFill>
                  <a:srgbClr val="7E6410"/>
                </a:solidFill>
                <a:latin typeface="Inter"/>
              </a:rPr>
              <a:t>PRAXIS · MEDITATION</a:t>
            </a:r>
          </a:p>
        </p:txBody>
      </p:sp>
      <p:sp>
        <p:nvSpPr>
          <p:cNvPr id="3" name="TextBox 2"/>
          <p:cNvSpPr txBox="1"/>
          <p:nvPr/>
        </p:nvSpPr>
        <p:spPr>
          <a:xfrm>
            <a:off x="868680" y="2606040"/>
            <a:ext cx="10454335" cy="1554480"/>
          </a:xfrm>
          <a:prstGeom prst="rect">
            <a:avLst/>
          </a:prstGeom>
          <a:noFill/>
        </p:spPr>
        <p:txBody>
          <a:bodyPr wrap="square" anchor="t" lIns="0" rIns="0" tIns="0" bIns="0">
            <a:noAutofit/>
          </a:bodyPr>
          <a:lstStyle/>
          <a:p>
            <a:pPr>
              <a:lnSpc>
                <a:spcPct val="102000"/>
              </a:lnSpc>
            </a:pPr>
            <a:r>
              <a:rPr sz="4800" b="1" i="0">
                <a:solidFill>
                  <a:srgbClr val="16231F"/>
                </a:solidFill>
                <a:latin typeface="Fraunces"/>
              </a:rPr>
              <a:t>Body-Scan</a:t>
            </a:r>
          </a:p>
        </p:txBody>
      </p:sp>
      <p:sp>
        <p:nvSpPr>
          <p:cNvPr id="4" name="Rounded Rectangle 3"/>
          <p:cNvSpPr/>
          <p:nvPr/>
        </p:nvSpPr>
        <p:spPr>
          <a:xfrm>
            <a:off x="886968" y="416052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434840"/>
            <a:ext cx="10454335" cy="457200"/>
          </a:xfrm>
          <a:prstGeom prst="rect">
            <a:avLst/>
          </a:prstGeom>
          <a:noFill/>
        </p:spPr>
        <p:txBody>
          <a:bodyPr wrap="square" anchor="t" lIns="0" rIns="0" tIns="0" bIns="0">
            <a:noAutofit/>
          </a:bodyPr>
          <a:lstStyle/>
          <a:p>
            <a:r>
              <a:rPr sz="1500" b="0" i="0">
                <a:solidFill>
                  <a:srgbClr val="48524E"/>
                </a:solidFill>
                <a:latin typeface="Inter"/>
              </a:rPr>
              <a:t>~15 Min  ·  Stufe 4</a:t>
            </a:r>
          </a:p>
        </p:txBody>
      </p:sp>
      <p:sp>
        <p:nvSpPr>
          <p:cNvPr id="6" name="TextBox 5"/>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148840"/>
            <a:ext cx="9144000" cy="365760"/>
          </a:xfrm>
          <a:prstGeom prst="rect">
            <a:avLst/>
          </a:prstGeom>
          <a:noFill/>
        </p:spPr>
        <p:txBody>
          <a:bodyPr wrap="square" anchor="t" lIns="0" rIns="0" tIns="0" bIns="0">
            <a:noAutofit/>
          </a:bodyPr>
          <a:lstStyle/>
          <a:p>
            <a:pPr algn="l"/>
            <a:r>
              <a:rPr sz="1250" b="1" i="0" spc="260">
                <a:solidFill>
                  <a:srgbClr val="7E6410"/>
                </a:solidFill>
                <a:latin typeface="Inter"/>
              </a:rPr>
              <a:t>PRAXIS · MEDITATION</a:t>
            </a:r>
          </a:p>
        </p:txBody>
      </p:sp>
      <p:sp>
        <p:nvSpPr>
          <p:cNvPr id="3" name="TextBox 2"/>
          <p:cNvSpPr txBox="1"/>
          <p:nvPr/>
        </p:nvSpPr>
        <p:spPr>
          <a:xfrm>
            <a:off x="868680" y="2606040"/>
            <a:ext cx="10454335" cy="1554480"/>
          </a:xfrm>
          <a:prstGeom prst="rect">
            <a:avLst/>
          </a:prstGeom>
          <a:noFill/>
        </p:spPr>
        <p:txBody>
          <a:bodyPr wrap="square" anchor="t" lIns="0" rIns="0" tIns="0" bIns="0">
            <a:noAutofit/>
          </a:bodyPr>
          <a:lstStyle/>
          <a:p>
            <a:pPr>
              <a:lnSpc>
                <a:spcPct val="102000"/>
              </a:lnSpc>
            </a:pPr>
            <a:r>
              <a:rPr sz="4800" b="1" i="0">
                <a:solidFill>
                  <a:srgbClr val="16231F"/>
                </a:solidFill>
                <a:latin typeface="Fraunces"/>
              </a:rPr>
              <a:t>Herz-Kohärenz</a:t>
            </a:r>
          </a:p>
        </p:txBody>
      </p:sp>
      <p:sp>
        <p:nvSpPr>
          <p:cNvPr id="4" name="Rounded Rectangle 3"/>
          <p:cNvSpPr/>
          <p:nvPr/>
        </p:nvSpPr>
        <p:spPr>
          <a:xfrm>
            <a:off x="886968" y="416052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434840"/>
            <a:ext cx="10454335" cy="457200"/>
          </a:xfrm>
          <a:prstGeom prst="rect">
            <a:avLst/>
          </a:prstGeom>
          <a:noFill/>
        </p:spPr>
        <p:txBody>
          <a:bodyPr wrap="square" anchor="t" lIns="0" rIns="0" tIns="0" bIns="0">
            <a:noAutofit/>
          </a:bodyPr>
          <a:lstStyle/>
          <a:p>
            <a:r>
              <a:rPr sz="1500" b="0" i="0">
                <a:solidFill>
                  <a:srgbClr val="48524E"/>
                </a:solidFill>
                <a:latin typeface="Inter"/>
              </a:rPr>
              <a:t>~8 Min  ·  Stufe 6</a:t>
            </a:r>
          </a:p>
        </p:txBody>
      </p:sp>
      <p:sp>
        <p:nvSpPr>
          <p:cNvPr id="6" name="TextBox 5"/>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148840"/>
            <a:ext cx="9144000" cy="365760"/>
          </a:xfrm>
          <a:prstGeom prst="rect">
            <a:avLst/>
          </a:prstGeom>
          <a:noFill/>
        </p:spPr>
        <p:txBody>
          <a:bodyPr wrap="square" anchor="t" lIns="0" rIns="0" tIns="0" bIns="0">
            <a:noAutofit/>
          </a:bodyPr>
          <a:lstStyle/>
          <a:p>
            <a:pPr algn="l"/>
            <a:r>
              <a:rPr sz="1250" b="1" i="0" spc="260">
                <a:solidFill>
                  <a:srgbClr val="7E6410"/>
                </a:solidFill>
                <a:latin typeface="Inter"/>
              </a:rPr>
              <a:t>PRAXIS · MEDITATION</a:t>
            </a:r>
          </a:p>
        </p:txBody>
      </p:sp>
      <p:sp>
        <p:nvSpPr>
          <p:cNvPr id="3" name="TextBox 2"/>
          <p:cNvSpPr txBox="1"/>
          <p:nvPr/>
        </p:nvSpPr>
        <p:spPr>
          <a:xfrm>
            <a:off x="868680" y="2606040"/>
            <a:ext cx="10454335" cy="1554480"/>
          </a:xfrm>
          <a:prstGeom prst="rect">
            <a:avLst/>
          </a:prstGeom>
          <a:noFill/>
        </p:spPr>
        <p:txBody>
          <a:bodyPr wrap="square" anchor="t" lIns="0" rIns="0" tIns="0" bIns="0">
            <a:noAutofit/>
          </a:bodyPr>
          <a:lstStyle/>
          <a:p>
            <a:pPr>
              <a:lnSpc>
                <a:spcPct val="102000"/>
              </a:lnSpc>
            </a:pPr>
            <a:r>
              <a:rPr sz="4800" b="1" i="0">
                <a:solidFill>
                  <a:srgbClr val="16231F"/>
                </a:solidFill>
                <a:latin typeface="Fraunces"/>
              </a:rPr>
              <a:t>Der innere Beobachter</a:t>
            </a:r>
          </a:p>
        </p:txBody>
      </p:sp>
      <p:sp>
        <p:nvSpPr>
          <p:cNvPr id="4" name="Rounded Rectangle 3"/>
          <p:cNvSpPr/>
          <p:nvPr/>
        </p:nvSpPr>
        <p:spPr>
          <a:xfrm>
            <a:off x="886968" y="416052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434840"/>
            <a:ext cx="10454335" cy="457200"/>
          </a:xfrm>
          <a:prstGeom prst="rect">
            <a:avLst/>
          </a:prstGeom>
          <a:noFill/>
        </p:spPr>
        <p:txBody>
          <a:bodyPr wrap="square" anchor="t" lIns="0" rIns="0" tIns="0" bIns="0">
            <a:noAutofit/>
          </a:bodyPr>
          <a:lstStyle/>
          <a:p>
            <a:r>
              <a:rPr sz="1500" b="0" i="0">
                <a:solidFill>
                  <a:srgbClr val="48524E"/>
                </a:solidFill>
                <a:latin typeface="Inter"/>
              </a:rPr>
              <a:t>~10 Min  ·  Stufe 3</a:t>
            </a:r>
          </a:p>
        </p:txBody>
      </p:sp>
      <p:sp>
        <p:nvSpPr>
          <p:cNvPr id="6" name="TextBox 5"/>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148840"/>
            <a:ext cx="9144000" cy="365760"/>
          </a:xfrm>
          <a:prstGeom prst="rect">
            <a:avLst/>
          </a:prstGeom>
          <a:noFill/>
        </p:spPr>
        <p:txBody>
          <a:bodyPr wrap="square" anchor="t" lIns="0" rIns="0" tIns="0" bIns="0">
            <a:noAutofit/>
          </a:bodyPr>
          <a:lstStyle/>
          <a:p>
            <a:pPr algn="l"/>
            <a:r>
              <a:rPr sz="1250" b="1" i="0" spc="260">
                <a:solidFill>
                  <a:srgbClr val="7E6410"/>
                </a:solidFill>
                <a:latin typeface="Inter"/>
              </a:rPr>
              <a:t>PRAXIS · RITUAL</a:t>
            </a:r>
          </a:p>
        </p:txBody>
      </p:sp>
      <p:sp>
        <p:nvSpPr>
          <p:cNvPr id="3" name="TextBox 2"/>
          <p:cNvSpPr txBox="1"/>
          <p:nvPr/>
        </p:nvSpPr>
        <p:spPr>
          <a:xfrm>
            <a:off x="868680" y="2606040"/>
            <a:ext cx="10454335" cy="1554480"/>
          </a:xfrm>
          <a:prstGeom prst="rect">
            <a:avLst/>
          </a:prstGeom>
          <a:noFill/>
        </p:spPr>
        <p:txBody>
          <a:bodyPr wrap="square" anchor="t" lIns="0" rIns="0" tIns="0" bIns="0">
            <a:noAutofit/>
          </a:bodyPr>
          <a:lstStyle/>
          <a:p>
            <a:pPr>
              <a:lnSpc>
                <a:spcPct val="102000"/>
              </a:lnSpc>
            </a:pPr>
            <a:r>
              <a:rPr sz="4800" b="1" i="0">
                <a:solidFill>
                  <a:srgbClr val="16231F"/>
                </a:solidFill>
                <a:latin typeface="Fraunces"/>
              </a:rPr>
              <a:t>Abend-Reflexion</a:t>
            </a:r>
          </a:p>
        </p:txBody>
      </p:sp>
      <p:sp>
        <p:nvSpPr>
          <p:cNvPr id="4" name="Rounded Rectangle 3"/>
          <p:cNvSpPr/>
          <p:nvPr/>
        </p:nvSpPr>
        <p:spPr>
          <a:xfrm>
            <a:off x="886968" y="416052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434840"/>
            <a:ext cx="10454335" cy="457200"/>
          </a:xfrm>
          <a:prstGeom prst="rect">
            <a:avLst/>
          </a:prstGeom>
          <a:noFill/>
        </p:spPr>
        <p:txBody>
          <a:bodyPr wrap="square" anchor="t" lIns="0" rIns="0" tIns="0" bIns="0">
            <a:noAutofit/>
          </a:bodyPr>
          <a:lstStyle/>
          <a:p>
            <a:r>
              <a:rPr sz="1500" b="0" i="0">
                <a:solidFill>
                  <a:srgbClr val="48524E"/>
                </a:solidFill>
                <a:latin typeface="Inter"/>
              </a:rPr>
              <a:t>5–10 Min  ·  Stufe 3</a:t>
            </a:r>
          </a:p>
        </p:txBody>
      </p:sp>
      <p:sp>
        <p:nvSpPr>
          <p:cNvPr id="6" name="TextBox 5"/>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148840"/>
            <a:ext cx="9144000" cy="365760"/>
          </a:xfrm>
          <a:prstGeom prst="rect">
            <a:avLst/>
          </a:prstGeom>
          <a:noFill/>
        </p:spPr>
        <p:txBody>
          <a:bodyPr wrap="square" anchor="t" lIns="0" rIns="0" tIns="0" bIns="0">
            <a:noAutofit/>
          </a:bodyPr>
          <a:lstStyle/>
          <a:p>
            <a:pPr algn="l"/>
            <a:r>
              <a:rPr sz="1250" b="1" i="0" spc="260">
                <a:solidFill>
                  <a:srgbClr val="7E6410"/>
                </a:solidFill>
                <a:latin typeface="Inter"/>
              </a:rPr>
              <a:t>PRAXIS · RITUAL</a:t>
            </a:r>
          </a:p>
        </p:txBody>
      </p:sp>
      <p:sp>
        <p:nvSpPr>
          <p:cNvPr id="3" name="TextBox 2"/>
          <p:cNvSpPr txBox="1"/>
          <p:nvPr/>
        </p:nvSpPr>
        <p:spPr>
          <a:xfrm>
            <a:off x="868680" y="2606040"/>
            <a:ext cx="10454335" cy="1554480"/>
          </a:xfrm>
          <a:prstGeom prst="rect">
            <a:avLst/>
          </a:prstGeom>
          <a:noFill/>
        </p:spPr>
        <p:txBody>
          <a:bodyPr wrap="square" anchor="t" lIns="0" rIns="0" tIns="0" bIns="0">
            <a:noAutofit/>
          </a:bodyPr>
          <a:lstStyle/>
          <a:p>
            <a:pPr>
              <a:lnSpc>
                <a:spcPct val="102000"/>
              </a:lnSpc>
            </a:pPr>
            <a:r>
              <a:rPr sz="4800" b="1" i="0">
                <a:solidFill>
                  <a:srgbClr val="16231F"/>
                </a:solidFill>
                <a:latin typeface="Fraunces"/>
              </a:rPr>
              <a:t>Der Autopilot-Check</a:t>
            </a:r>
          </a:p>
        </p:txBody>
      </p:sp>
      <p:sp>
        <p:nvSpPr>
          <p:cNvPr id="4" name="Rounded Rectangle 3"/>
          <p:cNvSpPr/>
          <p:nvPr/>
        </p:nvSpPr>
        <p:spPr>
          <a:xfrm>
            <a:off x="886968" y="416052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434840"/>
            <a:ext cx="10454335" cy="457200"/>
          </a:xfrm>
          <a:prstGeom prst="rect">
            <a:avLst/>
          </a:prstGeom>
          <a:noFill/>
        </p:spPr>
        <p:txBody>
          <a:bodyPr wrap="square" anchor="t" lIns="0" rIns="0" tIns="0" bIns="0">
            <a:noAutofit/>
          </a:bodyPr>
          <a:lstStyle/>
          <a:p>
            <a:r>
              <a:rPr sz="1500" b="0" i="0">
                <a:solidFill>
                  <a:srgbClr val="48524E"/>
                </a:solidFill>
                <a:latin typeface="Inter"/>
              </a:rPr>
              <a:t>~2 Min  ·  Stufe 1</a:t>
            </a:r>
          </a:p>
        </p:txBody>
      </p:sp>
      <p:sp>
        <p:nvSpPr>
          <p:cNvPr id="6" name="TextBox 5"/>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148840"/>
            <a:ext cx="9144000" cy="365760"/>
          </a:xfrm>
          <a:prstGeom prst="rect">
            <a:avLst/>
          </a:prstGeom>
          <a:noFill/>
        </p:spPr>
        <p:txBody>
          <a:bodyPr wrap="square" anchor="t" lIns="0" rIns="0" tIns="0" bIns="0">
            <a:noAutofit/>
          </a:bodyPr>
          <a:lstStyle/>
          <a:p>
            <a:pPr algn="l"/>
            <a:r>
              <a:rPr sz="1250" b="1" i="0" spc="260">
                <a:solidFill>
                  <a:srgbClr val="7E6410"/>
                </a:solidFill>
                <a:latin typeface="Inter"/>
              </a:rPr>
              <a:t>PRAXIS · RITUAL</a:t>
            </a:r>
          </a:p>
        </p:txBody>
      </p:sp>
      <p:sp>
        <p:nvSpPr>
          <p:cNvPr id="3" name="TextBox 2"/>
          <p:cNvSpPr txBox="1"/>
          <p:nvPr/>
        </p:nvSpPr>
        <p:spPr>
          <a:xfrm>
            <a:off x="868680" y="2606040"/>
            <a:ext cx="10454335" cy="1554480"/>
          </a:xfrm>
          <a:prstGeom prst="rect">
            <a:avLst/>
          </a:prstGeom>
          <a:noFill/>
        </p:spPr>
        <p:txBody>
          <a:bodyPr wrap="square" anchor="t" lIns="0" rIns="0" tIns="0" bIns="0">
            <a:noAutofit/>
          </a:bodyPr>
          <a:lstStyle/>
          <a:p>
            <a:pPr>
              <a:lnSpc>
                <a:spcPct val="102000"/>
              </a:lnSpc>
            </a:pPr>
            <a:r>
              <a:rPr sz="4800" b="1" i="0">
                <a:solidFill>
                  <a:srgbClr val="16231F"/>
                </a:solidFill>
                <a:latin typeface="Fraunces"/>
              </a:rPr>
              <a:t>Loslass-Ritual</a:t>
            </a:r>
          </a:p>
        </p:txBody>
      </p:sp>
      <p:sp>
        <p:nvSpPr>
          <p:cNvPr id="4" name="Rounded Rectangle 3"/>
          <p:cNvSpPr/>
          <p:nvPr/>
        </p:nvSpPr>
        <p:spPr>
          <a:xfrm>
            <a:off x="886968" y="416052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434840"/>
            <a:ext cx="10454335" cy="457200"/>
          </a:xfrm>
          <a:prstGeom prst="rect">
            <a:avLst/>
          </a:prstGeom>
          <a:noFill/>
        </p:spPr>
        <p:txBody>
          <a:bodyPr wrap="square" anchor="t" lIns="0" rIns="0" tIns="0" bIns="0">
            <a:noAutofit/>
          </a:bodyPr>
          <a:lstStyle/>
          <a:p>
            <a:r>
              <a:rPr sz="1500" b="0" i="0">
                <a:solidFill>
                  <a:srgbClr val="48524E"/>
                </a:solidFill>
                <a:latin typeface="Inter"/>
              </a:rPr>
              <a:t>~15 Min  ·  Stufe 4</a:t>
            </a:r>
          </a:p>
        </p:txBody>
      </p:sp>
      <p:sp>
        <p:nvSpPr>
          <p:cNvPr id="6" name="TextBox 5"/>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148840"/>
            <a:ext cx="9144000" cy="365760"/>
          </a:xfrm>
          <a:prstGeom prst="rect">
            <a:avLst/>
          </a:prstGeom>
          <a:noFill/>
        </p:spPr>
        <p:txBody>
          <a:bodyPr wrap="square" anchor="t" lIns="0" rIns="0" tIns="0" bIns="0">
            <a:noAutofit/>
          </a:bodyPr>
          <a:lstStyle/>
          <a:p>
            <a:pPr algn="l"/>
            <a:r>
              <a:rPr sz="1250" b="1" i="0" spc="260">
                <a:solidFill>
                  <a:srgbClr val="7E6410"/>
                </a:solidFill>
                <a:latin typeface="Inter"/>
              </a:rPr>
              <a:t>PRAXIS · RITUAL</a:t>
            </a:r>
          </a:p>
        </p:txBody>
      </p:sp>
      <p:sp>
        <p:nvSpPr>
          <p:cNvPr id="3" name="TextBox 2"/>
          <p:cNvSpPr txBox="1"/>
          <p:nvPr/>
        </p:nvSpPr>
        <p:spPr>
          <a:xfrm>
            <a:off x="868680" y="2606040"/>
            <a:ext cx="10454335" cy="1554480"/>
          </a:xfrm>
          <a:prstGeom prst="rect">
            <a:avLst/>
          </a:prstGeom>
          <a:noFill/>
        </p:spPr>
        <p:txBody>
          <a:bodyPr wrap="square" anchor="t" lIns="0" rIns="0" tIns="0" bIns="0">
            <a:noAutofit/>
          </a:bodyPr>
          <a:lstStyle/>
          <a:p>
            <a:pPr>
              <a:lnSpc>
                <a:spcPct val="102000"/>
              </a:lnSpc>
            </a:pPr>
            <a:r>
              <a:rPr sz="4800" b="1" i="0">
                <a:solidFill>
                  <a:srgbClr val="16231F"/>
                </a:solidFill>
                <a:latin typeface="Fraunces"/>
              </a:rPr>
              <a:t>Morgen-Ausrichtung</a:t>
            </a:r>
          </a:p>
        </p:txBody>
      </p:sp>
      <p:sp>
        <p:nvSpPr>
          <p:cNvPr id="4" name="Rounded Rectangle 3"/>
          <p:cNvSpPr/>
          <p:nvPr/>
        </p:nvSpPr>
        <p:spPr>
          <a:xfrm>
            <a:off x="886968" y="416052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434840"/>
            <a:ext cx="10454335" cy="457200"/>
          </a:xfrm>
          <a:prstGeom prst="rect">
            <a:avLst/>
          </a:prstGeom>
          <a:noFill/>
        </p:spPr>
        <p:txBody>
          <a:bodyPr wrap="square" anchor="t" lIns="0" rIns="0" tIns="0" bIns="0">
            <a:noAutofit/>
          </a:bodyPr>
          <a:lstStyle/>
          <a:p>
            <a:r>
              <a:rPr sz="1500" b="0" i="0">
                <a:solidFill>
                  <a:srgbClr val="48524E"/>
                </a:solidFill>
                <a:latin typeface="Inter"/>
              </a:rPr>
              <a:t>~5 Min  ·  Stufe 5</a:t>
            </a:r>
          </a:p>
        </p:txBody>
      </p:sp>
      <p:sp>
        <p:nvSpPr>
          <p:cNvPr id="6" name="TextBox 5"/>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148840"/>
            <a:ext cx="9144000" cy="365760"/>
          </a:xfrm>
          <a:prstGeom prst="rect">
            <a:avLst/>
          </a:prstGeom>
          <a:noFill/>
        </p:spPr>
        <p:txBody>
          <a:bodyPr wrap="square" anchor="t" lIns="0" rIns="0" tIns="0" bIns="0">
            <a:noAutofit/>
          </a:bodyPr>
          <a:lstStyle/>
          <a:p>
            <a:pPr algn="l"/>
            <a:r>
              <a:rPr sz="1250" b="1" i="0" spc="260">
                <a:solidFill>
                  <a:srgbClr val="7E6410"/>
                </a:solidFill>
                <a:latin typeface="Inter"/>
              </a:rPr>
              <a:t>PRAXIS · RITUAL</a:t>
            </a:r>
          </a:p>
        </p:txBody>
      </p:sp>
      <p:sp>
        <p:nvSpPr>
          <p:cNvPr id="3" name="TextBox 2"/>
          <p:cNvSpPr txBox="1"/>
          <p:nvPr/>
        </p:nvSpPr>
        <p:spPr>
          <a:xfrm>
            <a:off x="868680" y="2606040"/>
            <a:ext cx="10454335" cy="1554480"/>
          </a:xfrm>
          <a:prstGeom prst="rect">
            <a:avLst/>
          </a:prstGeom>
          <a:noFill/>
        </p:spPr>
        <p:txBody>
          <a:bodyPr wrap="square" anchor="t" lIns="0" rIns="0" tIns="0" bIns="0">
            <a:noAutofit/>
          </a:bodyPr>
          <a:lstStyle/>
          <a:p>
            <a:pPr>
              <a:lnSpc>
                <a:spcPct val="102000"/>
              </a:lnSpc>
            </a:pPr>
            <a:r>
              <a:rPr sz="4800" b="1" i="0">
                <a:solidFill>
                  <a:srgbClr val="16231F"/>
                </a:solidFill>
                <a:latin typeface="Fraunces"/>
              </a:rPr>
              <a:t>Präsenz-Spaziergang</a:t>
            </a:r>
          </a:p>
        </p:txBody>
      </p:sp>
      <p:sp>
        <p:nvSpPr>
          <p:cNvPr id="4" name="Rounded Rectangle 3"/>
          <p:cNvSpPr/>
          <p:nvPr/>
        </p:nvSpPr>
        <p:spPr>
          <a:xfrm>
            <a:off x="886968" y="416052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434840"/>
            <a:ext cx="10454335" cy="457200"/>
          </a:xfrm>
          <a:prstGeom prst="rect">
            <a:avLst/>
          </a:prstGeom>
          <a:noFill/>
        </p:spPr>
        <p:txBody>
          <a:bodyPr wrap="square" anchor="t" lIns="0" rIns="0" tIns="0" bIns="0">
            <a:noAutofit/>
          </a:bodyPr>
          <a:lstStyle/>
          <a:p>
            <a:r>
              <a:rPr sz="1500" b="0" i="0">
                <a:solidFill>
                  <a:srgbClr val="48524E"/>
                </a:solidFill>
                <a:latin typeface="Inter"/>
              </a:rPr>
              <a:t>10–20 Min  ·  Stufe 2</a:t>
            </a:r>
          </a:p>
        </p:txBody>
      </p:sp>
      <p:sp>
        <p:nvSpPr>
          <p:cNvPr id="6" name="TextBox 5"/>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148840"/>
            <a:ext cx="9144000" cy="365760"/>
          </a:xfrm>
          <a:prstGeom prst="rect">
            <a:avLst/>
          </a:prstGeom>
          <a:noFill/>
        </p:spPr>
        <p:txBody>
          <a:bodyPr wrap="square" anchor="t" lIns="0" rIns="0" tIns="0" bIns="0">
            <a:noAutofit/>
          </a:bodyPr>
          <a:lstStyle/>
          <a:p>
            <a:pPr algn="l"/>
            <a:r>
              <a:rPr sz="1250" b="1" i="0" spc="260">
                <a:solidFill>
                  <a:srgbClr val="7E6410"/>
                </a:solidFill>
                <a:latin typeface="Inter"/>
              </a:rPr>
              <a:t>PRAXIS · RITUAL</a:t>
            </a:r>
          </a:p>
        </p:txBody>
      </p:sp>
      <p:sp>
        <p:nvSpPr>
          <p:cNvPr id="3" name="TextBox 2"/>
          <p:cNvSpPr txBox="1"/>
          <p:nvPr/>
        </p:nvSpPr>
        <p:spPr>
          <a:xfrm>
            <a:off x="868680" y="2606040"/>
            <a:ext cx="10454335" cy="1554480"/>
          </a:xfrm>
          <a:prstGeom prst="rect">
            <a:avLst/>
          </a:prstGeom>
          <a:noFill/>
        </p:spPr>
        <p:txBody>
          <a:bodyPr wrap="square" anchor="t" lIns="0" rIns="0" tIns="0" bIns="0">
            <a:noAutofit/>
          </a:bodyPr>
          <a:lstStyle/>
          <a:p>
            <a:pPr>
              <a:lnSpc>
                <a:spcPct val="102000"/>
              </a:lnSpc>
            </a:pPr>
            <a:r>
              <a:rPr sz="4800" b="1" i="0">
                <a:solidFill>
                  <a:srgbClr val="16231F"/>
                </a:solidFill>
                <a:latin typeface="Fraunces"/>
              </a:rPr>
              <a:t>Die tägliche Rückkehr</a:t>
            </a:r>
          </a:p>
        </p:txBody>
      </p:sp>
      <p:sp>
        <p:nvSpPr>
          <p:cNvPr id="4" name="Rounded Rectangle 3"/>
          <p:cNvSpPr/>
          <p:nvPr/>
        </p:nvSpPr>
        <p:spPr>
          <a:xfrm>
            <a:off x="886968" y="416052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434840"/>
            <a:ext cx="10454335" cy="457200"/>
          </a:xfrm>
          <a:prstGeom prst="rect">
            <a:avLst/>
          </a:prstGeom>
          <a:noFill/>
        </p:spPr>
        <p:txBody>
          <a:bodyPr wrap="square" anchor="t" lIns="0" rIns="0" tIns="0" bIns="0">
            <a:noAutofit/>
          </a:bodyPr>
          <a:lstStyle/>
          <a:p>
            <a:r>
              <a:rPr sz="1500" b="0" i="0">
                <a:solidFill>
                  <a:srgbClr val="48524E"/>
                </a:solidFill>
                <a:latin typeface="Inter"/>
              </a:rPr>
              <a:t>~5 Min  ·  Stufe 7</a:t>
            </a:r>
          </a:p>
        </p:txBody>
      </p:sp>
      <p:sp>
        <p:nvSpPr>
          <p:cNvPr id="6" name="TextBox 5"/>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Rounded Rectangle 1"/>
          <p:cNvSpPr/>
          <p:nvPr/>
        </p:nvSpPr>
        <p:spPr>
          <a:xfrm>
            <a:off x="868680" y="2377440"/>
            <a:ext cx="82296" cy="2103120"/>
          </a:xfrm>
          <a:prstGeom prst="roundRect">
            <a:avLst>
              <a:gd name="adj" fmla="val 50000"/>
            </a:avLst>
          </a:prstGeom>
          <a:gradFill>
            <a:gsLst>
              <a:gs pos="0">
                <a:srgbClr val="E8C15F"/>
              </a:gs>
              <a:gs pos="100000">
                <a:srgbClr val="7E641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80160" y="2560320"/>
            <a:ext cx="7315200" cy="365760"/>
          </a:xfrm>
          <a:prstGeom prst="rect">
            <a:avLst/>
          </a:prstGeom>
          <a:noFill/>
        </p:spPr>
        <p:txBody>
          <a:bodyPr wrap="square" anchor="t" lIns="0" rIns="0" tIns="0" bIns="0">
            <a:noAutofit/>
          </a:bodyPr>
          <a:lstStyle/>
          <a:p>
            <a:pPr algn="l"/>
            <a:r>
              <a:rPr sz="1250" b="1" i="0" spc="260">
                <a:solidFill>
                  <a:srgbClr val="7E6410"/>
                </a:solidFill>
                <a:latin typeface="Inter"/>
              </a:rPr>
              <a:t>HINTERGRUND</a:t>
            </a:r>
          </a:p>
        </p:txBody>
      </p:sp>
      <p:sp>
        <p:nvSpPr>
          <p:cNvPr id="4" name="TextBox 3"/>
          <p:cNvSpPr txBox="1"/>
          <p:nvPr/>
        </p:nvSpPr>
        <p:spPr>
          <a:xfrm>
            <a:off x="1280160" y="2926080"/>
            <a:ext cx="9494215" cy="1463040"/>
          </a:xfrm>
          <a:prstGeom prst="rect">
            <a:avLst/>
          </a:prstGeom>
          <a:noFill/>
        </p:spPr>
        <p:txBody>
          <a:bodyPr wrap="square" anchor="t" lIns="0" rIns="0" tIns="0" bIns="0">
            <a:noAutofit/>
          </a:bodyPr>
          <a:lstStyle/>
          <a:p>
            <a:pPr>
              <a:lnSpc>
                <a:spcPct val="103000"/>
              </a:lnSpc>
            </a:pPr>
            <a:r>
              <a:rPr sz="4400" b="1" i="0">
                <a:solidFill>
                  <a:srgbClr val="16231F"/>
                </a:solidFill>
                <a:latin typeface="Fraunces"/>
              </a:rPr>
              <a:t>Vertiefungen</a:t>
            </a: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VERTIEFUNG · STUFE 1</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600" b="1" i="0">
                <a:solidFill>
                  <a:srgbClr val="16231F"/>
                </a:solidFill>
                <a:latin typeface="Fraunces"/>
              </a:rPr>
              <a:t>Automatische Gedanken</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VERTIEFUNG · STUFE 1</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Zwischen Situation und Gefühl steht immer ein Gedanke. Wer ihn erwischt, gewinnt die Wahl zurück.</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AUTOMATISCHE GEDANKEN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VERTIEFUNG · STUFE 4</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600" b="1" i="0">
                <a:solidFill>
                  <a:srgbClr val="16231F"/>
                </a:solidFill>
                <a:latin typeface="Fraunces"/>
              </a:rPr>
              <a:t>Emotionsregulation</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VERTIEFUNG · STUFE 4</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Gefühle sind Wellen mit Anfang und Ende. Benennen, halten, atmen – dann tragen sie dich, statt dich fortzureißen.</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EMOTIONSREGULATION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VERTIEFUNG · STUFE 3</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600" b="1" i="0">
                <a:solidFill>
                  <a:srgbClr val="16231F"/>
                </a:solidFill>
                <a:latin typeface="Fraunces"/>
              </a:rPr>
              <a:t>Grübeln &amp; Gedankenkreisen</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VERTIEFUNG · STUFE 3</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Grübeln ist Wiederholung, kein Fortschritt. Du gewinnst es nicht – du unterbrichst es.</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GRÜBELN &amp; GEDANKENKREISEN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VERTIEFUNG · STUFE 4</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600" b="1" i="0">
                <a:solidFill>
                  <a:srgbClr val="16231F"/>
                </a:solidFill>
                <a:latin typeface="Fraunces"/>
              </a:rPr>
              <a:t>Der innere Kritiker</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VERTIEFUNG · STUFE 4</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Der innere Kritiker ist ein alter Beschützer. Du besiegst ihn nicht – du nimmst ihm die Autorität.</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DER INNERE KRITIKER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VERTIEFUNG · STUFE 7</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600" b="1" i="0">
                <a:solidFill>
                  <a:srgbClr val="16231F"/>
                </a:solidFill>
                <a:latin typeface="Fraunces"/>
              </a:rPr>
              <a:t>Integration &amp; Weitergabe</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VERTIEFUNG · STUFE 7</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Meisterschaft zeigt sich nicht im Nie-mehr-Fallen, sondern im ruhigen Zurückkehren – und im Weitergeben dessen, was du wirklich lebst.</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INTEGRATION &amp; WEITERGABE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VERTIEFUNG · STUFE 3</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600" b="1" i="0">
                <a:solidFill>
                  <a:srgbClr val="16231F"/>
                </a:solidFill>
                <a:latin typeface="Fraunces"/>
              </a:rPr>
              <a:t>Kernüberzeugungen</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VERTIEFUNG · STUFE 3</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Unter den Gedanken liegen wenige tiefe Regeln. Sie ändern sich durch Gegenerfahrung, nicht durch Sprüche.</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KERNÜBERZEUGUNGEN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VERTIEFUNG · STUFE 3</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600" b="1" i="0">
                <a:solidFill>
                  <a:srgbClr val="16231F"/>
                </a:solidFill>
                <a:latin typeface="Fraunces"/>
              </a:rPr>
              <a:t>Kognitive Verzerrungen</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VERTIEFUNG · STUFE 3</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Denkfehler folgen wenigen Mustern. Wer sie benennt, muss ihnen nicht mehr glauben.</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KOGNITIVE VERZERRUNGEN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VERTIEFUNG · STUFE 1</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600" b="1" i="0">
                <a:solidFill>
                  <a:srgbClr val="16231F"/>
                </a:solidFill>
                <a:latin typeface="Fraunces"/>
              </a:rPr>
              <a:t>Konditionierung</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VERTIEFUNG · STUFE 1</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Konditionierung ist gelerntes Reagieren – kein Schicksal. Neue Erfahrung schreibt die alte Kopplung um.</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KONDITIONIERUNG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VERTIEFUNG · STUFE 4</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600" b="1" i="0">
                <a:solidFill>
                  <a:srgbClr val="16231F"/>
                </a:solidFill>
                <a:latin typeface="Fraunces"/>
              </a:rPr>
              <a:t>Muster, Körper &amp; Gesundheit</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VERTIEFUNG · STUFE 4</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Anhaltende Muster gehen in den Körper – ein reguliertes Nervensystem entlastet ihn wieder. Innere Arbeit ist auch Körperarbeit.</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MUSTER, KÖRPER &amp; GESUNDHEIT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VERTIEFUNG · STUFE 5</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600" b="1" i="0">
                <a:solidFill>
                  <a:srgbClr val="16231F"/>
                </a:solidFill>
                <a:latin typeface="Fraunces"/>
              </a:rPr>
              <a:t>Neuroplastizität</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VERTIEFUNG · STUFE 5</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Dein Gehirn folgt dem, was du wiederholst. Häufigkeit schlägt Intensität – und macht Veränderung real.</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NEUROPLASTIZITÄT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VERTIEFUNG · STUFE 2</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600" b="1" i="0">
                <a:solidFill>
                  <a:srgbClr val="16231F"/>
                </a:solidFill>
                <a:latin typeface="Fraunces"/>
              </a:rPr>
              <a:t>Die Reiz-Reaktions-Lücke</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VERTIEFUNG · STUFE 2</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Du kannst den Reiz nicht wählen – aber den Moment danach. In diesem Spalt liegt deine ganze Freiheit.</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DIE REIZ-REAKTIONS-LÜCKE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VERTIEFUNG · STUFE 4</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600" b="1" i="0">
                <a:solidFill>
                  <a:srgbClr val="16231F"/>
                </a:solidFill>
                <a:latin typeface="Fraunces"/>
              </a:rPr>
              <a:t>Selbstmitgefühl</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VERTIEFUNG · STUFE 4</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Freundlichkeit zu dir ist kein Nachlassen, sondern der stabilere Boden. Menschen wachsen durch Ermutigung, nicht durch Abwertung.</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SELBSTMITGEFÜHL</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VERTIEFUNG · STUFE 6</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600" b="1" i="0">
                <a:solidFill>
                  <a:srgbClr val="16231F"/>
                </a:solidFill>
                <a:latin typeface="Fraunces"/>
              </a:rPr>
              <a:t>Werte &amp; Ziele</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VERTIEFUNG · STUFE 6</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Ziele erreichst du, Werte lebst du. Wer seine Richtung kennt, findet Sinn im Weg – nicht erst im Ergebnis.</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WERTE &amp; ZIELE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Rounded Rectangle 1"/>
          <p:cNvSpPr/>
          <p:nvPr/>
        </p:nvSpPr>
        <p:spPr>
          <a:xfrm>
            <a:off x="868680" y="2377440"/>
            <a:ext cx="82296" cy="2103120"/>
          </a:xfrm>
          <a:prstGeom prst="roundRect">
            <a:avLst>
              <a:gd name="adj" fmla="val 50000"/>
            </a:avLst>
          </a:prstGeom>
          <a:gradFill>
            <a:gsLst>
              <a:gs pos="0">
                <a:srgbClr val="E8C15F"/>
              </a:gs>
              <a:gs pos="100000">
                <a:srgbClr val="7E6410"/>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80160" y="2560320"/>
            <a:ext cx="7315200" cy="365760"/>
          </a:xfrm>
          <a:prstGeom prst="rect">
            <a:avLst/>
          </a:prstGeom>
          <a:noFill/>
        </p:spPr>
        <p:txBody>
          <a:bodyPr wrap="square" anchor="t" lIns="0" rIns="0" tIns="0" bIns="0">
            <a:noAutofit/>
          </a:bodyPr>
          <a:lstStyle/>
          <a:p>
            <a:pPr algn="l"/>
            <a:r>
              <a:rPr sz="1250" b="1" i="0" spc="260">
                <a:solidFill>
                  <a:srgbClr val="7E6410"/>
                </a:solidFill>
                <a:latin typeface="Inter"/>
              </a:rPr>
              <a:t>GEDANKENFREIHEIT</a:t>
            </a:r>
          </a:p>
        </p:txBody>
      </p:sp>
      <p:sp>
        <p:nvSpPr>
          <p:cNvPr id="4" name="TextBox 3"/>
          <p:cNvSpPr txBox="1"/>
          <p:nvPr/>
        </p:nvSpPr>
        <p:spPr>
          <a:xfrm>
            <a:off x="1280160" y="2926080"/>
            <a:ext cx="9494215" cy="1463040"/>
          </a:xfrm>
          <a:prstGeom prst="rect">
            <a:avLst/>
          </a:prstGeom>
          <a:noFill/>
        </p:spPr>
        <p:txBody>
          <a:bodyPr wrap="square" anchor="t" lIns="0" rIns="0" tIns="0" bIns="0">
            <a:noAutofit/>
          </a:bodyPr>
          <a:lstStyle/>
          <a:p>
            <a:pPr>
              <a:lnSpc>
                <a:spcPct val="103000"/>
              </a:lnSpc>
            </a:pPr>
            <a:r>
              <a:rPr sz="4400" b="1" i="0">
                <a:solidFill>
                  <a:srgbClr val="16231F"/>
                </a:solidFill>
                <a:latin typeface="Fraunces"/>
              </a:rPr>
              <a:t>Mentale Selbstverteidigung</a:t>
            </a: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MENTALE SELBSTVERTEIDIGUNG · 01</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200" b="1" i="0">
                <a:solidFill>
                  <a:srgbClr val="16231F"/>
                </a:solidFill>
                <a:latin typeface="Fraunces"/>
              </a:rPr>
              <a:t>Propaganda &amp; Konditionierung</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THEMA 01</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Der Schutz ist eine einzige Frage: Woher habe ich das eigentlich – geprüft, oder nur oft gehört? Beeinflussung wirkt über Wiederholung, Emotion und Vereinfachung – nicht über Beweise. Wer das bemerkt, gewinnt Abstand.</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PROPAGANDA &amp; KONDITIONIERUNG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MENTALE SELBSTVERTEIDIGUNG · 02</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200" b="1" i="0">
                <a:solidFill>
                  <a:srgbClr val="16231F"/>
                </a:solidFill>
                <a:latin typeface="Fraunces"/>
              </a:rPr>
              <a:t>Framing</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THEMA 02</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Framing heißt nicht, dass alles gelogen ist. Jede Kommunikation braucht einen Rahmen. Problematisch wird es, wo ein Rahmen als einzige Wahrheit auftritt und jede andere Sicht abwertet. Gedankenfreiheit beginnt damit, den Rahmen zu erkennen, bevor du die Bewertung darin übernimmst.</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FRAMING</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MENTALE SELBSTVERTEIDIGUNG · 03</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200" b="1" i="0">
                <a:solidFill>
                  <a:srgbClr val="16231F"/>
                </a:solidFill>
                <a:latin typeface="Fraunces"/>
              </a:rPr>
              <a:t>Sprache &amp; Etiketten</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THEMA 03</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Das Gegenmittel: Zieh das Etikett ab. Beschreib nur die Handlung und schau, ob die Aussage dann noch überzeugt. Ein Etikett ist eine Bewertung ohne Begründung.</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SPRACHE &amp; ETIKETTEN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MENTALE SELBSTVERTEIDIGUNG · 04</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200" b="1" i="0">
                <a:solidFill>
                  <a:srgbClr val="16231F"/>
                </a:solidFill>
                <a:latin typeface="Fraunces"/>
              </a:rPr>
              <a:t>Medien &amp; Aufmerksamkeit</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THEMA 04</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Der Test ist einfach: Werde ich hier klüger und ruhiger – oder nur aufgeregter? Wer die Themen setzt, lenkt dein Denken. Nicht durch die Antwort, sondern durch die Frage, die überhaupt gestellt wird.</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MEDIEN &amp; AUFMERKSAMKEIT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MENTALE SELBSTVERTEIDIGUNG · 05</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200" b="1" i="0">
                <a:solidFill>
                  <a:srgbClr val="16231F"/>
                </a:solidFill>
                <a:latin typeface="Fraunces"/>
              </a:rPr>
              <a:t>Algorithmen &amp; Filterblasen</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THEMA 05</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Der Schutz: Folge bewusst Stimmen, die anders denken. Klick nicht auf alles, was dich empört. Dein Feed ist ein Spiegel deines Verhaltens, kein Fenster zur Welt.</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ALGORITHMEN &amp; FILTERBLASEN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MENTALE SELBSTVERTEIDIGUNG · 06</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200" b="1" i="0">
                <a:solidFill>
                  <a:srgbClr val="16231F"/>
                </a:solidFill>
                <a:latin typeface="Fraunces"/>
              </a:rPr>
              <a:t>Werbung &amp; künstlicher Mangel</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THEMA 06</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Der Ausweg ist nicht Verzicht, sondern eine Pause zwischen Impuls und Kauf. Wollte ich das schon vorher – oder erst seit der Werbung? Vieles kaufst du nicht aus Bedarf, sondern weil dir vorher das Gefühl gegeben wurde, dass dir etwas fehlt.</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WERBUNG &amp; KÜNSTLICHER MANGEL</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MENTALE SELBSTVERTEIDIGUNG · 07</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200" b="1" i="0">
                <a:solidFill>
                  <a:srgbClr val="16231F"/>
                </a:solidFill>
                <a:latin typeface="Fraunces"/>
              </a:rPr>
              <a:t>Gruppendruck &amp; Schweigespirale</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THEMA 07</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Der Mut fängt klein an: einmal ruhig und freundlich sagen, was du wirklich denkst. Fast immer stellt sich heraus, dass mehr Menschen zustimmen, als du dachtest – und dass die befürchtete Ausgrenzung viel kleiner ausfällt.</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GRUPPENDRUCK &amp; SCHWEIGESPIRALE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MENTALE SELBSTVERTEIDIGUNG · 08</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200" b="1" i="0">
                <a:solidFill>
                  <a:srgbClr val="16231F"/>
                </a:solidFill>
                <a:latin typeface="Fraunces"/>
              </a:rPr>
              <a:t>Autorität &amp; Gehorsam</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THEMA 08</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Vertraue Fachwissen – aber hör nicht auf mitzudenken. Ein Titel ist ein Grund zuzuhören, kein Grund, nicht mehr zu prüfen.</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AUTORITÄT &amp; GEHORSAM</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MENTALE SELBSTVERTEIDIGUNG · 09</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200" b="1" i="0">
                <a:solidFill>
                  <a:srgbClr val="16231F"/>
                </a:solidFill>
                <a:latin typeface="Fraunces"/>
              </a:rPr>
              <a:t>Angst als Steuerungsmittel</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THEMA 09</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Der Schutz beginnt im Körper: langsamer ausatmen, im Alarmzustand keine großen Entscheidungen treffen, und ehrlich fragen: Was liegt tatsächlich in meiner Hand? Angst verengt den Blick und macht lenkbar. Ruhe zurückzugewinnen ist Selbstschutz.</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ANGST ALS STEUERUNGSMITTEL</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MENTALE SELBSTVERTEIDIGUNG · 10</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200" b="1" i="0">
                <a:solidFill>
                  <a:srgbClr val="16231F"/>
                </a:solidFill>
                <a:latin typeface="Fraunces"/>
              </a:rPr>
              <a:t>Wiederholung wird zur Wahrheit</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THEMA 10</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Behandle das, was du oft gehört hast, mit derselben Skepsis wie beim ersten Mal. Vertrautheit ist kein Beweis.</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WIEDERHOLUNG WIRD ZUR WAHRHEIT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MENTALE SELBSTVERTEIDIGUNG · 11</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200" b="1" i="0">
                <a:solidFill>
                  <a:srgbClr val="16231F"/>
                </a:solidFill>
                <a:latin typeface="Fraunces"/>
              </a:rPr>
              <a:t>Ablenkung &amp; Überflutung</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THEMA 11</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Frag bei jedem Aufreger: Betrifft das mein Leben – oder nur meine Erregung? Kann ich etwas tun? Wenn nicht, ist es vor allem Ablenkung. Deine Aufmerksamkeit bewusst zu schützen, ist eine Form der geistigen Selbstbestimmung.</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ABLENKUNG &amp; ÜBERFLUTUNG</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MENTALE SELBSTVERTEIDIGUNG · 12</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200" b="1" i="0">
                <a:solidFill>
                  <a:srgbClr val="16231F"/>
                </a:solidFill>
                <a:latin typeface="Fraunces"/>
              </a:rPr>
              <a:t>Kognitive Dissonanz</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THEMA 12</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Die reifere Fähigkeit ist, einen Abstand zwischen dich und deine Überzeugungen zu legen. Unbehagen ist ein Hinweis, genauer hinzuschauen – nicht wegzuschauen.</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KOGNITIVE DISSONANZ</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MENTALE SELBSTVERTEIDIGUNG · 13</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200" b="1" i="0">
                <a:solidFill>
                  <a:srgbClr val="16231F"/>
                </a:solidFill>
                <a:latin typeface="Fraunces"/>
              </a:rPr>
              <a:t>Normalisierung</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THEMA 13</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Der Punkt ist nicht, jede Veränderung abzulehnen, sondern sie überhaupt zu bemerken. Nimm deine erste, noch wache Reaktion ernst, bevor die Gewöhnung sie überschreibt. Wer die Verschiebung sieht, behält die Wahl, ob er sie mitträgt.</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NORMALISIERUNG</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MENTALE SELBSTVERTEIDIGUNG · 14</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200" b="1" i="0">
                <a:solidFill>
                  <a:srgbClr val="16231F"/>
                </a:solidFill>
                <a:latin typeface="Fraunces"/>
              </a:rPr>
              <a:t>Bilder statt Argumente</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THEMA 14</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Frag bei einem wirkmächtigen Bild: Was könnte außerhalb des Ausschnitts liegen? Und trenne das Gefühl, das es weckt, von der Frage, was es wirklich belegt. Ein Bild ist ein gewählter Ausschnitt, kein vollständiger Beweis.</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BILDER STATT ARGUMENTE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MENTALE SELBSTVERTEIDIGUNG · 15</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200" b="1" i="0">
                <a:solidFill>
                  <a:srgbClr val="16231F"/>
                </a:solidFill>
                <a:latin typeface="Fraunces"/>
              </a:rPr>
              <a:t>Identität &amp; Meinung</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THEMA 15</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Die Freiheit liegt darin, einen Abstand zwischen dich und deine Meinungen zu legen. Eine Überzeugung ändern zu können ist keine Schwäche, sondern Reife. Eine Meinung ist ein Werkzeug, kein Körperteil.</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IDENTITÄT &amp; MEINUNG</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868680" y="2286000"/>
            <a:ext cx="10454335" cy="365760"/>
          </a:xfrm>
          <a:prstGeom prst="rect">
            <a:avLst/>
          </a:prstGeom>
          <a:noFill/>
        </p:spPr>
        <p:txBody>
          <a:bodyPr wrap="square" anchor="t" lIns="0" rIns="0" tIns="0" bIns="0">
            <a:noAutofit/>
          </a:bodyPr>
          <a:lstStyle/>
          <a:p>
            <a:pPr algn="l"/>
            <a:r>
              <a:rPr sz="1250" b="1" i="0" spc="260">
                <a:solidFill>
                  <a:srgbClr val="7E6410"/>
                </a:solidFill>
                <a:latin typeface="Inter"/>
              </a:rPr>
              <a:t>MENTALE SELBSTVERTEIDIGUNG · 16</a:t>
            </a:r>
          </a:p>
        </p:txBody>
      </p:sp>
      <p:sp>
        <p:nvSpPr>
          <p:cNvPr id="3" name="TextBox 2"/>
          <p:cNvSpPr txBox="1"/>
          <p:nvPr/>
        </p:nvSpPr>
        <p:spPr>
          <a:xfrm>
            <a:off x="868680" y="2743200"/>
            <a:ext cx="10454335" cy="1828800"/>
          </a:xfrm>
          <a:prstGeom prst="rect">
            <a:avLst/>
          </a:prstGeom>
          <a:noFill/>
        </p:spPr>
        <p:txBody>
          <a:bodyPr wrap="square" anchor="t" lIns="0" rIns="0" tIns="0" bIns="0">
            <a:noAutofit/>
          </a:bodyPr>
          <a:lstStyle/>
          <a:p>
            <a:pPr>
              <a:lnSpc>
                <a:spcPct val="102000"/>
              </a:lnSpc>
            </a:pPr>
            <a:r>
              <a:rPr sz="4200" b="1" i="0">
                <a:solidFill>
                  <a:srgbClr val="16231F"/>
                </a:solidFill>
                <a:latin typeface="Fraunces"/>
              </a:rPr>
              <a:t>Reizüberflutung &amp; Alarmbereitschaft</a:t>
            </a:r>
          </a:p>
        </p:txBody>
      </p:sp>
      <p:sp>
        <p:nvSpPr>
          <p:cNvPr id="4" name="Rounded Rectangle 3"/>
          <p:cNvSpPr/>
          <p:nvPr/>
        </p:nvSpPr>
        <p:spPr>
          <a:xfrm>
            <a:off x="886968" y="4526280"/>
            <a:ext cx="2377440" cy="54864"/>
          </a:xfrm>
          <a:prstGeom prst="roundRect">
            <a:avLst>
              <a:gd name="adj" fmla="val 50000"/>
            </a:avLst>
          </a:prstGeom>
          <a:gradFill>
            <a:gsLst>
              <a:gs pos="0">
                <a:srgbClr val="E8C15F"/>
              </a:gs>
              <a:gs pos="100000">
                <a:srgbClr val="7E6410"/>
              </a:gs>
            </a:gsLst>
            <a:lin ang="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6355080"/>
            <a:ext cx="12191695" cy="274320"/>
          </a:xfrm>
          <a:prstGeom prst="rect">
            <a:avLst/>
          </a:prstGeom>
          <a:noFill/>
        </p:spPr>
        <p:txBody>
          <a:bodyPr wrap="square" anchor="ctr" lIns="0" rIns="0" tIns="0" bIns="0">
            <a:noAutofit/>
          </a:bodyPr>
          <a:lstStyle/>
          <a:p>
            <a:pPr algn="ctr"/>
            <a:r>
              <a:rPr sz="800" b="0" i="0" spc="260">
                <a:solidFill>
                  <a:srgbClr val="626B67"/>
                </a:solidFill>
                <a:latin typeface="Fraunces"/>
              </a:rPr>
              <a:t>WERDE MEISTER DEINER GEDANKEN</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6F4EE"/>
        </a:solidFill>
        <a:effectLst/>
      </p:bgPr>
    </p:bg>
    <p:spTree>
      <p:nvGrpSpPr>
        <p:cNvPr id="1" name=""/>
        <p:cNvGrpSpPr/>
        <p:nvPr/>
      </p:nvGrpSpPr>
      <p:grpSpPr/>
      <p:sp>
        <p:nvSpPr>
          <p:cNvPr id="2" name="TextBox 1"/>
          <p:cNvSpPr txBox="1"/>
          <p:nvPr/>
        </p:nvSpPr>
        <p:spPr>
          <a:xfrm>
            <a:off x="0" y="1234440"/>
            <a:ext cx="12191695" cy="365760"/>
          </a:xfrm>
          <a:prstGeom prst="rect">
            <a:avLst/>
          </a:prstGeom>
          <a:noFill/>
        </p:spPr>
        <p:txBody>
          <a:bodyPr wrap="square" anchor="t" lIns="0" rIns="0" tIns="0" bIns="0">
            <a:noAutofit/>
          </a:bodyPr>
          <a:lstStyle/>
          <a:p>
            <a:pPr algn="ctr"/>
            <a:r>
              <a:rPr sz="1250" b="1" i="0" spc="260">
                <a:solidFill>
                  <a:srgbClr val="7E6410"/>
                </a:solidFill>
                <a:latin typeface="Inter"/>
              </a:rPr>
              <a:t>MERKSATZ · THEMA 16</a:t>
            </a:r>
          </a:p>
        </p:txBody>
      </p:sp>
      <p:sp>
        <p:nvSpPr>
          <p:cNvPr id="3" name="TextBox 2"/>
          <p:cNvSpPr txBox="1"/>
          <p:nvPr/>
        </p:nvSpPr>
        <p:spPr>
          <a:xfrm>
            <a:off x="0" y="1508760"/>
            <a:ext cx="12191695" cy="914400"/>
          </a:xfrm>
          <a:prstGeom prst="rect">
            <a:avLst/>
          </a:prstGeom>
          <a:noFill/>
        </p:spPr>
        <p:txBody>
          <a:bodyPr wrap="square" anchor="t" lIns="0" rIns="0" tIns="0" bIns="0">
            <a:noAutofit/>
          </a:bodyPr>
          <a:lstStyle/>
          <a:p>
            <a:pPr algn="ctr"/>
            <a:r>
              <a:rPr sz="7000" b="1" i="0">
                <a:solidFill>
                  <a:srgbClr val="D9A93A"/>
                </a:solidFill>
                <a:latin typeface="Fraunces"/>
              </a:rPr>
              <a:t>“</a:t>
            </a:r>
          </a:p>
        </p:txBody>
      </p:sp>
      <p:sp>
        <p:nvSpPr>
          <p:cNvPr id="4" name="TextBox 3"/>
          <p:cNvSpPr txBox="1"/>
          <p:nvPr/>
        </p:nvSpPr>
        <p:spPr>
          <a:xfrm>
            <a:off x="1463040" y="2514600"/>
            <a:ext cx="9265615" cy="2743200"/>
          </a:xfrm>
          <a:prstGeom prst="rect">
            <a:avLst/>
          </a:prstGeom>
          <a:noFill/>
        </p:spPr>
        <p:txBody>
          <a:bodyPr wrap="square" anchor="ctr" lIns="0" rIns="0" tIns="0" bIns="0">
            <a:noAutofit/>
          </a:bodyPr>
          <a:lstStyle/>
          <a:p>
            <a:pPr algn="ctr">
              <a:lnSpc>
                <a:spcPct val="116000"/>
              </a:lnSpc>
            </a:pPr>
            <a:r>
              <a:rPr sz="3300" b="0" i="0">
                <a:solidFill>
                  <a:srgbClr val="16231F"/>
                </a:solidFill>
                <a:latin typeface="Fraunces"/>
              </a:rPr>
              <a:t>Der Ausweg ist kein Input, sondern Ruhe. Erst wenn dein System herunterfährt, entsteht wieder der Raum zwischen Reiz und Reaktion, in dem du frei bist. Ruhe ist keine Zeitverschwendung – sie ist der Zustand, in dem du wieder wählen kannst.</a:t>
            </a:r>
          </a:p>
        </p:txBody>
      </p:sp>
      <p:sp>
        <p:nvSpPr>
          <p:cNvPr id="5" name="TextBox 4"/>
          <p:cNvSpPr txBox="1"/>
          <p:nvPr/>
        </p:nvSpPr>
        <p:spPr>
          <a:xfrm>
            <a:off x="0" y="5806440"/>
            <a:ext cx="12191695" cy="365760"/>
          </a:xfrm>
          <a:prstGeom prst="rect">
            <a:avLst/>
          </a:prstGeom>
          <a:noFill/>
        </p:spPr>
        <p:txBody>
          <a:bodyPr wrap="square" anchor="ctr" lIns="0" rIns="0" tIns="0" bIns="0">
            <a:noAutofit/>
          </a:bodyPr>
          <a:lstStyle/>
          <a:p>
            <a:pPr algn="ctr"/>
            <a:r>
              <a:rPr sz="1100" b="1" i="0" spc="240">
                <a:solidFill>
                  <a:srgbClr val="7E6410"/>
                </a:solidFill>
                <a:latin typeface="Inter"/>
              </a:rPr>
              <a:t>REIZÜBERFLUTUNG &amp; ALARMBEREITSCHAFT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