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Begrüßung. Kurz vorstellen. Rahmen setzen: heute geht es ums bewusste Sehen, nicht um Ratschläge. Vertraulichkeit im Raum betonen.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ruhig durchgehen. Zeitrahmen nennen. Frage in die Runde: Was möchtet ihr heute mitnehmen?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Wirken lassen. Kurze Stille nach dem Satz.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Betonen: kein richtig oder falsch. Der Wert liegt in der Ehrlichkeit gegenüber sich selbst.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Ruhe im Raum halten. Zeit geben. Wer keinen Zugang hat, arbeitet mit dem gedruckten Bogen im Workbook.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Übergang: Jetzt haben alle einen Wert. Bevor wir deuten, verstehen wir, was die Stufen bedeuten.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Keine Stufe ist besser als die andere. Es ist ein Weg, kein Ranking. Kurz die Reihenfolge nachfahren.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 Makel. Das System hält uns so funktionsfähig. Entlastend rahmen.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Erwachen ist unbequem. Neugier statt Selbstkritik betonen.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 innere Beobachter ist das Fundament. Aber Beobachten allein verändert noch nicht.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Behutsam. Kann berühren. Nach der Reflexion kurze Stille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Vom Bewältigen zum Gestalten. Vision und Handlung gehören zusammen.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Kohärenz auch unter Druck zu halten ist die Kunst. Ruhig sprechen.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Meisterschaft ist kein Besitz, sondern tägliche Haltung. Mit Demut rahmen.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Betonen: Das Profil bewertet nicht, es spiegelt. Der nächste Schritt darf klein sein.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Ruhig zusammenfassen. Die drei Worte langsam nennen.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 Druck. Einladung, nicht Verkauf. Auf den kostenlosen Test hinweisen.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Warm abschließen. Kurze Stille, dann Raum für 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640080"/>
            <a:ext cx="2488163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05156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300" b="1" i="0" spc="240">
                <a:solidFill>
                  <a:srgbClr val="A3D64F"/>
                </a:solidFill>
                <a:latin typeface="Calibri"/>
              </a:rPr>
              <a:t>WORKSHOP · SELBSTERKENNTNIS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8778240" cy="2468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5200" b="1" i="0">
                <a:solidFill>
                  <a:srgbClr val="FFFFFF"/>
                </a:solidFill>
                <a:latin typeface="Cambria"/>
              </a:rPr>
              <a:t>Wo stehst du </a:t>
            </a:r>
          </a:p>
          <a:p>
            <a:pPr>
              <a:lnSpc>
                <a:spcPct val="102000"/>
              </a:lnSpc>
            </a:pPr>
            <a:r>
              <a:rPr sz="5200" b="1" i="0">
                <a:solidFill>
                  <a:srgbClr val="34C4C4"/>
                </a:solidFill>
                <a:latin typeface="Cambria"/>
              </a:rPr>
              <a:t>gerade?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160520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700" b="0" i="0">
                <a:solidFill>
                  <a:srgbClr val="D8DBE6"/>
                </a:solidFill>
                <a:latin typeface="Calibri"/>
              </a:rPr>
              <a:t>Bewusstseinstest &amp; Gedankenprofil. Ein ehrlicher Blick auf deine sieben Stufen – und den nächsten Schritt.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0" i="0">
                <a:solidFill>
                  <a:srgbClr val="AEB6C6"/>
                </a:solidFill>
                <a:latin typeface="Calibri"/>
              </a:rPr>
              <a:t>Heiko Schwaninger  ·  werdemeisterdeinergedanken.de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ÜBERBLICK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24128"/>
            <a:ext cx="1045433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Was dich heute erwartet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965960"/>
            <a:ext cx="457200" cy="457200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929384"/>
            <a:ext cx="9768535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700" b="1" i="0">
                <a:solidFill>
                  <a:srgbClr val="FFFFFF"/>
                </a:solidFill>
                <a:latin typeface="Calibri"/>
              </a:rPr>
              <a:t>Ankommen</a:t>
            </a:r>
          </a:p>
          <a:p>
            <a:pPr>
              <a:spcBef>
                <a:spcPts val="100"/>
              </a:spcBef>
            </a:pPr>
            <a:r>
              <a:rPr sz="1350" b="0" i="0">
                <a:solidFill>
                  <a:srgbClr val="AEB6C6"/>
                </a:solidFill>
                <a:latin typeface="Calibri"/>
              </a:rPr>
              <a:t>Warum eine ehrliche Selbsteinschätzung der Anfang jeder Entwicklung ist.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834639"/>
            <a:ext cx="457200" cy="457200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798063"/>
            <a:ext cx="9768535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700" b="1" i="0">
                <a:solidFill>
                  <a:srgbClr val="FFFFFF"/>
                </a:solidFill>
                <a:latin typeface="Calibri"/>
              </a:rPr>
              <a:t>Der Test</a:t>
            </a:r>
          </a:p>
          <a:p>
            <a:pPr>
              <a:spcBef>
                <a:spcPts val="100"/>
              </a:spcBef>
            </a:pPr>
            <a:r>
              <a:rPr sz="1350" b="0" i="0">
                <a:solidFill>
                  <a:srgbClr val="AEB6C6"/>
                </a:solidFill>
                <a:latin typeface="Calibri"/>
              </a:rPr>
              <a:t>21 Aussagen, sieben Stufen – du machst den Bewusstseinstest selbst.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703320"/>
            <a:ext cx="457200" cy="457200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666744"/>
            <a:ext cx="9768535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700" b="1" i="0">
                <a:solidFill>
                  <a:srgbClr val="FFFFFF"/>
                </a:solidFill>
                <a:latin typeface="Calibri"/>
              </a:rPr>
              <a:t>Die Landkarte</a:t>
            </a:r>
          </a:p>
          <a:p>
            <a:pPr>
              <a:spcBef>
                <a:spcPts val="100"/>
              </a:spcBef>
            </a:pPr>
            <a:r>
              <a:rPr sz="1350" b="0" i="0">
                <a:solidFill>
                  <a:srgbClr val="AEB6C6"/>
                </a:solidFill>
                <a:latin typeface="Calibri"/>
              </a:rPr>
              <a:t>Die sieben Stufen der Bewusstseinsentwicklung im Überblick.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572000"/>
            <a:ext cx="457200" cy="457200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535424"/>
            <a:ext cx="9768535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700" b="1" i="0">
                <a:solidFill>
                  <a:srgbClr val="FFFFFF"/>
                </a:solidFill>
                <a:latin typeface="Calibri"/>
              </a:rPr>
              <a:t>Die Dimensionen</a:t>
            </a:r>
          </a:p>
          <a:p>
            <a:pPr>
              <a:spcBef>
                <a:spcPts val="100"/>
              </a:spcBef>
            </a:pPr>
            <a:r>
              <a:rPr sz="1350" b="0" i="0">
                <a:solidFill>
                  <a:srgbClr val="AEB6C6"/>
                </a:solidFill>
                <a:latin typeface="Calibri"/>
              </a:rPr>
              <a:t>Jede Stufe einzeln verstehen – was sie misst und wozu sie einlädt.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5440679"/>
            <a:ext cx="457200" cy="457200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5404103"/>
            <a:ext cx="9768535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700" b="1" i="0">
                <a:solidFill>
                  <a:srgbClr val="FFFFFF"/>
                </a:solidFill>
                <a:latin typeface="Calibri"/>
              </a:rPr>
              <a:t>Dein Profil</a:t>
            </a:r>
          </a:p>
          <a:p>
            <a:pPr>
              <a:spcBef>
                <a:spcPts val="100"/>
              </a:spcBef>
            </a:pPr>
            <a:r>
              <a:rPr sz="1350" b="0" i="0">
                <a:solidFill>
                  <a:srgbClr val="AEB6C6"/>
                </a:solidFill>
                <a:latin typeface="Calibri"/>
              </a:rPr>
              <a:t>Dein eigenes Ergebnis deuten und den nächsten Schritt festhalten.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1920240"/>
            <a:ext cx="9722815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Veränderung beginnt nicht mit einem Ziel, sondern mit einer ehrlichen Frage: </a:t>
            </a:r>
            <a:r>
              <a:rPr sz="3200" b="1" i="0">
                <a:solidFill>
                  <a:srgbClr val="34C4C4"/>
                </a:solidFill>
                <a:latin typeface="Cambria"/>
              </a:rPr>
              <a:t>Wo stehst du gerade?</a:t>
            </a:r>
            <a:r>
              <a:rPr sz="3200" b="1" i="0">
                <a:solidFill>
                  <a:srgbClr val="FFFFFF"/>
                </a:solidFill>
                <a:latin typeface="Cambria"/>
              </a:rPr>
              <a:t/>
            </a:r>
          </a:p>
          <a:p>
            <a:pPr>
              <a:spcBef>
                <a:spcPts val="1400"/>
              </a:spcBef>
            </a:pPr>
            <a:r>
              <a:rPr sz="1800" b="0" i="0">
                <a:solidFill>
                  <a:srgbClr val="D8DBE6"/>
                </a:solidFill>
                <a:latin typeface="Calibri"/>
              </a:rPr>
              <a:t>Der Test macht aus dieser Frage eine Landkarte deiner sieben Stufen.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4008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AUSGANGSPUNKT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24128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Cambria"/>
              </a:rPr>
              <a:t>Ein Spiegel, kein Urteil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331720"/>
            <a:ext cx="6309360" cy="3108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500" b="0" i="0">
                <a:solidFill>
                  <a:srgbClr val="D8DBE6"/>
                </a:solidFill>
                <a:latin typeface="Calibri"/>
              </a:rPr>
              <a:t>Der Bewusstseinstest ist keine Prüfung und keine Vorhersage. Er fasst nur zusammen, was du selbst einbringst – ein ehrlicher Spiegel, der mit jedem neuen Durchgang schärfer wird.</a:t>
            </a:r>
          </a:p>
          <a:p>
            <a:pPr>
              <a:lnSpc>
                <a:spcPct val="122000"/>
              </a:lnSpc>
            </a:pPr>
            <a:r>
              <a:rPr sz="1500" b="0" i="0">
                <a:solidFill>
                  <a:srgbClr val="D8DBE6"/>
                </a:solidFill>
                <a:latin typeface="Calibri"/>
              </a:rPr>
              <a:t>Sieben Stufen, von Autopilot bis Meisterschaft. Jede wird über drei Aussagen erfasst, jede Antwort auf einer Skala von „trifft gar nicht zu“ bis „trifft voll zu“.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2011680"/>
            <a:ext cx="3383280" cy="2743200"/>
          </a:xfrm>
          <a:prstGeom prst="roundRect">
            <a:avLst>
              <a:gd name="adj" fmla="val 9000"/>
            </a:avLst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83879" y="22860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00" b="1" i="0" spc="200">
                <a:solidFill>
                  <a:srgbClr val="8CC63F"/>
                </a:solidFill>
                <a:latin typeface="Calibri"/>
              </a:rPr>
              <a:t>GENAU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269748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5400" b="1" i="0">
                <a:solidFill>
                  <a:srgbClr val="34C4C4"/>
                </a:solidFill>
                <a:latin typeface="Cambria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37947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Aussagen · 3 pro Stufe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420624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AEB6C6"/>
                </a:solidFill>
                <a:latin typeface="Calibri"/>
              </a:rPr>
              <a:t>Sieben Stufen, etwa fünf Minuten – daraus entsteht dein Gedankenprofil.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21B2BD"/>
                </a:solidFill>
                <a:latin typeface="Calibri"/>
              </a:rPr>
              <a:t>ÜBUNG 1 · 10 MINUTEN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24128"/>
            <a:ext cx="1045433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Mach den Test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965960"/>
            <a:ext cx="420624" cy="420624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7048" y="1947672"/>
            <a:ext cx="9795967" cy="73151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1550" b="0" i="0">
                <a:solidFill>
                  <a:srgbClr val="D8DBE6"/>
                </a:solidFill>
                <a:latin typeface="Calibri"/>
              </a:rPr>
              <a:t>Öffne den Bewusstseinstest auf werdemeisterdeinergedanken.de/bewusstseinstest.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697479"/>
            <a:ext cx="420624" cy="420624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2679191"/>
            <a:ext cx="9795967" cy="73151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1550" b="0" i="0">
                <a:solidFill>
                  <a:srgbClr val="D8DBE6"/>
                </a:solidFill>
                <a:latin typeface="Calibri"/>
              </a:rPr>
              <a:t>Lies jede der 21 Aussagen und antworte spontan, nicht wie du sein möchtest.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429000"/>
            <a:ext cx="420624" cy="420624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3410712"/>
            <a:ext cx="9795967" cy="73151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1550" b="0" i="0">
                <a:solidFill>
                  <a:srgbClr val="D8DBE6"/>
                </a:solidFill>
                <a:latin typeface="Calibri"/>
              </a:rPr>
              <a:t>Wähle bei jeder Aussage einen Wert von „trifft gar nicht zu“ bis „trifft voll zu“.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60520"/>
            <a:ext cx="420624" cy="420624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4142232"/>
            <a:ext cx="9795967" cy="73151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1550" b="0" i="0">
                <a:solidFill>
                  <a:srgbClr val="D8DBE6"/>
                </a:solidFill>
                <a:latin typeface="Calibri"/>
              </a:rPr>
              <a:t>Notiere dir am Ende deine Schwerpunkt-Stufe – die mit der höchsten Punktzahl.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166360"/>
            <a:ext cx="10454335" cy="1051560"/>
          </a:xfrm>
          <a:prstGeom prst="roundRect">
            <a:avLst>
              <a:gd name="adj" fmla="val 11000"/>
            </a:avLst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5349240"/>
            <a:ext cx="981425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50" b="1" i="0" spc="240">
                <a:solidFill>
                  <a:srgbClr val="8CC63F"/>
                </a:solidFill>
                <a:latin typeface="Calibri"/>
              </a:rPr>
              <a:t>MITNEHMEN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5669280"/>
            <a:ext cx="981425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1450" b="0" i="1">
                <a:solidFill>
                  <a:srgbClr val="FFFFFF"/>
                </a:solidFill>
                <a:latin typeface="Calibri"/>
              </a:rPr>
              <a:t>Deine erste Antwort ist meist die ehrlichste. Vertrau ihr.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28600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300" b="1" i="0" spc="240">
                <a:solidFill>
                  <a:srgbClr val="8CC63F"/>
                </a:solidFill>
                <a:latin typeface="Calibri"/>
              </a:rPr>
              <a:t>DIE STUFEN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1045433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Deine sieben Stufen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600" b="0" i="0">
                <a:solidFill>
                  <a:srgbClr val="D8DBE6"/>
                </a:solidFill>
                <a:latin typeface="Calibri"/>
              </a:rPr>
              <a:t>Jede Stufe ist eine Dimension deiner Selbsteinschätzung – schauen wir sie einzeln 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DIE LANDKARTE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433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 i="0">
                <a:solidFill>
                  <a:srgbClr val="FFFFFF"/>
                </a:solidFill>
                <a:latin typeface="Cambria"/>
              </a:rPr>
              <a:t>Die sieben Stufen im Überblick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874519"/>
            <a:ext cx="402336" cy="402336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7" y="1837943"/>
            <a:ext cx="4449927" cy="11201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Autopilot</a:t>
            </a:r>
          </a:p>
          <a:p>
            <a:r>
              <a:rPr sz="1150" b="0" i="0">
                <a:solidFill>
                  <a:srgbClr val="AEB6C6"/>
                </a:solidFill>
                <a:latin typeface="Calibri"/>
              </a:rPr>
              <a:t>Du wirst gelebt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994660"/>
            <a:ext cx="402336" cy="402336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7" y="2958084"/>
            <a:ext cx="4449927" cy="11201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Erwachen</a:t>
            </a:r>
          </a:p>
          <a:p>
            <a:r>
              <a:rPr sz="1150" b="0" i="0">
                <a:solidFill>
                  <a:srgbClr val="AEB6C6"/>
                </a:solidFill>
                <a:latin typeface="Calibri"/>
              </a:rPr>
              <a:t>Du bemerkst es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4114800"/>
            <a:ext cx="402336" cy="402336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4078224"/>
            <a:ext cx="4449927" cy="11201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Selbstbeobachtung</a:t>
            </a:r>
          </a:p>
          <a:p>
            <a:r>
              <a:rPr sz="1150" b="0" i="0">
                <a:solidFill>
                  <a:srgbClr val="AEB6C6"/>
                </a:solidFill>
                <a:latin typeface="Calibri"/>
              </a:rPr>
              <a:t>Du siehst dir zu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5234940"/>
            <a:ext cx="402336" cy="402336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5198364"/>
            <a:ext cx="4449927" cy="11201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Emotionale Reifung</a:t>
            </a:r>
          </a:p>
          <a:p>
            <a:r>
              <a:rPr sz="1150" b="0" i="0">
                <a:solidFill>
                  <a:srgbClr val="AEB6C6"/>
                </a:solidFill>
                <a:latin typeface="Calibri"/>
              </a:rPr>
              <a:t>Du lässt los</a:t>
            </a:r>
          </a:p>
        </p:txBody>
      </p:sp>
      <p:sp>
        <p:nvSpPr>
          <p:cNvPr id="12" name="Oval 11"/>
          <p:cNvSpPr/>
          <p:nvPr/>
        </p:nvSpPr>
        <p:spPr>
          <a:xfrm>
            <a:off x="6095847" y="1874519"/>
            <a:ext cx="402336" cy="402336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2775" y="1837943"/>
            <a:ext cx="4449927" cy="1493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Schöpferkraft</a:t>
            </a:r>
          </a:p>
          <a:p>
            <a:r>
              <a:rPr sz="1150" b="0" i="0">
                <a:solidFill>
                  <a:srgbClr val="AEB6C6"/>
                </a:solidFill>
                <a:latin typeface="Calibri"/>
              </a:rPr>
              <a:t>Du erschaffst bewusst</a:t>
            </a:r>
          </a:p>
        </p:txBody>
      </p:sp>
      <p:sp>
        <p:nvSpPr>
          <p:cNvPr id="14" name="Oval 13"/>
          <p:cNvSpPr/>
          <p:nvPr/>
        </p:nvSpPr>
        <p:spPr>
          <a:xfrm>
            <a:off x="6095847" y="3368040"/>
            <a:ext cx="402336" cy="402336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2775" y="3331464"/>
            <a:ext cx="4449927" cy="1493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Innere Ausrichtung</a:t>
            </a:r>
          </a:p>
          <a:p>
            <a:r>
              <a:rPr sz="1150" b="0" i="0">
                <a:solidFill>
                  <a:srgbClr val="AEB6C6"/>
                </a:solidFill>
                <a:latin typeface="Calibri"/>
              </a:rPr>
              <a:t>Kopf, Herz und Handeln</a:t>
            </a:r>
          </a:p>
        </p:txBody>
      </p:sp>
      <p:sp>
        <p:nvSpPr>
          <p:cNvPr id="16" name="Oval 15"/>
          <p:cNvSpPr/>
          <p:nvPr/>
        </p:nvSpPr>
        <p:spPr>
          <a:xfrm>
            <a:off x="6095847" y="4861560"/>
            <a:ext cx="402336" cy="402336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2775" y="4824984"/>
            <a:ext cx="4449927" cy="1493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Meisterschaft</a:t>
            </a:r>
          </a:p>
          <a:p>
            <a:r>
              <a:rPr sz="1150" b="0" i="0">
                <a:solidFill>
                  <a:srgbClr val="AEB6C6"/>
                </a:solidFill>
                <a:latin typeface="Calibri"/>
              </a:rPr>
              <a:t>Du gestaltest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19" y="1005840"/>
            <a:ext cx="2743200" cy="2926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0" b="1" i="0">
                <a:solidFill>
                  <a:srgbClr val="1A2233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1800" y="123444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STUFE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64592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Autopilot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233172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00" b="1" i="0">
                <a:solidFill>
                  <a:srgbClr val="34C4C4"/>
                </a:solidFill>
                <a:latin typeface="Calibri"/>
              </a:rPr>
              <a:t>Du wirst gelebt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880360"/>
            <a:ext cx="7955279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D8DBE6"/>
                </a:solidFill>
                <a:latin typeface="Calibri"/>
              </a:rPr>
              <a:t>Reaktionen, Gewohnheiten und Gedanken laufen weitgehend automatisch ab, ohne dass du sie bewusst wählst. Der erste Schritt ist, den Autopiloten überhaupt zu bemerken.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4800600"/>
            <a:ext cx="7772400" cy="10972"/>
          </a:xfrm>
          <a:prstGeom prst="rect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4983480"/>
            <a:ext cx="795527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50" b="1" i="0" spc="240">
                <a:solidFill>
                  <a:srgbClr val="21B2BD"/>
                </a:solidFill>
                <a:latin typeface="Calibri"/>
              </a:rPr>
              <a:t>REFLEXION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5303520"/>
            <a:ext cx="795527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1600" b="0" i="1">
                <a:solidFill>
                  <a:srgbClr val="FFFFFF"/>
                </a:solidFill>
                <a:latin typeface="Calibri"/>
              </a:rPr>
              <a:t>Wo reagierst du im Alltag, ohne es zu merken?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19" y="1005840"/>
            <a:ext cx="2743200" cy="2926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0" b="1" i="0">
                <a:solidFill>
                  <a:srgbClr val="1A2233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1800" y="123444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STUFE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64592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Erwachen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233172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00" b="1" i="0">
                <a:solidFill>
                  <a:srgbClr val="34C4C4"/>
                </a:solidFill>
                <a:latin typeface="Calibri"/>
              </a:rPr>
              <a:t>Du bemerkst 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880360"/>
            <a:ext cx="7955279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D8DBE6"/>
                </a:solidFill>
                <a:latin typeface="Calibri"/>
              </a:rPr>
              <a:t>Du spürst zunehmend, dass etwas nicht mehr stimmt – auch wenn du es noch nicht benennen kannst. Du beginnst zu hinterfragen, warum du bestimmte Dinge tust.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4800600"/>
            <a:ext cx="7772400" cy="10972"/>
          </a:xfrm>
          <a:prstGeom prst="rect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4983480"/>
            <a:ext cx="795527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50" b="1" i="0" spc="240">
                <a:solidFill>
                  <a:srgbClr val="21B2BD"/>
                </a:solidFill>
                <a:latin typeface="Calibri"/>
              </a:rPr>
              <a:t>REFLEXION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5303520"/>
            <a:ext cx="795527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1600" b="0" i="1">
                <a:solidFill>
                  <a:srgbClr val="FFFFFF"/>
                </a:solidFill>
                <a:latin typeface="Calibri"/>
              </a:rPr>
              <a:t>Was in deinem Leben fühlt sich gerade nicht mehr ganz stimmig an?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19" y="1005840"/>
            <a:ext cx="2743200" cy="2926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0" b="1" i="0">
                <a:solidFill>
                  <a:srgbClr val="1A2233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1800" y="123444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STUFE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64592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Selbstbeobachtung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233172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00" b="1" i="0">
                <a:solidFill>
                  <a:srgbClr val="34C4C4"/>
                </a:solidFill>
                <a:latin typeface="Calibri"/>
              </a:rPr>
              <a:t>Du siehst dir zu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880360"/>
            <a:ext cx="7955279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D8DBE6"/>
                </a:solidFill>
                <a:latin typeface="Calibri"/>
              </a:rPr>
              <a:t>Du kannst deine Gedanken beobachten, ohne ihnen sofort zu glauben, und bemerkst, wenn ein altes Muster anspringt. Immer öfter hältst du kurz inne, bevor du reagierst.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4800600"/>
            <a:ext cx="7772400" cy="10972"/>
          </a:xfrm>
          <a:prstGeom prst="rect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4983480"/>
            <a:ext cx="795527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50" b="1" i="0" spc="240">
                <a:solidFill>
                  <a:srgbClr val="21B2BD"/>
                </a:solidFill>
                <a:latin typeface="Calibri"/>
              </a:rPr>
              <a:t>REFLEXION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5303520"/>
            <a:ext cx="795527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1600" b="0" i="1">
                <a:solidFill>
                  <a:srgbClr val="FFFFFF"/>
                </a:solidFill>
                <a:latin typeface="Calibri"/>
              </a:rPr>
              <a:t>Welches Muster erkennst du an dir – auch wenn es noch anspringt?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19" y="1005840"/>
            <a:ext cx="2743200" cy="2926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0" b="1" i="0">
                <a:solidFill>
                  <a:srgbClr val="1A2233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1800" y="123444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STUFE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64592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Emotionale Reifung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233172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00" b="1" i="0">
                <a:solidFill>
                  <a:srgbClr val="34C4C4"/>
                </a:solidFill>
                <a:latin typeface="Calibri"/>
              </a:rPr>
              <a:t>Du lässt 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880360"/>
            <a:ext cx="7955279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D8DBE6"/>
                </a:solidFill>
                <a:latin typeface="Calibri"/>
              </a:rPr>
              <a:t>Du kannst schwierige Gefühle zulassen und aushalten, ohne sie wegzudrücken. Alte Verletzungen verlieren an Macht, und du übernimmst Verantwortung für deine Gefühle.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4800600"/>
            <a:ext cx="7772400" cy="10972"/>
          </a:xfrm>
          <a:prstGeom prst="rect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4983480"/>
            <a:ext cx="795527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50" b="1" i="0" spc="240">
                <a:solidFill>
                  <a:srgbClr val="21B2BD"/>
                </a:solidFill>
                <a:latin typeface="Calibri"/>
              </a:rPr>
              <a:t>REFLEXION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5303520"/>
            <a:ext cx="795527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1600" b="0" i="1">
                <a:solidFill>
                  <a:srgbClr val="FFFFFF"/>
                </a:solidFill>
                <a:latin typeface="Calibri"/>
              </a:rPr>
              <a:t>Welches alte Gefühl möchte gerade eigentlich losgelassen werden?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19" y="1005840"/>
            <a:ext cx="2743200" cy="2926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0" b="1" i="0">
                <a:solidFill>
                  <a:srgbClr val="1A2233"/>
                </a:solidFill>
                <a:latin typeface="Cambria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1800" y="123444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STUFE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64592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Schöpferkraft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233172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00" b="1" i="0">
                <a:solidFill>
                  <a:srgbClr val="34C4C4"/>
                </a:solidFill>
                <a:latin typeface="Calibri"/>
              </a:rPr>
              <a:t>Du erschaffst bewusst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880360"/>
            <a:ext cx="7955279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D8DBE6"/>
                </a:solidFill>
                <a:latin typeface="Calibri"/>
              </a:rPr>
              <a:t>Du wählst bewusst Gedanken, die dich stärken, und erlebst, dass deine innere Ausrichtung deine äußere Realität beeinflusst. Vor allem setzt du das Erkannte in Handlungen um.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4800600"/>
            <a:ext cx="7772400" cy="10972"/>
          </a:xfrm>
          <a:prstGeom prst="rect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4983480"/>
            <a:ext cx="795527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50" b="1" i="0" spc="240">
                <a:solidFill>
                  <a:srgbClr val="21B2BD"/>
                </a:solidFill>
                <a:latin typeface="Calibri"/>
              </a:rPr>
              <a:t>REFLEXION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5303520"/>
            <a:ext cx="795527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1600" b="0" i="1">
                <a:solidFill>
                  <a:srgbClr val="FFFFFF"/>
                </a:solidFill>
                <a:latin typeface="Calibri"/>
              </a:rPr>
              <a:t>Was möchtest du bewusst gestalten – und welcher kleine Schritt gehört dazu?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19" y="1005840"/>
            <a:ext cx="2743200" cy="2926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0" b="1" i="0">
                <a:solidFill>
                  <a:srgbClr val="1A2233"/>
                </a:solidFill>
                <a:latin typeface="Cambria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1800" y="123444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STUFE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64592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Innere Ausrichtung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233172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00" b="1" i="0">
                <a:solidFill>
                  <a:srgbClr val="34C4C4"/>
                </a:solidFill>
                <a:latin typeface="Calibri"/>
              </a:rPr>
              <a:t>Kopf, Herz und Handeln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880360"/>
            <a:ext cx="7955279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D8DBE6"/>
                </a:solidFill>
                <a:latin typeface="Calibri"/>
              </a:rPr>
              <a:t>Dein Denken, Fühlen und Handeln ziehen meist an einem Strang. Du triffst Entscheidungen aus innerer Stimmigkeit statt aus Angst und spürst eine ruhige, klare Richtung.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4800600"/>
            <a:ext cx="7772400" cy="10972"/>
          </a:xfrm>
          <a:prstGeom prst="rect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4983480"/>
            <a:ext cx="795527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50" b="1" i="0" spc="240">
                <a:solidFill>
                  <a:srgbClr val="21B2BD"/>
                </a:solidFill>
                <a:latin typeface="Calibri"/>
              </a:rPr>
              <a:t>REFLEXION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5303520"/>
            <a:ext cx="795527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1600" b="0" i="1">
                <a:solidFill>
                  <a:srgbClr val="FFFFFF"/>
                </a:solidFill>
                <a:latin typeface="Calibri"/>
              </a:rPr>
              <a:t>Wo ziehen Kopf, Herz und Handeln bei dir schon an einem Strang – und wo nicht?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19" y="1005840"/>
            <a:ext cx="2743200" cy="2926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0" b="1" i="0">
                <a:solidFill>
                  <a:srgbClr val="1A2233"/>
                </a:solidFill>
                <a:latin typeface="Cambria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1800" y="123444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STUFE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64592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Meisterschaft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233172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00" b="1" i="0">
                <a:solidFill>
                  <a:srgbClr val="34C4C4"/>
                </a:solidFill>
                <a:latin typeface="Calibri"/>
              </a:rPr>
              <a:t>Du gestaltest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880360"/>
            <a:ext cx="7955279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D8DBE6"/>
                </a:solidFill>
                <a:latin typeface="Calibri"/>
              </a:rPr>
              <a:t>Du ruhst so in dir, dass äußere Umstände dich selten aus der Mitte werfen. Auch in Herausforderungen bleibst du präsent und gibst aus innerer Freiheit etwas weiter.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4800600"/>
            <a:ext cx="7772400" cy="10972"/>
          </a:xfrm>
          <a:prstGeom prst="rect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4983480"/>
            <a:ext cx="795527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50" b="1" i="0" spc="240">
                <a:solidFill>
                  <a:srgbClr val="21B2BD"/>
                </a:solidFill>
                <a:latin typeface="Calibri"/>
              </a:rPr>
              <a:t>REFLEXION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5303520"/>
            <a:ext cx="795527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1600" b="0" i="1">
                <a:solidFill>
                  <a:srgbClr val="FFFFFF"/>
                </a:solidFill>
                <a:latin typeface="Calibri"/>
              </a:rPr>
              <a:t>Was von dem, was du gefunden hast, könntest du für andere nutzbar machen?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21B2BD"/>
                </a:solidFill>
                <a:latin typeface="Calibri"/>
              </a:rPr>
              <a:t>ÜBUNG 2 · DEIN PROFIL DEUTEN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24128"/>
            <a:ext cx="1045433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Wo stehst du – und was kommt jetzt?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965960"/>
            <a:ext cx="420624" cy="420624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7048" y="1947672"/>
            <a:ext cx="9795967" cy="73151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1550" b="0" i="0">
                <a:solidFill>
                  <a:srgbClr val="D8DBE6"/>
                </a:solidFill>
                <a:latin typeface="Calibri"/>
              </a:rPr>
              <a:t>Schau auf deine sieben Werte: Wo ist eine Stufe verankert, wo im Aufbau, wo Entwicklungsraum?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697479"/>
            <a:ext cx="420624" cy="420624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2679191"/>
            <a:ext cx="9795967" cy="73151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1550" b="0" i="0">
                <a:solidFill>
                  <a:srgbClr val="D8DBE6"/>
                </a:solidFill>
                <a:latin typeface="Calibri"/>
              </a:rPr>
              <a:t>Markiere deinen Schwerpunkt – die Stufe mit der höchsten Punktzahl.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429000"/>
            <a:ext cx="420624" cy="420624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3410712"/>
            <a:ext cx="9795967" cy="73151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1550" b="0" i="0">
                <a:solidFill>
                  <a:srgbClr val="D8DBE6"/>
                </a:solidFill>
                <a:latin typeface="Calibri"/>
              </a:rPr>
              <a:t>Frag dich ehrlich: Wackelt darunter eine Grundlage, die weiter oben viel trägt?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60520"/>
            <a:ext cx="420624" cy="420624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4142232"/>
            <a:ext cx="9795967" cy="73151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1550" b="0" i="0">
                <a:solidFill>
                  <a:srgbClr val="D8DBE6"/>
                </a:solidFill>
                <a:latin typeface="Calibri"/>
              </a:rPr>
              <a:t>Notiere einen einzigen nächsten Schritt für die Stufe, die dich gerade am meisten einlädt.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166360"/>
            <a:ext cx="10454335" cy="1051560"/>
          </a:xfrm>
          <a:prstGeom prst="roundRect">
            <a:avLst>
              <a:gd name="adj" fmla="val 11000"/>
            </a:avLst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5349240"/>
            <a:ext cx="981425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50" b="1" i="0" spc="240">
                <a:solidFill>
                  <a:srgbClr val="8CC63F"/>
                </a:solidFill>
                <a:latin typeface="Calibri"/>
              </a:rPr>
              <a:t>MITNEHMEN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5669280"/>
            <a:ext cx="981425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1450" b="0" i="1">
                <a:solidFill>
                  <a:srgbClr val="FFFFFF"/>
                </a:solidFill>
                <a:latin typeface="Calibri"/>
              </a:rPr>
              <a:t>Nicht alles auf einmal. Ein Schritt, der wirklich zu dir passt, reicht.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WAS BLEIBT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24128"/>
            <a:ext cx="1045433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Drei Dinge zum Mitnehmen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286000"/>
            <a:ext cx="3240938" cy="3108960"/>
          </a:xfrm>
          <a:prstGeom prst="roundRect">
            <a:avLst>
              <a:gd name="adj" fmla="val 8000"/>
            </a:avLst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19" y="2651760"/>
            <a:ext cx="640080" cy="640080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19" y="3520440"/>
            <a:ext cx="260085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Ehrlichkeit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4069080"/>
            <a:ext cx="2600858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400" b="0" i="0">
                <a:solidFill>
                  <a:srgbClr val="D8DBE6"/>
                </a:solidFill>
                <a:latin typeface="Calibri"/>
              </a:rPr>
              <a:t>Der Anfang jeder Entwicklung ist ein ehrlicher Blick darauf, wo du stehst.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75378" y="2286000"/>
            <a:ext cx="3240938" cy="3108960"/>
          </a:xfrm>
          <a:prstGeom prst="roundRect">
            <a:avLst>
              <a:gd name="adj" fmla="val 8000"/>
            </a:avLst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95418" y="2651760"/>
            <a:ext cx="640080" cy="640080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5418" y="3520440"/>
            <a:ext cx="260085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Landkarte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95418" y="4069080"/>
            <a:ext cx="2600858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400" b="0" i="0">
                <a:solidFill>
                  <a:srgbClr val="D8DBE6"/>
                </a:solidFill>
                <a:latin typeface="Calibri"/>
              </a:rPr>
              <a:t>Die sieben Stufen zeigen dir nicht ein Urteil, sondern eine Richtung.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2076" y="2286000"/>
            <a:ext cx="3240938" cy="3108960"/>
          </a:xfrm>
          <a:prstGeom prst="roundRect">
            <a:avLst>
              <a:gd name="adj" fmla="val 8000"/>
            </a:avLst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02116" y="2651760"/>
            <a:ext cx="640080" cy="640080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2116" y="3520440"/>
            <a:ext cx="260085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Schritt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2116" y="4069080"/>
            <a:ext cx="2600858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400" b="0" i="0">
                <a:solidFill>
                  <a:srgbClr val="D8DBE6"/>
                </a:solidFill>
                <a:latin typeface="Calibri"/>
              </a:rPr>
              <a:t>Ein einziger, konkreter nächster Schritt bewegt mehr als ein großer Plan.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400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WIE ES WEITERGEHT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24128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mbria"/>
              </a:rPr>
              <a:t>Dein Weg durch die sieben Stufen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2468880"/>
            <a:ext cx="365760" cy="365760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7" y="2450592"/>
            <a:ext cx="603504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50" b="0" i="0">
                <a:solidFill>
                  <a:srgbClr val="D8DBE6"/>
                </a:solidFill>
                <a:latin typeface="Calibri"/>
              </a:rPr>
              <a:t>Alle sieben Stufen als geführter Weg im Mitgliederbereich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3127248"/>
            <a:ext cx="365760" cy="365760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7" y="3108960"/>
            <a:ext cx="603504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50" b="0" i="0">
                <a:solidFill>
                  <a:srgbClr val="D8DBE6"/>
                </a:solidFill>
                <a:latin typeface="Calibri"/>
              </a:rPr>
              <a:t>Dein Gedankenprofil mit persönlicher Bedarfsanalyse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785616"/>
            <a:ext cx="365760" cy="365760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3767328"/>
            <a:ext cx="603504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50" b="0" i="0">
                <a:solidFill>
                  <a:srgbClr val="D8DBE6"/>
                </a:solidFill>
                <a:latin typeface="Calibri"/>
              </a:rPr>
              <a:t>Praxisübungen und Vertiefungen passend zu deiner Stufe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443984"/>
            <a:ext cx="365760" cy="365760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4425696"/>
            <a:ext cx="603504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50" b="0" i="0">
                <a:solidFill>
                  <a:srgbClr val="D8DBE6"/>
                </a:solidFill>
                <a:latin typeface="Calibri"/>
              </a:rPr>
              <a:t>Test jederzeit wiederholbar – dein Profil wächst mit dir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286000"/>
            <a:ext cx="3520440" cy="2468880"/>
          </a:xfrm>
          <a:prstGeom prst="roundRect">
            <a:avLst>
              <a:gd name="adj" fmla="val 9000"/>
            </a:avLst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60604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600" b="1" i="0">
                <a:solidFill>
                  <a:srgbClr val="34C4C4"/>
                </a:solidFill>
                <a:latin typeface="Cambria"/>
              </a:rPr>
              <a:t>49 €</a:t>
            </a:r>
            <a:r>
              <a:rPr sz="1500" b="0" i="0">
                <a:solidFill>
                  <a:srgbClr val="AEB6C6"/>
                </a:solidFill>
                <a:latin typeface="Calibri"/>
              </a:rPr>
              <a:t> / Monat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6118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Mitgliedschaft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02336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AEB6C6"/>
                </a:solidFill>
                <a:latin typeface="Calibri"/>
              </a:rPr>
              <a:t>werdemeisterdeinergedanken.de/mitgliedschaft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06440"/>
            <a:ext cx="1045433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50" b="0" i="1">
                <a:solidFill>
                  <a:srgbClr val="A3D64F"/>
                </a:solidFill>
                <a:latin typeface="Calibri"/>
              </a:rPr>
              <a:t>Erster Schritt kostenlos: der Bewusstseinstest.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194560"/>
            <a:ext cx="10454335" cy="1463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Werde Meister deiner </a:t>
            </a:r>
            <a:r>
              <a:rPr sz="4000" b="1" i="0">
                <a:solidFill>
                  <a:srgbClr val="34C4C4"/>
                </a:solidFill>
                <a:latin typeface="Cambria"/>
              </a:rPr>
              <a:t>Gedanken</a:t>
            </a:r>
            <a:r>
              <a:rPr sz="4000" b="1" i="0">
                <a:solidFill>
                  <a:srgbClr val="FFFFFF"/>
                </a:solidFill>
                <a:latin typeface="Cambria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977639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700" b="0" i="0">
                <a:solidFill>
                  <a:srgbClr val="D8DBE6"/>
                </a:solidFill>
                <a:latin typeface="Calibri"/>
              </a:rPr>
              <a:t>Danke, dass du heute dabei warst.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98932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0" i="0">
                <a:solidFill>
                  <a:srgbClr val="AEB6C6"/>
                </a:solidFill>
                <a:latin typeface="Calibri"/>
              </a:rPr>
              <a:t>werdemeisterdeinergedanken.de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