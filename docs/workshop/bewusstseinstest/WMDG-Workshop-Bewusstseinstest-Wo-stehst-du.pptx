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Begrüßung. Kurz vorstellen. Rahmen setzen: heute geht es ums bewusste Sehen, nicht um Ratschläge. Vertraulichkeit im Raum betonen.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ruhig durchgehen. Zeitrahmen nennen. Frage in die Runde: Was möchtet ihr heute mitnehmen?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Wirken lassen. Kurze Stille nach dem Satz.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Betonen: kein richtig oder falsch. Der Wert liegt in der Ehrlichkeit gegenüber sich selbst.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Ruhe im Raum halten. Zeit geben. Wer keinen Zugang hat, arbeitet mit dem gedruckten Bogen im Workbook.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Übergang: Jetzt haben alle einen Wert. Bevor wir deuten, verstehen wir, was die Stufen bedeuten.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Keine Stufe ist besser als die andere. Es ist ein Weg, kein Ranking. Kurz die Reihenfolge nachfahren.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 Makel. Das System hält uns so funktionsfähig. Entlastend rahmen.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Erwachen ist unbequem. Neugier statt Selbstkritik betonen.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innere Beobachter ist das Fundament. Aber Beobachten allein verändert noch nicht.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Behutsam. Kann berühren. Nach der Reflexion kurze Stille 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Vom Bewältigen zum Gestalten. Vision und Handlung gehören zusammen.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Kohärenz auch unter Druck zu halten ist die Kunst. Ruhig 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Meisterschaft ist kein Besitz, sondern tägliche Haltung. Mit Demut rahmen.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Betonen: Das Profil bewertet nicht, es spiegelt. Der nächste Schritt darf klein sein.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Ruhig zusammenfassen. Die drei Worte langsam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 Druck. Einladung, nicht Verkauf. Auf den kostenlosen Test hinweisen.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Warm abschließen. Kurze Stille, dann Raum für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1691640"/>
            <a:ext cx="27432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0972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A3D64F"/>
                </a:solidFill>
                <a:latin typeface="Calibri"/>
              </a:rPr>
              <a:t>WORKSHOP · SELBSTERKENNTNIS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955279" cy="228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mbria"/>
              </a:rPr>
              <a:t>Wo stehst du</a:t>
            </a:r>
          </a:p>
          <a:p>
            <a:pPr>
              <a:lnSpc>
                <a:spcPct val="100000"/>
              </a:lnSpc>
            </a:pPr>
            <a:r>
              <a:rPr sz="4400" b="0" i="0">
                <a:solidFill>
                  <a:srgbClr val="34C4C4"/>
                </a:solidFill>
                <a:latin typeface="Cambria"/>
              </a:rPr>
              <a:t>gerade?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6052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D8DBE6"/>
                </a:solidFill>
                <a:latin typeface="Calibri"/>
              </a:rPr>
              <a:t>Bewusstseinstest &amp; Gedankenprofil. Ein ehrlicher Blick auf deine sieben Stufen – und den nächsten Schritt.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AEB6C6"/>
                </a:solidFill>
                <a:latin typeface="Calibri"/>
              </a:rPr>
              <a:t>Heiko Schwaninger  ·  werdemeisterdeinergedanken.de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3000"/>
              </a:lnSpc>
            </a:pPr>
            <a:r>
              <a:rPr sz="3800" b="1" i="0">
                <a:solidFill>
                  <a:srgbClr val="1A2233"/>
                </a:solidFill>
                <a:latin typeface="Cambria"/>
              </a:rPr>
              <a:t>Was dich heute erwartet</a:t>
            </a:r>
          </a:p>
        </p:txBody>
      </p:sp>
      <p:pic>
        <p:nvPicPr>
          <p:cNvPr id="4" name="Picture 3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965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100" b="1" i="0">
                <a:solidFill>
                  <a:srgbClr val="08102A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929384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 i="0">
                <a:solidFill>
                  <a:srgbClr val="1A2233"/>
                </a:solidFill>
                <a:latin typeface="Calibri"/>
              </a:rPr>
              <a:t>Ankommen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295144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 i="0">
                <a:solidFill>
                  <a:srgbClr val="48524E"/>
                </a:solidFill>
                <a:latin typeface="Calibri"/>
              </a:rPr>
              <a:t>Warum eine ehrliche Selbsteinschätzung der Anfang jeder Entwicklung ist.</a:t>
            </a:r>
          </a:p>
        </p:txBody>
      </p:sp>
      <p:pic>
        <p:nvPicPr>
          <p:cNvPr id="8" name="Picture 7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62072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207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100" b="1" i="0">
                <a:solidFill>
                  <a:srgbClr val="08102A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825496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 i="0">
                <a:solidFill>
                  <a:srgbClr val="1A2233"/>
                </a:solidFill>
                <a:latin typeface="Calibri"/>
              </a:rPr>
              <a:t>Der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191256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 i="0">
                <a:solidFill>
                  <a:srgbClr val="48524E"/>
                </a:solidFill>
                <a:latin typeface="Calibri"/>
              </a:rPr>
              <a:t>21 Aussagen, sieben Stufen – du machst den Bewusstseinstest selbst.</a:t>
            </a:r>
          </a:p>
        </p:txBody>
      </p:sp>
      <p:pic>
        <p:nvPicPr>
          <p:cNvPr id="12" name="Picture 1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758183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5818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100" b="1" i="0">
                <a:solidFill>
                  <a:srgbClr val="08102A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21607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 i="0">
                <a:solidFill>
                  <a:srgbClr val="1A2233"/>
                </a:solidFill>
                <a:latin typeface="Calibri"/>
              </a:rPr>
              <a:t>Die Landkarte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087368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 i="0">
                <a:solidFill>
                  <a:srgbClr val="48524E"/>
                </a:solidFill>
                <a:latin typeface="Calibri"/>
              </a:rPr>
              <a:t>Die sieben Stufen der Bewusstseinsentwicklung im Überblick.</a:t>
            </a:r>
          </a:p>
        </p:txBody>
      </p:sp>
      <p:pic>
        <p:nvPicPr>
          <p:cNvPr id="16" name="Picture 15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65429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6542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100" b="1" i="0">
                <a:solidFill>
                  <a:srgbClr val="08102A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617720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 i="0">
                <a:solidFill>
                  <a:srgbClr val="1A2233"/>
                </a:solidFill>
                <a:latin typeface="Calibri"/>
              </a:rPr>
              <a:t>Die Dimensionen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983480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 i="0">
                <a:solidFill>
                  <a:srgbClr val="48524E"/>
                </a:solidFill>
                <a:latin typeface="Calibri"/>
              </a:rPr>
              <a:t>Jede Stufe einzeln verstehen – was sie misst und wozu sie einlädt.</a:t>
            </a:r>
          </a:p>
        </p:txBody>
      </p:sp>
      <p:pic>
        <p:nvPicPr>
          <p:cNvPr id="20" name="Picture 19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550408"/>
            <a:ext cx="566928" cy="5669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55040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100" b="1" i="0">
                <a:solidFill>
                  <a:srgbClr val="08102A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5513832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1" i="0">
                <a:solidFill>
                  <a:srgbClr val="1A2233"/>
                </a:solidFill>
                <a:latin typeface="Calibri"/>
              </a:rPr>
              <a:t>Dein Profil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879592"/>
            <a:ext cx="9692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0" i="0">
                <a:solidFill>
                  <a:srgbClr val="48524E"/>
                </a:solidFill>
                <a:latin typeface="Calibri"/>
              </a:rPr>
              <a:t>Dein eigenes Ergebnis deuten und den nächsten Schritt festhalten.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05840" y="2011680"/>
            <a:ext cx="1014984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Veränderung beginnt nicht mit einem Ziel, sondern mit einer ehrlichen Frage: </a:t>
            </a:r>
            <a:r>
              <a:rPr sz="4000" b="1" i="0">
                <a:solidFill>
                  <a:srgbClr val="A3D64F"/>
                </a:solidFill>
                <a:latin typeface="Cambria"/>
              </a:rPr>
              <a:t>Wo stehst du gerade?</a:t>
            </a:r>
            <a:r>
              <a:rPr sz="4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457200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700" b="0" i="0">
                <a:solidFill>
                  <a:srgbClr val="C3CCDD"/>
                </a:solidFill>
                <a:latin typeface="Calibri"/>
              </a:rPr>
              <a:t>Der Test macht aus dieser Frage eine Landkarte deiner sieben Stufen.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AUSGANGSPUNKT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704088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A2233"/>
                </a:solidFill>
                <a:latin typeface="Cambria"/>
              </a:rPr>
              <a:t>Ein Spiegel, kein Urteil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676656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50" b="0" i="0">
                <a:solidFill>
                  <a:srgbClr val="48524E"/>
                </a:solidFill>
                <a:latin typeface="Calibri"/>
              </a:rPr>
              <a:t>Der Bewusstseinstest ist keine Prüfung und keine Vorhersage. Er fasst nur zusammen, was du selbst einbringst – ein ehrlicher Spiegel, der mit jedem neuen Durchgang schärfer wird.</a:t>
            </a:r>
          </a:p>
          <a:p>
            <a:pPr>
              <a:lnSpc>
                <a:spcPct val="130000"/>
              </a:lnSpc>
            </a:pPr>
            <a:r>
              <a:rPr sz="1650" b="0" i="0">
                <a:solidFill>
                  <a:srgbClr val="48524E"/>
                </a:solidFill>
                <a:latin typeface="Calibri"/>
              </a:rPr>
              <a:t>Sieben Stufen, von Autopilot bis Meisterschaft. Jede wird über drei Aussagen erfasst, jede Antwort auf einer Skala von „trifft gar nicht zu“ bis „trifft voll zu“.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155448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081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21488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00" b="1" i="0" spc="200">
                <a:solidFill>
                  <a:srgbClr val="A3D64F"/>
                </a:solidFill>
                <a:latin typeface="Calibri"/>
              </a:rPr>
              <a:t>GENAU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2560320"/>
            <a:ext cx="347472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000" b="1" i="0">
                <a:solidFill>
                  <a:srgbClr val="A3D64F"/>
                </a:solidFill>
                <a:latin typeface="Cambria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36118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Aussagen · 3 pro Stufe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114800"/>
            <a:ext cx="301752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C3CCDD"/>
                </a:solidFill>
                <a:latin typeface="Calibri"/>
              </a:rPr>
              <a:t>Sieben Stufen, etwa fünf Minuten – daraus entsteht dein Gedankenprofil.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ÜBUNG 1 · 10 MINUTEN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600" b="1" i="0">
                <a:solidFill>
                  <a:srgbClr val="1A2233"/>
                </a:solidFill>
                <a:latin typeface="Cambria"/>
              </a:rPr>
              <a:t>Mach den Test</a:t>
            </a:r>
          </a:p>
        </p:txBody>
      </p:sp>
      <p:pic>
        <p:nvPicPr>
          <p:cNvPr id="4" name="Picture 3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1488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30552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Öffne den Bewusstseinstest auf werdemeisterdeinergedanken.de/bewusstseinstest.</a:t>
            </a:r>
          </a:p>
        </p:txBody>
      </p:sp>
      <p:pic>
        <p:nvPicPr>
          <p:cNvPr id="7" name="Picture 6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90088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299008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971800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Lies jede der 21 Aussagen und antworte spontan, nicht wie du sein möchtest.</a:t>
            </a:r>
          </a:p>
        </p:txBody>
      </p:sp>
      <p:pic>
        <p:nvPicPr>
          <p:cNvPr id="10" name="Picture 9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83133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383133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13048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Wähle bei jeder Aussage einen Wert von „trifft gar nicht zu“ bis „trifft voll zu“.</a:t>
            </a:r>
          </a:p>
        </p:txBody>
      </p:sp>
      <p:pic>
        <p:nvPicPr>
          <p:cNvPr id="13" name="Picture 12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672584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72584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654296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Notiere dir am Ende deine Schwerpunkt-Stufe – die mit der höchsten Punktzahl.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2148840"/>
            <a:ext cx="3154680" cy="3200400"/>
          </a:xfrm>
          <a:prstGeom prst="roundRect">
            <a:avLst>
              <a:gd name="adj" fmla="val 9000"/>
            </a:avLst>
          </a:prstGeom>
          <a:solidFill>
            <a:srgbClr val="081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423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A3D64F"/>
                </a:solidFill>
                <a:latin typeface="Calibri"/>
              </a:rPr>
              <a:t>MITNEHMEN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788920"/>
            <a:ext cx="274320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Deine erste Antwort ist meist die ehrlichste. Vertrau ihr.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05840" y="21488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A3D64F"/>
                </a:solidFill>
                <a:latin typeface="Calibri"/>
              </a:rPr>
              <a:t>DIE STUFEN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51460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4200" b="1" i="0">
                <a:solidFill>
                  <a:srgbClr val="FFFFFF"/>
                </a:solidFill>
                <a:latin typeface="Cambria"/>
              </a:rPr>
              <a:t>Deine sieben Stufen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703320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700" b="0" i="0">
                <a:solidFill>
                  <a:srgbClr val="C3CCDD"/>
                </a:solidFill>
                <a:latin typeface="Calibri"/>
              </a:rPr>
              <a:t>Jede Stufe ist eine Dimension deiner Selbsteinschätzung – schauen wir sie einzeln 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DIE LANDKARTE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3000"/>
              </a:lnSpc>
            </a:pPr>
            <a:r>
              <a:rPr sz="2800" b="1" i="0">
                <a:solidFill>
                  <a:srgbClr val="1A2233"/>
                </a:solidFill>
                <a:latin typeface="Cambria"/>
              </a:rPr>
              <a:t>Die sieben Stufen im Überblick</a:t>
            </a:r>
          </a:p>
        </p:txBody>
      </p:sp>
      <p:pic>
        <p:nvPicPr>
          <p:cNvPr id="4" name="Picture 3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03504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82880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1051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Autopilot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14884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Du wirst gelebt</a:t>
            </a:r>
          </a:p>
        </p:txBody>
      </p:sp>
      <p:pic>
        <p:nvPicPr>
          <p:cNvPr id="8" name="Picture 7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03220"/>
            <a:ext cx="603504" cy="603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290322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88493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Erwachen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22326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Du bemerkst es</a:t>
            </a:r>
          </a:p>
        </p:txBody>
      </p:sp>
      <p:pic>
        <p:nvPicPr>
          <p:cNvPr id="12" name="Picture 1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77639"/>
            <a:ext cx="603504" cy="603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20" y="3977639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5935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Selbstbeobachtung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29767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Du siehst dir zu</a:t>
            </a:r>
          </a:p>
        </p:txBody>
      </p:sp>
      <p:pic>
        <p:nvPicPr>
          <p:cNvPr id="16" name="Picture 15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52060"/>
            <a:ext cx="603504" cy="6035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" y="50520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3377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Emotionale Reifung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7210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Du lässt los</a:t>
            </a:r>
          </a:p>
        </p:txBody>
      </p:sp>
      <p:pic>
        <p:nvPicPr>
          <p:cNvPr id="20" name="Picture 19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828800"/>
            <a:ext cx="603504" cy="6035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46520" y="182880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181051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Schöpferkraft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14884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Du erschaffst bewusst</a:t>
            </a:r>
          </a:p>
        </p:txBody>
      </p:sp>
      <p:pic>
        <p:nvPicPr>
          <p:cNvPr id="24" name="Picture 23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903220"/>
            <a:ext cx="603504" cy="6035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46520" y="290322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288493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Innere Ausrichtung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22326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Kopf, Herz und Handeln</a:t>
            </a:r>
          </a:p>
        </p:txBody>
      </p:sp>
      <p:pic>
        <p:nvPicPr>
          <p:cNvPr id="28" name="Picture 27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3977639"/>
            <a:ext cx="603504" cy="60350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46520" y="3977639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200" b="1" i="0">
                <a:solidFill>
                  <a:srgbClr val="08102A"/>
                </a:solidFill>
                <a:latin typeface="Cambria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395935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1A2233"/>
                </a:solidFill>
                <a:latin typeface="Calibri"/>
              </a:rPr>
              <a:t>Meisterschaft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429767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0" i="0">
                <a:solidFill>
                  <a:srgbClr val="21B2BD"/>
                </a:solidFill>
                <a:latin typeface="Calibri"/>
              </a:rPr>
              <a:t>Du gestaltest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STUFE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Autopilot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Du wirst gelebt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Reaktionen, Gewohnheiten und Gedanken laufen weitgehend automatisch ab, ohne dass du sie bewusst wählst. Der erste Schritt ist, den Autopiloten überhaupt zu bemerken.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Wo reagierst du im Alltag, ohne es zu merken?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STUFE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Erwachen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Du bemerkst 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Du spürst zunehmend, dass etwas nicht mehr stimmt – auch wenn du es noch nicht benennen kannst. Du beginnst zu hinterfragen, warum du bestimmte Dinge tust.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Was in deinem Leben fühlt sich gerade nicht mehr ganz stimmig an?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STUFE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Selbstbeobachtung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Du siehst dir zu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Du kannst deine Gedanken beobachten, ohne ihnen sofort zu glauben, und bemerkst, wenn ein altes Muster anspringt. Immer öfter hältst du kurz inne, bevor du reagierst.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Welches Muster erkennst du an dir – auch wenn es noch anspringt?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STUFE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Emotionale Reifung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Du lässt los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Du kannst schwierige Gefühle zulassen und aushalten, ohne sie wegzudrücken. Alte Verletzungen verlieren an Macht, und du übernimmst Verantwortung für deine Gefühle.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Welches alte Gefühl möchte gerade eigentlich losgelassen werden?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STUFE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Schöpferkraft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Du erschaffst bewusst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Du wählst bewusst Gedanken, die dich stärken, und erlebst, dass deine innere Ausrichtung deine äußere Realität beeinflusst. Vor allem setzt du das Erkannte in Handlungen 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Was möchtest du bewusst gestalten – und welcher kleine Schritt gehört dazu?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STUFE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Innere Ausrichtung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Kopf, Herz und Handeln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Dein Denken, Fühlen und Handeln ziehen meist an einem Strang. Du triffst Entscheidungen aus innerer Stimmigkeit statt aus Angst und spürst eine ruhige, klare Richtung.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Wo ziehen Kopf, Herz und Handeln bei dir schon an einem Strang – und wo nicht?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100" b="1" i="0">
                <a:solidFill>
                  <a:srgbClr val="08102A"/>
                </a:solidFill>
                <a:latin typeface="Cambr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300" b="1" i="0" spc="240">
                <a:solidFill>
                  <a:srgbClr val="4F9E1C"/>
                </a:solidFill>
                <a:latin typeface="Calibri"/>
              </a:rPr>
              <a:t>STUFE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9601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2000"/>
              </a:lnSpc>
            </a:pPr>
            <a:r>
              <a:rPr sz="3100" b="1" i="0">
                <a:solidFill>
                  <a:srgbClr val="1A2233"/>
                </a:solidFill>
                <a:latin typeface="Cambria"/>
              </a:rPr>
              <a:t>Meisterschaft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74519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 i="0">
                <a:solidFill>
                  <a:srgbClr val="21B2BD"/>
                </a:solidFill>
                <a:latin typeface="Calibri"/>
              </a:rPr>
              <a:t>Du gestaltest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48524E"/>
                </a:solidFill>
                <a:latin typeface="Calibri"/>
              </a:rPr>
              <a:t>Du ruhst so in dir, dass äußere Umstände dich selten aus der Mitte werfen. Auch in Herausforderungen bleibst du präsent und gibst aus innerer Freiheit etwas weiter.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9000"/>
            </a:avLst>
          </a:prstGeom>
          <a:solidFill>
            <a:srgbClr val="E7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21B2BD"/>
                </a:solidFill>
                <a:latin typeface="Calibri"/>
              </a:rPr>
              <a:t>REFLEXION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8000"/>
              </a:lnSpc>
            </a:pPr>
            <a:r>
              <a:rPr sz="1600" b="0" i="0">
                <a:solidFill>
                  <a:srgbClr val="1A2233"/>
                </a:solidFill>
                <a:latin typeface="Calibri"/>
              </a:rPr>
              <a:t>Was von dem, was du gefunden hast, könntest du für andere nutzbar machen?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ÜBUNG 2 · DEIN PROFIL DEUTEN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600" b="1" i="0">
                <a:solidFill>
                  <a:srgbClr val="1A2233"/>
                </a:solidFill>
                <a:latin typeface="Cambria"/>
              </a:rPr>
              <a:t>Wo stehst du – und was kommt jetzt?</a:t>
            </a:r>
          </a:p>
        </p:txBody>
      </p:sp>
      <p:pic>
        <p:nvPicPr>
          <p:cNvPr id="4" name="Picture 3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1488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30552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Schau auf deine sieben Werte: Wo ist eine Stufe verankert, wo im Aufbau, wo Entwicklungsraum?</a:t>
            </a:r>
          </a:p>
        </p:txBody>
      </p:sp>
      <p:pic>
        <p:nvPicPr>
          <p:cNvPr id="7" name="Picture 6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90088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299008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971800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Markiere deinen Schwerpunkt – die Stufe mit der höchsten Punktzahl.</a:t>
            </a:r>
          </a:p>
        </p:txBody>
      </p:sp>
      <p:pic>
        <p:nvPicPr>
          <p:cNvPr id="10" name="Picture 9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83133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383133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13048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Frag dich ehrlich: Wackelt darunter eine Grundlage, die weiter oben viel trägt?</a:t>
            </a:r>
          </a:p>
        </p:txBody>
      </p:sp>
      <p:pic>
        <p:nvPicPr>
          <p:cNvPr id="13" name="Picture 12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672584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72584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900" b="1" i="0">
                <a:solidFill>
                  <a:srgbClr val="08102A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654296"/>
            <a:ext cx="640080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1650" b="0" i="0">
                <a:solidFill>
                  <a:srgbClr val="1A2233"/>
                </a:solidFill>
                <a:latin typeface="Calibri"/>
              </a:rPr>
              <a:t>Notiere einen einzigen nächsten Schritt für die Stufe, die dich gerade am meisten einlädt.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2148840"/>
            <a:ext cx="3154680" cy="3200400"/>
          </a:xfrm>
          <a:prstGeom prst="roundRect">
            <a:avLst>
              <a:gd name="adj" fmla="val 9000"/>
            </a:avLst>
          </a:prstGeom>
          <a:solidFill>
            <a:srgbClr val="081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4231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100" b="1" i="0" spc="240">
                <a:solidFill>
                  <a:srgbClr val="A3D64F"/>
                </a:solidFill>
                <a:latin typeface="Calibri"/>
              </a:rPr>
              <a:t>MITNEHMEN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788920"/>
            <a:ext cx="274320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Nicht alles auf einmal. Ein Schritt, der wirklich zu dir passt, reicht.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4F9E1C"/>
                </a:solidFill>
                <a:latin typeface="Calibri"/>
              </a:rPr>
              <a:t>WAS BLEIBT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3000"/>
              </a:lnSpc>
            </a:pPr>
            <a:r>
              <a:rPr sz="3400" b="1" i="0">
                <a:solidFill>
                  <a:srgbClr val="1A2233"/>
                </a:solidFill>
                <a:latin typeface="Cambria"/>
              </a:rPr>
              <a:t>Drei Dinge zum Mitnehmen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3368040" cy="3108960"/>
          </a:xfrm>
          <a:prstGeom prst="roundRect">
            <a:avLst>
              <a:gd name="adj" fmla="val 7000"/>
            </a:avLst>
          </a:prstGeom>
          <a:solidFill>
            <a:srgbClr val="F2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51460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25146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400" b="1" i="0">
                <a:solidFill>
                  <a:srgbClr val="08102A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83280"/>
            <a:ext cx="2727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 i="0">
                <a:solidFill>
                  <a:srgbClr val="1A2233"/>
                </a:solidFill>
                <a:latin typeface="Cambria"/>
              </a:rPr>
              <a:t>Ehrlichkeit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886200"/>
            <a:ext cx="272796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48524E"/>
                </a:solidFill>
                <a:latin typeface="Calibri"/>
              </a:rPr>
              <a:t>Der Anfang jeder Entwicklung ist ein ehrlicher Blick darauf, wo du stehst.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9600" y="2194560"/>
            <a:ext cx="3368040" cy="3108960"/>
          </a:xfrm>
          <a:prstGeom prst="roundRect">
            <a:avLst>
              <a:gd name="adj" fmla="val 7000"/>
            </a:avLst>
          </a:prstGeom>
          <a:solidFill>
            <a:srgbClr val="F2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639" y="251460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39639" y="25146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400" b="1" i="0">
                <a:solidFill>
                  <a:srgbClr val="08102A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9639" y="3383280"/>
            <a:ext cx="2727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 i="0">
                <a:solidFill>
                  <a:srgbClr val="1A2233"/>
                </a:solidFill>
                <a:latin typeface="Cambria"/>
              </a:rPr>
              <a:t>Landkarte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9639" y="3886200"/>
            <a:ext cx="272796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48524E"/>
                </a:solidFill>
                <a:latin typeface="Calibri"/>
              </a:rPr>
              <a:t>Die sieben Stufen zeigen dir nicht ein Urteil, sondern eine Richtung.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2194560"/>
            <a:ext cx="3368040" cy="3108960"/>
          </a:xfrm>
          <a:prstGeom prst="roundRect">
            <a:avLst>
              <a:gd name="adj" fmla="val 7000"/>
            </a:avLst>
          </a:prstGeom>
          <a:solidFill>
            <a:srgbClr val="F2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7720" y="2514600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27720" y="25146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400" b="1" i="0">
                <a:solidFill>
                  <a:srgbClr val="08102A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7720" y="3383280"/>
            <a:ext cx="2727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 i="0">
                <a:solidFill>
                  <a:srgbClr val="1A2233"/>
                </a:solidFill>
                <a:latin typeface="Cambria"/>
              </a:rPr>
              <a:t>Schritt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7720" y="3886200"/>
            <a:ext cx="272796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48524E"/>
                </a:solidFill>
                <a:latin typeface="Calibri"/>
              </a:rPr>
              <a:t>Ein einziger, konkreter nächster Schritt bewegt mehr als ein großer Plan.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0058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spcAft>
                <a:spcPts val="600"/>
              </a:spcAft>
            </a:pPr>
            <a:r>
              <a:rPr sz="1200" b="1" i="0" spc="240">
                <a:solidFill>
                  <a:srgbClr val="A3D64F"/>
                </a:solidFill>
                <a:latin typeface="Calibri"/>
              </a:rPr>
              <a:t>WIE ES WEITERGEHT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3000"/>
              </a:lnSpc>
            </a:pPr>
            <a:r>
              <a:rPr sz="3800" b="1" i="0">
                <a:solidFill>
                  <a:srgbClr val="FFFFFF"/>
                </a:solidFill>
                <a:latin typeface="Cambria"/>
              </a:rPr>
              <a:t>Dein Weg durch die sieben Stufen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722376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1" i="0">
                <a:solidFill>
                  <a:srgbClr val="A3D64F"/>
                </a:solidFill>
                <a:latin typeface="Calibri"/>
              </a:rPr>
              <a:t>›  </a:t>
            </a:r>
            <a:r>
              <a:rPr sz="1700" b="0" i="0">
                <a:solidFill>
                  <a:srgbClr val="E7ECF5"/>
                </a:solidFill>
                <a:latin typeface="Calibri"/>
              </a:rPr>
              <a:t>Alle sieben Stufen als geführter Weg im Mitgliederbereich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1" i="0">
                <a:solidFill>
                  <a:srgbClr val="A3D64F"/>
                </a:solidFill>
                <a:latin typeface="Calibri"/>
              </a:rPr>
              <a:t>›  </a:t>
            </a:r>
            <a:r>
              <a:rPr sz="1700" b="0" i="0">
                <a:solidFill>
                  <a:srgbClr val="E7ECF5"/>
                </a:solidFill>
                <a:latin typeface="Calibri"/>
              </a:rPr>
              <a:t>Dein Gedankenprofil mit persönlicher Bedarfsanalyse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1" i="0">
                <a:solidFill>
                  <a:srgbClr val="A3D64F"/>
                </a:solidFill>
                <a:latin typeface="Calibri"/>
              </a:rPr>
              <a:t>›  </a:t>
            </a:r>
            <a:r>
              <a:rPr sz="1700" b="0" i="0">
                <a:solidFill>
                  <a:srgbClr val="E7ECF5"/>
                </a:solidFill>
                <a:latin typeface="Calibri"/>
              </a:rPr>
              <a:t>Praxisübungen und Vertiefungen passend zu deiner Stufe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1" i="0">
                <a:solidFill>
                  <a:srgbClr val="A3D64F"/>
                </a:solidFill>
                <a:latin typeface="Calibri"/>
              </a:rPr>
              <a:t>›  </a:t>
            </a:r>
            <a:r>
              <a:rPr sz="1700" b="0" i="0">
                <a:solidFill>
                  <a:srgbClr val="E7ECF5"/>
                </a:solidFill>
                <a:latin typeface="Calibri"/>
              </a:rPr>
              <a:t>Test jederzeit wiederholbar – dein Profil wächst mit dir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2651760"/>
            <a:ext cx="3017520" cy="1828800"/>
          </a:xfrm>
          <a:prstGeom prst="roundRect">
            <a:avLst>
              <a:gd name="adj" fmla="val 10000"/>
            </a:avLst>
          </a:prstGeom>
          <a:solidFill>
            <a:srgbClr val="0F1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28803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0" i="0">
                <a:solidFill>
                  <a:srgbClr val="AEB6C6"/>
                </a:solidFill>
                <a:latin typeface="Calibri"/>
              </a:rPr>
              <a:t>Mitgliedschaft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3246120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>49 €</a:t>
            </a:r>
            <a:r>
              <a:rPr sz="1600" b="0" i="0">
                <a:solidFill>
                  <a:srgbClr val="C3CCDD"/>
                </a:solidFill>
                <a:latin typeface="Calibri"/>
              </a:rPr>
              <a:t>  / Monat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406908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150" b="1" i="0">
                <a:solidFill>
                  <a:srgbClr val="A3D64F"/>
                </a:solidFill>
                <a:latin typeface="Calibri"/>
              </a:rPr>
              <a:t>werdemeisterdeinergedanken.de/mitgliedschaft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0" i="1">
                <a:solidFill>
                  <a:srgbClr val="C3CCDD"/>
                </a:solidFill>
                <a:latin typeface="Calibri"/>
              </a:rPr>
              <a:t>Erster Schritt kostenlos: der Bewusstseinstest.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872" y="1874519"/>
            <a:ext cx="1691951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749039"/>
            <a:ext cx="10360152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>Werde Meister deiner </a:t>
            </a:r>
            <a:r>
              <a:rPr sz="4000" b="1" i="0">
                <a:solidFill>
                  <a:srgbClr val="A3D64F"/>
                </a:solidFill>
                <a:latin typeface="Cambria"/>
              </a:rPr>
              <a:t>Gedanken</a:t>
            </a:r>
            <a:r>
              <a:rPr sz="4000" b="1" i="0">
                <a:solidFill>
                  <a:srgbClr val="FFFFFF"/>
                </a:solidFill>
                <a:latin typeface="Cambria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C3CCDD"/>
                </a:solidFill>
                <a:latin typeface="Calibri"/>
              </a:rPr>
              <a:t>Danke, dass du heute dabei warst.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34C4C4"/>
                </a:solidFill>
                <a:latin typeface="Calibri"/>
              </a:rPr>
              <a:t>werdemeisterdeinergedanken.de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