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Begrüßung. Kurz vorstellen. Rahmen setzen: heute geht es ums bewusste Sehen, nicht um Ratschläge. Vertraulichkeit im Raum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ruhig durchgehen. Zeitrahmen nennen. Frage in die Runde: Was möchtet ihr heute mitnehmen?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Wirken lassen. Kurze Stille nach dem Satz.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Zahl 7 nicht überhöhen. Betonen: Es geht nicht um Menge, sondern um Kontinuität.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 wirklich geben und die Stille aushalten. Niemand muss vorlesen – das Blatt bleibt privat.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Ruhiger Übergang. Klarmachen: Das sind Werkzeuge, keine Pflicht – jede:r nimmt mit, was passt.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durchgehen, nicht erklären. Die Tiefe kommt in den einzelnen Modul-Folien.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Anknüpfen an das Ritual Morgen-Ausrichtung: erst schreiben, dann zum Handy greifen.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Betonen: Es geht ums Sehen, nicht ums Ändern. Ein Wort genügt oft schon.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vormachen: einen Satz laut umformulieren. Der Unterschied ist sofort spürbar.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Ruhig lassen. Manche entdecken hier zum ersten Mal ein wiederkehrendes Muster – Raum dafür 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Sensibel moderieren. Zusichern, dass nichts geteilt wird. Wer mag, zerreißt das Blatt danach.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Warnen vor zu großen Sprüngen. Der neue Satz muss sich erreichbar anfühlen, sonst glaubt das System ihn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Anknüpfen an das Ritual Abend-Reflexion. Kein Selbst-Gericht, nur freundliches Bemerken.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Genug Zeit geben – das ist die Kern-Schreibübung des Tages. Bei Schritt 3 auf Glaubwürdigkeit 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Langsam sprechen. Jeden der drei Begriffe kurz stehen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 Verkaufsdruck. Als natürliche Fortsetzung des Geschriebenen anbieten, nicht als Pflicht.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Ruhig ausklingen lassen. Einladen, das erste Blatt gleich morgen wieder zur Hand zu 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69164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0972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1" i="0" spc="240">
                <a:solidFill>
                  <a:srgbClr val="A3D64F"/>
                </a:solidFill>
                <a:latin typeface="Calibri"/>
              </a:rPr>
              <a:t>WORKSHOP · JOURNALING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955279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mbria"/>
              </a:rPr>
              <a:t>Die Kraft der</a:t>
            </a:r>
          </a:p>
          <a:p>
            <a:pPr>
              <a:lnSpc>
                <a:spcPct val="100000"/>
              </a:lnSpc>
            </a:pPr>
            <a:r>
              <a:rPr sz="4400" b="0" i="0">
                <a:solidFill>
                  <a:srgbClr val="34C4C4"/>
                </a:solidFill>
                <a:latin typeface="Cambria"/>
              </a:rPr>
              <a:t>Reflexion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600" b="0" i="0">
                <a:solidFill>
                  <a:srgbClr val="D8DBE6"/>
                </a:solidFill>
                <a:latin typeface="Calibri"/>
              </a:rPr>
              <a:t>Schreiben schafft Abstand – und aus Abstand entsteht Klarheit. Ein Praxis-Halbtag rund um Journaling und tägliche Impulse.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AEB6C6"/>
                </a:solidFill>
                <a:latin typeface="Calibri"/>
              </a:rPr>
              <a:t>Heiko Schwaninger  ·  werdemeisterdeinergedanken.de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1" i="0" spc="240">
                <a:solidFill>
                  <a:srgbClr val="4F9E1C"/>
                </a:solidFill>
                <a:latin typeface="Calibri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3000"/>
              </a:lnSpc>
            </a:pPr>
            <a:r>
              <a:rPr sz="3800" b="1" i="0">
                <a:solidFill>
                  <a:srgbClr val="1A2233"/>
                </a:solidFill>
                <a:latin typeface="Cambria"/>
              </a:rPr>
              <a:t>Was dich heute erwartet</a:t>
            </a:r>
          </a:p>
        </p:txBody>
      </p:sp>
      <p:pic>
        <p:nvPicPr>
          <p:cNvPr id="4" name="Picture 3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100" b="1" i="0">
                <a:solidFill>
                  <a:srgbClr val="08102A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29384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 i="0">
                <a:solidFill>
                  <a:srgbClr val="1A2233"/>
                </a:solidFill>
                <a:latin typeface="Calibri"/>
              </a:rPr>
              <a:t>Warum Schreiben wirkt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95144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 i="0">
                <a:solidFill>
                  <a:srgbClr val="48524E"/>
                </a:solidFill>
                <a:latin typeface="Calibri"/>
              </a:rPr>
              <a:t>Wie ein aufgeschriebener Gedanke aufhört, sich im Kreis zu drehen.</a:t>
            </a:r>
          </a:p>
        </p:txBody>
      </p:sp>
      <p:pic>
        <p:nvPicPr>
          <p:cNvPr id="8" name="Picture 7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62072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100" b="1" i="0">
                <a:solidFill>
                  <a:srgbClr val="08102A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25496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 i="0">
                <a:solidFill>
                  <a:srgbClr val="1A2233"/>
                </a:solidFill>
                <a:latin typeface="Calibri"/>
              </a:rPr>
              <a:t>Freies Schreiben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191256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 i="0">
                <a:solidFill>
                  <a:srgbClr val="48524E"/>
                </a:solidFill>
                <a:latin typeface="Calibri"/>
              </a:rPr>
              <a:t>Zum Ankommen erst einmal die Hand laufen lassen – ungefiltert.</a:t>
            </a:r>
          </a:p>
        </p:txBody>
      </p:sp>
      <p:pic>
        <p:nvPicPr>
          <p:cNvPr id="12" name="Picture 11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758183"/>
            <a:ext cx="566928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5818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100" b="1" i="0">
                <a:solidFill>
                  <a:srgbClr val="08102A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21607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 i="0">
                <a:solidFill>
                  <a:srgbClr val="1A2233"/>
                </a:solidFill>
                <a:latin typeface="Calibri"/>
              </a:rPr>
              <a:t>Die sieben Bausteine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87368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 i="0">
                <a:solidFill>
                  <a:srgbClr val="48524E"/>
                </a:solidFill>
                <a:latin typeface="Calibri"/>
              </a:rPr>
              <a:t>Von der Morgenseite bis zum Tagesrückblick, jeweils mit Reflexion.</a:t>
            </a:r>
          </a:p>
        </p:txBody>
      </p:sp>
      <p:pic>
        <p:nvPicPr>
          <p:cNvPr id="16" name="Picture 15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654296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6542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100" b="1" i="0">
                <a:solidFill>
                  <a:srgbClr val="08102A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6177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 i="0">
                <a:solidFill>
                  <a:srgbClr val="1A2233"/>
                </a:solidFill>
                <a:latin typeface="Calibri"/>
              </a:rPr>
              <a:t>Gedanken umschreiben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98348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 i="0">
                <a:solidFill>
                  <a:srgbClr val="48524E"/>
                </a:solidFill>
                <a:latin typeface="Calibri"/>
              </a:rPr>
              <a:t>Die ausführliche Schreibübung: vom alten zum tragenden Satz.</a:t>
            </a:r>
          </a:p>
        </p:txBody>
      </p:sp>
      <p:pic>
        <p:nvPicPr>
          <p:cNvPr id="20" name="Picture 19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550408"/>
            <a:ext cx="566928" cy="566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5504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100" b="1" i="0">
                <a:solidFill>
                  <a:srgbClr val="08102A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513832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 i="0">
                <a:solidFill>
                  <a:srgbClr val="1A2233"/>
                </a:solidFill>
                <a:latin typeface="Calibri"/>
              </a:rPr>
              <a:t>Deine Routine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879592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 i="0">
                <a:solidFill>
                  <a:srgbClr val="48524E"/>
                </a:solidFill>
                <a:latin typeface="Calibri"/>
              </a:rPr>
              <a:t>Eine kleine, tragfähige Schreibgewohnheit für den Alltag.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Die meisten Menschen tragen ihre Gedanken ungeschrieben mit sich herum – </a:t>
            </a:r>
            <a:r>
              <a:rPr sz="4000" b="1" i="0">
                <a:solidFill>
                  <a:srgbClr val="A3D64F"/>
                </a:solidFill>
                <a:latin typeface="Cambria"/>
              </a:rPr>
              <a:t>Schreiben schafft Abstand</a:t>
            </a:r>
            <a:r>
              <a:rPr sz="4000" b="1" i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457200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700" b="0" i="0">
                <a:solidFill>
                  <a:srgbClr val="C3CCDD"/>
                </a:solidFill>
                <a:latin typeface="Calibri"/>
              </a:rPr>
              <a:t>Und aus Abstand entsteht Klarheit.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1" i="0" spc="240">
                <a:solidFill>
                  <a:srgbClr val="4F9E1C"/>
                </a:solidFill>
                <a:latin typeface="Calibri"/>
              </a:rPr>
              <a:t>AUSGANGSPUNKT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2233"/>
                </a:solidFill>
                <a:latin typeface="Cambria"/>
              </a:rPr>
              <a:t>Warum Schreiben wirkt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650" b="0" i="0">
                <a:solidFill>
                  <a:srgbClr val="48524E"/>
                </a:solidFill>
                <a:latin typeface="Calibri"/>
              </a:rPr>
              <a:t>Ein Gedanke im Kopf dreht sich im Kreis. Sobald du ihn aufschreibst, wird er zu etwas, das du anschauen kannst – von außen, mit Abstand. Aus „So ist es“ wird „Da ist ein Gedanke“.</a:t>
            </a:r>
          </a:p>
          <a:p>
            <a:pPr>
              <a:lnSpc>
                <a:spcPct val="130000"/>
              </a:lnSpc>
            </a:pPr>
            <a:r>
              <a:rPr sz="1650" b="0" i="0">
                <a:solidFill>
                  <a:srgbClr val="48524E"/>
                </a:solidFill>
                <a:latin typeface="Calibri"/>
              </a:rPr>
              <a:t>Genau das übt dieser Halbtag: das ruhige Zu-Papier-Bringen dessen, was in dir läuft. Als leise Begleiter dienen dazwischen die wöchentlichen Impulse – jeder ein Gedanke und eine kleine Übung.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55448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08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2331720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A3D64F"/>
                </a:solidFill>
                <a:latin typeface="Cambri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36118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wöchentliche Impulse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11480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C3CCDD"/>
                </a:solidFill>
                <a:latin typeface="Calibri"/>
              </a:rPr>
              <a:t>Ein Gedanke, eine Mini-Übung – die Serie begleitet dich Woche für Woche und läuft zyklisch weiter.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1" i="0" spc="240">
                <a:solidFill>
                  <a:srgbClr val="4F9E1C"/>
                </a:solidFill>
                <a:latin typeface="Calibri"/>
              </a:rPr>
              <a:t>ÜBUNG 1 · 10 MINUTEN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600" b="1" i="0">
                <a:solidFill>
                  <a:srgbClr val="1A2233"/>
                </a:solidFill>
                <a:latin typeface="Cambria"/>
              </a:rPr>
              <a:t>Freies Schreiben – der erste Gedanke</a:t>
            </a:r>
          </a:p>
        </p:txBody>
      </p:sp>
      <p:pic>
        <p:nvPicPr>
          <p:cNvPr id="4" name="Picture 3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8102A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30552"/>
            <a:ext cx="6400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650" b="0" i="0">
                <a:solidFill>
                  <a:srgbClr val="1A2233"/>
                </a:solidFill>
                <a:latin typeface="Calibri"/>
              </a:rPr>
              <a:t>Nimm ein leeres Blatt und schreib zehn Minuten am Stück – ehrlich, ungefiltert, ohne abzusetzen.</a:t>
            </a:r>
          </a:p>
        </p:txBody>
      </p:sp>
      <p:pic>
        <p:nvPicPr>
          <p:cNvPr id="7" name="Picture 6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8102A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71800"/>
            <a:ext cx="6400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650" b="0" i="0">
                <a:solidFill>
                  <a:srgbClr val="1A2233"/>
                </a:solidFill>
                <a:latin typeface="Calibri"/>
              </a:rPr>
              <a:t>Beginne mit dem Satz „Gerade geht mir durch den Kopf …“ und lass die Hand einfach weiterlaufen.</a:t>
            </a:r>
          </a:p>
        </p:txBody>
      </p:sp>
      <p:pic>
        <p:nvPicPr>
          <p:cNvPr id="10" name="Picture 9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8102A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13048"/>
            <a:ext cx="6400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650" b="0" i="0">
                <a:solidFill>
                  <a:srgbClr val="1A2233"/>
                </a:solidFill>
                <a:latin typeface="Calibri"/>
              </a:rPr>
              <a:t>Korrigiere nichts, bewerte nichts. Auch „mir fällt nichts ein“ ist ein gültiger Satz.</a:t>
            </a:r>
          </a:p>
        </p:txBody>
      </p:sp>
      <p:pic>
        <p:nvPicPr>
          <p:cNvPr id="13" name="Picture 12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8102A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54296"/>
            <a:ext cx="6400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650" b="0" i="0">
                <a:solidFill>
                  <a:srgbClr val="1A2233"/>
                </a:solidFill>
                <a:latin typeface="Calibri"/>
              </a:rPr>
              <a:t>Lies zum Schluss einmal ruhig durch und unterstreiche den einen Satz, der dich am meisten berührt.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9000"/>
            </a:avLst>
          </a:prstGeom>
          <a:solidFill>
            <a:srgbClr val="08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1" i="0" spc="240">
                <a:solidFill>
                  <a:srgbClr val="A3D64F"/>
                </a:solidFill>
                <a:latin typeface="Calibri"/>
              </a:rPr>
              <a:t>MITNEHMEN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Was aus dem Kopf aufs Papier wandert, hört auf, sich im Kreis zu drehen.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21488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1" i="0" spc="240">
                <a:solidFill>
                  <a:srgbClr val="A3D64F"/>
                </a:solidFill>
                <a:latin typeface="Calibri"/>
              </a:rPr>
              <a:t>DER WEG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1460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200" b="1" i="0">
                <a:solidFill>
                  <a:srgbClr val="FFFFFF"/>
                </a:solidFill>
                <a:latin typeface="Cambria"/>
              </a:rPr>
              <a:t>Sieben Bausteine des Schreibens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0332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700" b="0" i="0">
                <a:solidFill>
                  <a:srgbClr val="C3CCDD"/>
                </a:solidFill>
                <a:latin typeface="Calibri"/>
              </a:rPr>
              <a:t>Von der Morgenseite bis zum Tagesrückblick – kleine Formen, die deine Reflexion tragen.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1" i="0" spc="240">
                <a:solidFill>
                  <a:srgbClr val="4F9E1C"/>
                </a:solidFill>
                <a:latin typeface="Calibri"/>
              </a:rPr>
              <a:t>DEINE WERKZEUGE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3000"/>
              </a:lnSpc>
            </a:pPr>
            <a:r>
              <a:rPr sz="2800" b="1" i="0">
                <a:solidFill>
                  <a:srgbClr val="1A2233"/>
                </a:solidFill>
                <a:latin typeface="Cambria"/>
              </a:rPr>
              <a:t>Womit du schreibst</a:t>
            </a:r>
          </a:p>
        </p:txBody>
      </p:sp>
      <p:pic>
        <p:nvPicPr>
          <p:cNvPr id="4" name="Picture 3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8102A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1051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1A2233"/>
                </a:solidFill>
                <a:latin typeface="Calibri"/>
              </a:rPr>
              <a:t>Morgenseiten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21B2BD"/>
                </a:solidFill>
                <a:latin typeface="Calibri"/>
              </a:rPr>
              <a:t>Frei starten</a:t>
            </a:r>
          </a:p>
        </p:txBody>
      </p:sp>
      <p:pic>
        <p:nvPicPr>
          <p:cNvPr id="8" name="Picture 7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3220"/>
            <a:ext cx="603504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9032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8102A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8493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1A2233"/>
                </a:solidFill>
                <a:latin typeface="Calibri"/>
              </a:rPr>
              <a:t>Autopilot-Check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2326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21B2BD"/>
                </a:solidFill>
                <a:latin typeface="Calibri"/>
              </a:rPr>
              <a:t>Bemerken, was läuft</a:t>
            </a:r>
          </a:p>
        </p:txBody>
      </p:sp>
      <p:pic>
        <p:nvPicPr>
          <p:cNvPr id="12" name="Picture 11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7639"/>
            <a:ext cx="603504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3977639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8102A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5935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1A2233"/>
                </a:solidFill>
                <a:latin typeface="Calibri"/>
              </a:rPr>
              <a:t>„Da ist ein Gedanke“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97679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21B2BD"/>
                </a:solidFill>
                <a:latin typeface="Calibri"/>
              </a:rPr>
              <a:t>Abstand schreiben</a:t>
            </a:r>
          </a:p>
        </p:txBody>
      </p:sp>
      <p:pic>
        <p:nvPicPr>
          <p:cNvPr id="16" name="Picture 15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52060"/>
            <a:ext cx="603504" cy="6035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50520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8102A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3377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1A2233"/>
                </a:solidFill>
                <a:latin typeface="Calibri"/>
              </a:rPr>
              <a:t>Gedanken benennen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3721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21B2BD"/>
                </a:solidFill>
                <a:latin typeface="Calibri"/>
              </a:rPr>
              <a:t>Muster sichtbar machen</a:t>
            </a:r>
          </a:p>
        </p:txBody>
      </p:sp>
      <p:pic>
        <p:nvPicPr>
          <p:cNvPr id="20" name="Picture 19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8102A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181051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1A2233"/>
                </a:solidFill>
                <a:latin typeface="Calibri"/>
              </a:rPr>
              <a:t>Gefühle als Welle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14884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21B2BD"/>
                </a:solidFill>
                <a:latin typeface="Calibri"/>
              </a:rPr>
              <a:t>Fühlen und loslassen</a:t>
            </a:r>
          </a:p>
        </p:txBody>
      </p:sp>
      <p:pic>
        <p:nvPicPr>
          <p:cNvPr id="24" name="Picture 23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903220"/>
            <a:ext cx="603504" cy="6035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46520" y="29032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8102A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88493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1A2233"/>
                </a:solidFill>
                <a:latin typeface="Calibri"/>
              </a:rPr>
              <a:t>Den Satz umschreiben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22326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21B2BD"/>
                </a:solidFill>
                <a:latin typeface="Calibri"/>
              </a:rPr>
              <a:t>Neu wählen</a:t>
            </a:r>
          </a:p>
        </p:txBody>
      </p:sp>
      <p:pic>
        <p:nvPicPr>
          <p:cNvPr id="28" name="Picture 27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977639"/>
            <a:ext cx="603504" cy="6035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46520" y="3977639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08102A"/>
                </a:solidFill>
                <a:latin typeface="Cambria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5935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1A2233"/>
                </a:solidFill>
                <a:latin typeface="Calibri"/>
              </a:rPr>
              <a:t>Tagesrückblick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297679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21B2BD"/>
                </a:solidFill>
                <a:latin typeface="Calibri"/>
              </a:rPr>
              <a:t>Den Tag schließen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100" b="1" i="0">
                <a:solidFill>
                  <a:srgbClr val="08102A"/>
                </a:solidFill>
                <a:latin typeface="Cambr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4F9E1C"/>
                </a:solidFill>
                <a:latin typeface="Calibri"/>
              </a:rPr>
              <a:t>MODUL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3100" b="1" i="0">
                <a:solidFill>
                  <a:srgbClr val="1A2233"/>
                </a:solidFill>
                <a:latin typeface="Cambria"/>
              </a:rPr>
              <a:t>Morgenseiten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874519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21B2BD"/>
                </a:solidFill>
                <a:latin typeface="Calibri"/>
              </a:rPr>
              <a:t>Der Tag beginnt mit 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48524E"/>
                </a:solidFill>
                <a:latin typeface="Calibri"/>
              </a:rPr>
              <a:t>Bevor der Autopilot übernimmt, gehören die ersten Minuten dir. Ein paar Zeilen am Morgen – frei, ohne Ziel – richten dich aus, statt dich in den Tag stolpern zu lassen.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9000"/>
            </a:avLst>
          </a:prstGeom>
          <a:solidFill>
            <a:srgbClr val="E7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sz="1600" b="0" i="0">
                <a:solidFill>
                  <a:srgbClr val="1A2233"/>
                </a:solidFill>
                <a:latin typeface="Calibri"/>
              </a:rPr>
              <a:t>Wie will ich diesem Tag begegnen – in einem Wort?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100" b="1" i="0">
                <a:solidFill>
                  <a:srgbClr val="08102A"/>
                </a:solidFill>
                <a:latin typeface="Cambr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4F9E1C"/>
                </a:solidFill>
                <a:latin typeface="Calibri"/>
              </a:rPr>
              <a:t>MODUL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3100" b="1" i="0">
                <a:solidFill>
                  <a:srgbClr val="1A2233"/>
                </a:solidFill>
                <a:latin typeface="Cambria"/>
              </a:rPr>
              <a:t>Der Autopilot-Check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874519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21B2BD"/>
                </a:solidFill>
                <a:latin typeface="Calibri"/>
              </a:rPr>
              <a:t>Bemerken, was läuft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48524E"/>
                </a:solidFill>
                <a:latin typeface="Calibri"/>
              </a:rPr>
              <a:t>Vieles läuft automatisch – Reaktionen, Gewohnheiten, Gedanken. Ein kurzer schriftlicher Stopp macht den Autopiloten für einen Moment sichtbar: Was tue ich gerade, und bin ich wirklich dabei?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9000"/>
            </a:avLst>
          </a:prstGeom>
          <a:solidFill>
            <a:srgbClr val="E7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sz="1600" b="0" i="0">
                <a:solidFill>
                  <a:srgbClr val="1A2233"/>
                </a:solidFill>
                <a:latin typeface="Calibri"/>
              </a:rPr>
              <a:t>An welchen Stellen deines Alltags läufst du am meisten im Autopilot?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100" b="1" i="0">
                <a:solidFill>
                  <a:srgbClr val="08102A"/>
                </a:solidFill>
                <a:latin typeface="Cambr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4F9E1C"/>
                </a:solidFill>
                <a:latin typeface="Calibri"/>
              </a:rPr>
              <a:t>MODUL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3100" b="1" i="0">
                <a:solidFill>
                  <a:srgbClr val="1A2233"/>
                </a:solidFill>
                <a:latin typeface="Cambria"/>
              </a:rPr>
              <a:t>„Da ist ein Gedanke“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874519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21B2BD"/>
                </a:solidFill>
                <a:latin typeface="Calibri"/>
              </a:rPr>
              <a:t>Abstand schreiben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48524E"/>
                </a:solidFill>
                <a:latin typeface="Calibri"/>
              </a:rPr>
              <a:t>Statt „So ist es“ schreibst du „Da ist der Gedanke, dass …“. Diese kleine Verschiebung macht aus einer scheinbaren Wahrheit ein Angebot – und schafft sofort Abstand.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9000"/>
            </a:avLst>
          </a:prstGeom>
          <a:solidFill>
            <a:srgbClr val="E7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sz="1600" b="0" i="0">
                <a:solidFill>
                  <a:srgbClr val="1A2233"/>
                </a:solidFill>
                <a:latin typeface="Calibri"/>
              </a:rPr>
              <a:t>Welchen Gedanken hältst du für wahr, nur weil er in deinem Kopf auftaucht?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100" b="1" i="0">
                <a:solidFill>
                  <a:srgbClr val="08102A"/>
                </a:solidFill>
                <a:latin typeface="Cambr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4F9E1C"/>
                </a:solidFill>
                <a:latin typeface="Calibri"/>
              </a:rPr>
              <a:t>MODUL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3100" b="1" i="0">
                <a:solidFill>
                  <a:srgbClr val="1A2233"/>
                </a:solidFill>
                <a:latin typeface="Cambria"/>
              </a:rPr>
              <a:t>Gedanken benennen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874519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21B2BD"/>
                </a:solidFill>
                <a:latin typeface="Calibri"/>
              </a:rPr>
              <a:t>Muster sichtbar machen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48524E"/>
                </a:solidFill>
                <a:latin typeface="Calibri"/>
              </a:rPr>
              <a:t>Gib jedem Gedanken eine schlichte Etikette – „planen“, „sorgen“, „bewerten“. Schwarz auf weiß treten hinter den einzelnen Gedanken die Muster hervor, die dich bisher gesteuert haben.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9000"/>
            </a:avLst>
          </a:prstGeom>
          <a:solidFill>
            <a:srgbClr val="E7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sz="1600" b="0" i="0">
                <a:solidFill>
                  <a:srgbClr val="1A2233"/>
                </a:solidFill>
                <a:latin typeface="Calibri"/>
              </a:rPr>
              <a:t>Welches Muster erkennst du gerade zum ersten Mal klar bei dir?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100" b="1" i="0">
                <a:solidFill>
                  <a:srgbClr val="08102A"/>
                </a:solidFill>
                <a:latin typeface="Cambr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4F9E1C"/>
                </a:solidFill>
                <a:latin typeface="Calibri"/>
              </a:rPr>
              <a:t>MODUL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3100" b="1" i="0">
                <a:solidFill>
                  <a:srgbClr val="1A2233"/>
                </a:solidFill>
                <a:latin typeface="Cambria"/>
              </a:rPr>
              <a:t>Gefühle als Welle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874519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21B2BD"/>
                </a:solidFill>
                <a:latin typeface="Calibri"/>
              </a:rPr>
              <a:t>Fühlen und loslassen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48524E"/>
                </a:solidFill>
                <a:latin typeface="Calibri"/>
              </a:rPr>
              <a:t>Manche Themen sitzen tiefer als der Kopf. Sie brauchen einen Ort, an dem sie ungefiltert raus dürfen – ein Brief, den niemand liest, lässt ein Gefühl als Welle durchziehen, statt es festzuhalten.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9000"/>
            </a:avLst>
          </a:prstGeom>
          <a:solidFill>
            <a:srgbClr val="E7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sz="1600" b="0" i="0">
                <a:solidFill>
                  <a:srgbClr val="1A2233"/>
                </a:solidFill>
                <a:latin typeface="Calibri"/>
              </a:rPr>
              <a:t>Welche Last würdest du gern zu Ende schreiben und loslassen?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100" b="1" i="0">
                <a:solidFill>
                  <a:srgbClr val="08102A"/>
                </a:solidFill>
                <a:latin typeface="Cambr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4F9E1C"/>
                </a:solidFill>
                <a:latin typeface="Calibri"/>
              </a:rPr>
              <a:t>MODUL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3100" b="1" i="0">
                <a:solidFill>
                  <a:srgbClr val="1A2233"/>
                </a:solidFill>
                <a:latin typeface="Cambria"/>
              </a:rPr>
              <a:t>Den Satz umschreiben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874519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21B2BD"/>
                </a:solidFill>
                <a:latin typeface="Calibri"/>
              </a:rPr>
              <a:t>Neu wählen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48524E"/>
                </a:solidFill>
                <a:latin typeface="Calibri"/>
              </a:rPr>
              <a:t>Einen einengenden Glaubenssatz erkennst du – dann formulierst du ihn neu: ehrlich, in der Gegenwart, glaubwürdig. Aus „Ich bin …“ wird „Ich lerne gerade, …“.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9000"/>
            </a:avLst>
          </a:prstGeom>
          <a:solidFill>
            <a:srgbClr val="E7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sz="1600" b="0" i="0">
                <a:solidFill>
                  <a:srgbClr val="1A2233"/>
                </a:solidFill>
                <a:latin typeface="Calibri"/>
              </a:rPr>
              <a:t>Welchen Satz über dich möchtest du ehrlicher und stärkender formulieren?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100" b="1" i="0">
                <a:solidFill>
                  <a:srgbClr val="08102A"/>
                </a:solidFill>
                <a:latin typeface="Cambr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4F9E1C"/>
                </a:solidFill>
                <a:latin typeface="Calibri"/>
              </a:rPr>
              <a:t>MODUL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3100" b="1" i="0">
                <a:solidFill>
                  <a:srgbClr val="1A2233"/>
                </a:solidFill>
                <a:latin typeface="Cambria"/>
              </a:rPr>
              <a:t>Der Tagesrückblick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874519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21B2BD"/>
                </a:solidFill>
                <a:latin typeface="Calibri"/>
              </a:rPr>
              <a:t>Den Tag schließen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48524E"/>
                </a:solidFill>
                <a:latin typeface="Calibri"/>
              </a:rPr>
              <a:t>Am Abend ziehst du den Tag ohne Wertung noch einmal vorbei: Wo war ich bewusst? Wofür bin ich dankbar? Nicht bilanzieren – nur bemerken, und den Kopf für die Nacht beruhigen.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9000"/>
            </a:avLst>
          </a:prstGeom>
          <a:solidFill>
            <a:srgbClr val="E7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sz="1600" b="0" i="0">
                <a:solidFill>
                  <a:srgbClr val="1A2233"/>
                </a:solidFill>
                <a:latin typeface="Calibri"/>
              </a:rPr>
              <a:t>Wofür bist du heute dankbar – und sei es eine Kleinigkeit?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1" i="0" spc="240">
                <a:solidFill>
                  <a:srgbClr val="4F9E1C"/>
                </a:solidFill>
                <a:latin typeface="Calibri"/>
              </a:rPr>
              <a:t>ÜBUNG 2 · GEDANKEN UMSCHREIBEN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600" b="1" i="0">
                <a:solidFill>
                  <a:srgbClr val="1A2233"/>
                </a:solidFill>
                <a:latin typeface="Cambria"/>
              </a:rPr>
              <a:t>Vom alten zum tragenden Satz</a:t>
            </a:r>
          </a:p>
        </p:txBody>
      </p:sp>
      <p:pic>
        <p:nvPicPr>
          <p:cNvPr id="4" name="Picture 3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8102A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30552"/>
            <a:ext cx="6400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650" b="0" i="0">
                <a:solidFill>
                  <a:srgbClr val="1A2233"/>
                </a:solidFill>
                <a:latin typeface="Calibri"/>
              </a:rPr>
              <a:t>Schreib einen einengenden Satz auf, den du oft über dich denkst – wörtlich, so hart wie er klingt.</a:t>
            </a:r>
          </a:p>
        </p:txBody>
      </p:sp>
      <p:pic>
        <p:nvPicPr>
          <p:cNvPr id="7" name="Picture 6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8102A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71800"/>
            <a:ext cx="6400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650" b="0" i="0">
                <a:solidFill>
                  <a:srgbClr val="1A2233"/>
                </a:solidFill>
                <a:latin typeface="Calibri"/>
              </a:rPr>
              <a:t>Darunter: Woher kenne ich diesen Satz? Seit wann begleitet er mich?</a:t>
            </a:r>
          </a:p>
        </p:txBody>
      </p:sp>
      <p:pic>
        <p:nvPicPr>
          <p:cNvPr id="10" name="Picture 9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8102A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13048"/>
            <a:ext cx="6400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650" b="0" i="0">
                <a:solidFill>
                  <a:srgbClr val="1A2233"/>
                </a:solidFill>
                <a:latin typeface="Calibri"/>
              </a:rPr>
              <a:t>Formuliere eine neue, ehrliche Version – in der Gegenwart, in deinen Worten. Prüfe: Fühlt sie sich erreichbar an?</a:t>
            </a:r>
          </a:p>
        </p:txBody>
      </p:sp>
      <p:pic>
        <p:nvPicPr>
          <p:cNvPr id="13" name="Picture 12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900" b="1" i="0">
                <a:solidFill>
                  <a:srgbClr val="08102A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54296"/>
            <a:ext cx="6400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650" b="0" i="0">
                <a:solidFill>
                  <a:srgbClr val="1A2233"/>
                </a:solidFill>
                <a:latin typeface="Calibri"/>
              </a:rPr>
              <a:t>Wähle eine kleine Handlung für diese Woche, die zum neuen Satz passt, und schreib sie dazu.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9000"/>
            </a:avLst>
          </a:prstGeom>
          <a:solidFill>
            <a:srgbClr val="08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1" i="0" spc="240">
                <a:solidFill>
                  <a:srgbClr val="A3D64F"/>
                </a:solidFill>
                <a:latin typeface="Calibri"/>
              </a:rPr>
              <a:t>MITNEHMEN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Was du oft genug denkst und fühlst, wird zu deiner neuen Normalität.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1" i="0" spc="240">
                <a:solidFill>
                  <a:srgbClr val="4F9E1C"/>
                </a:solidFill>
                <a:latin typeface="Calibri"/>
              </a:rPr>
              <a:t>WAS BLEIBT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3000"/>
              </a:lnSpc>
            </a:pPr>
            <a:r>
              <a:rPr sz="3400" b="1" i="0">
                <a:solidFill>
                  <a:srgbClr val="1A2233"/>
                </a:solidFill>
                <a:latin typeface="Cambria"/>
              </a:rPr>
              <a:t>Drei Dinge zum Mitnehmen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68040" cy="3108960"/>
          </a:xfrm>
          <a:prstGeom prst="roundRect">
            <a:avLst>
              <a:gd name="adj" fmla="val 7000"/>
            </a:avLst>
          </a:prstGeom>
          <a:solidFill>
            <a:srgbClr val="F2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51460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514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400" b="1" i="0">
                <a:solidFill>
                  <a:srgbClr val="08102A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2727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 i="0">
                <a:solidFill>
                  <a:srgbClr val="1A2233"/>
                </a:solidFill>
                <a:latin typeface="Cambria"/>
              </a:rPr>
              <a:t>Abstand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86200"/>
            <a:ext cx="27279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48524E"/>
                </a:solidFill>
                <a:latin typeface="Calibri"/>
              </a:rPr>
              <a:t>Aufgeschrieben wird ein Gedanke zu etwas, das du anschauen kannst – statt darin zu stecken.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9600" y="2194560"/>
            <a:ext cx="3368040" cy="3108960"/>
          </a:xfrm>
          <a:prstGeom prst="roundRect">
            <a:avLst>
              <a:gd name="adj" fmla="val 7000"/>
            </a:avLst>
          </a:prstGeom>
          <a:solidFill>
            <a:srgbClr val="F2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639" y="2514600"/>
            <a:ext cx="6400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39639" y="2514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400" b="1" i="0">
                <a:solidFill>
                  <a:srgbClr val="08102A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9639" y="3383280"/>
            <a:ext cx="2727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 i="0">
                <a:solidFill>
                  <a:srgbClr val="1A2233"/>
                </a:solidFill>
                <a:latin typeface="Cambria"/>
              </a:rPr>
              <a:t>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9639" y="3886200"/>
            <a:ext cx="27279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48524E"/>
                </a:solidFill>
                <a:latin typeface="Calibri"/>
              </a:rPr>
              <a:t>Nicht die Menge zählt, sondern die Kontinuität: ein paar ehrliche Zeilen, regelmäßig.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80" y="2194560"/>
            <a:ext cx="3368040" cy="3108960"/>
          </a:xfrm>
          <a:prstGeom prst="roundRect">
            <a:avLst>
              <a:gd name="adj" fmla="val 7000"/>
            </a:avLst>
          </a:prstGeom>
          <a:solidFill>
            <a:srgbClr val="F2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720" y="2514600"/>
            <a:ext cx="640080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27720" y="2514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400" b="1" i="0">
                <a:solidFill>
                  <a:srgbClr val="08102A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7720" y="3383280"/>
            <a:ext cx="2727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 i="0">
                <a:solidFill>
                  <a:srgbClr val="1A2233"/>
                </a:solidFill>
                <a:latin typeface="Cambria"/>
              </a:rPr>
              <a:t>Spiegel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7720" y="3886200"/>
            <a:ext cx="27279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48524E"/>
                </a:solidFill>
                <a:latin typeface="Calibri"/>
              </a:rPr>
              <a:t>Dein Journal wächst mit jeder Frage, die du beantwortest – ein Spiegel, der zeigt, wo du stehst.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058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1" i="0" spc="240">
                <a:solidFill>
                  <a:srgbClr val="A3D64F"/>
                </a:solidFill>
                <a:latin typeface="Calibri"/>
              </a:rPr>
              <a:t>WIE ES WEITERGEHT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3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Weiterschreiben im Mitgliederbereich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22376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 i="0">
                <a:solidFill>
                  <a:srgbClr val="A3D64F"/>
                </a:solidFill>
                <a:latin typeface="Calibri"/>
              </a:rPr>
              <a:t>›  </a:t>
            </a:r>
            <a:r>
              <a:rPr sz="1700" b="0" i="0">
                <a:solidFill>
                  <a:srgbClr val="E7ECF5"/>
                </a:solidFill>
                <a:latin typeface="Calibri"/>
              </a:rPr>
              <a:t>Wöchentliche Impulse per E-Mail – ein Gedanke und eine kleine Übung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 i="0">
                <a:solidFill>
                  <a:srgbClr val="A3D64F"/>
                </a:solidFill>
                <a:latin typeface="Calibri"/>
              </a:rPr>
              <a:t>›  </a:t>
            </a:r>
            <a:r>
              <a:rPr sz="1700" b="0" i="0">
                <a:solidFill>
                  <a:srgbClr val="E7ECF5"/>
                </a:solidFill>
                <a:latin typeface="Calibri"/>
              </a:rPr>
              <a:t>Dein digitales Journal, das mit jeder Reflexion weiterwächst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 i="0">
                <a:solidFill>
                  <a:srgbClr val="A3D64F"/>
                </a:solidFill>
                <a:latin typeface="Calibri"/>
              </a:rPr>
              <a:t>›  </a:t>
            </a:r>
            <a:r>
              <a:rPr sz="1700" b="0" i="0">
                <a:solidFill>
                  <a:srgbClr val="E7ECF5"/>
                </a:solidFill>
                <a:latin typeface="Calibri"/>
              </a:rPr>
              <a:t>Reflexionsfragen aus den 7 Stufen und den Vertiefungen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 i="0">
                <a:solidFill>
                  <a:srgbClr val="A3D64F"/>
                </a:solidFill>
                <a:latin typeface="Calibri"/>
              </a:rPr>
              <a:t>›  </a:t>
            </a:r>
            <a:r>
              <a:rPr sz="1700" b="0" i="0">
                <a:solidFill>
                  <a:srgbClr val="E7ECF5"/>
                </a:solidFill>
                <a:latin typeface="Calibri"/>
              </a:rPr>
              <a:t>Rituale wie Morgen-Ausrichtung und Abend-Reflexion zum Anhören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2651760"/>
            <a:ext cx="3017520" cy="1828800"/>
          </a:xfrm>
          <a:prstGeom prst="roundRect">
            <a:avLst>
              <a:gd name="adj" fmla="val 10000"/>
            </a:avLst>
          </a:prstGeom>
          <a:solidFill>
            <a:srgbClr val="0F1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880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AEB6C6"/>
                </a:solidFill>
                <a:latin typeface="Calibri"/>
              </a:rPr>
              <a:t>Mitgliedschaft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2461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49 €</a:t>
            </a:r>
            <a:r>
              <a:rPr sz="1600" b="0" i="0">
                <a:solidFill>
                  <a:srgbClr val="C3CCDD"/>
                </a:solidFill>
                <a:latin typeface="Calibri"/>
              </a:rPr>
              <a:t>  / Monat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A3D64F"/>
                </a:solidFill>
                <a:latin typeface="Calibri"/>
              </a:rPr>
              <a:t>werdemeisterdeinergedanken.de/mitgliedschaft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1">
                <a:solidFill>
                  <a:srgbClr val="C3CCDD"/>
                </a:solidFill>
                <a:latin typeface="Calibri"/>
              </a:rPr>
              <a:t>Erster Schritt kostenlos: der Bewusstseinstest.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749039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Werde Meister deiner </a:t>
            </a:r>
            <a:r>
              <a:rPr sz="4000" b="1" i="0">
                <a:solidFill>
                  <a:srgbClr val="A3D64F"/>
                </a:solidFill>
                <a:latin typeface="Cambria"/>
              </a:rPr>
              <a:t>Gedanken</a:t>
            </a:r>
            <a:r>
              <a:rPr sz="4000" b="1" i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C3CCDD"/>
                </a:solidFill>
                <a:latin typeface="Calibri"/>
              </a:rPr>
              <a:t>Danke, dass du heute geschrieben hast.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34C4C4"/>
                </a:solidFill>
                <a:latin typeface="Calibri"/>
              </a:rPr>
              <a:t>werdemeisterdeinergedanken.de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