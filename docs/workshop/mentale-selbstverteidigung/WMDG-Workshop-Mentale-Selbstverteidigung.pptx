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Begrüßung, kurz vorstellen, Rahmen und Vertraulichkeit setzen.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Wirken lassen, kurze Stille.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anleiten, Zeit lassen, danach 2–3 Stimmen einsammeln. Nichts bewerten.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– Der Rahmen entscheidet. Kernaussage erklären, ein Beispiel geben, Reflexionsfrage in die Runde oder ins Workbook.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Filterblase – Dein Feed ist ein Spiegel. Kernaussage erklären, ein Beispiel geben, Reflexionsfrage in die Runde oder ins Workbook.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Wiederholung – Oft gehört fühlt sich wahr an. Kernaussage erklären, ein Beispiel geben, Reflexionsfrage in die Runde oder ins Workbook.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Propaganda – Leise, nicht laut. Kernaussage erklären, ein Beispiel geben, Reflexionsfrage in die Runde oder ins Workbook.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Werbung – Erst der Mangel, dann das Produkt. Kernaussage erklären, ein Beispiel geben, Reflexionsfrage in die Runde oder ins Workbook.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Gruppendruck – Die Schweigespirale. Kernaussage erklären, ein Beispiel geben, Reflexionsfrage in die Runde oder ins Workbook.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Kognitive Dissonanz – Verteidigen, was schadet. Kernaussage erklären, ein Beispiel geben, Reflexionsfrage in die Runde oder ins Workbook.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anleiten, Zeit lassen, danach 2–3 Stimmen einsammeln. Nichts bewerten.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image" Target="../media/image-2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image" Target="../media/image-7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169164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KLARER KOPF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31520" y="1645920"/>
            <a:ext cx="7955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Mentale</a:t>
            </a:r>
            <a:endParaRPr lang="en-US" sz="4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400" i="1" dirty="0">
                <a:solidFill>
                  <a:srgbClr val="34C4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Selbstverteidigung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77240" y="420624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dein Denken gelenkt wird – und wie du dich davor schützt.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7724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Heiko Schwaninger  ·  werdemeisterdeinergedanken.de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dich heute erwartet</a:t>
            </a:r>
            <a:endParaRPr lang="en-US" sz="38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600200" y="19293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Ankommen &amp; Einstieg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00200" y="22768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dein Kopf ein umkämpftes Feld ist.</a:t>
            </a:r>
            <a:endParaRPr lang="en-US" sz="1400" dirty="0"/>
          </a:p>
        </p:txBody>
      </p:sp>
      <p:pic>
        <p:nvPicPr>
          <p:cNvPr id="8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862072"/>
            <a:ext cx="566928" cy="5669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2862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1600200" y="28254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Beeinflussung wirkt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600200" y="31729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Leise statt laut – ganz ohne Lüge.</a:t>
            </a:r>
            <a:endParaRPr lang="en-US" sz="1400" dirty="0"/>
          </a:p>
        </p:txBody>
      </p:sp>
      <p:pic>
        <p:nvPicPr>
          <p:cNvPr id="12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58184"/>
            <a:ext cx="566928" cy="5669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7240" y="3758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1600200" y="372160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7 Mechanismen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600200" y="40690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Framing bis kognitive Dissonanz.</a:t>
            </a:r>
            <a:endParaRPr lang="en-US" sz="1400" dirty="0"/>
          </a:p>
        </p:txBody>
      </p:sp>
      <p:pic>
        <p:nvPicPr>
          <p:cNvPr id="16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54296"/>
            <a:ext cx="566928" cy="5669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240" y="4654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18" name="Text 12"/>
          <p:cNvSpPr/>
          <p:nvPr/>
        </p:nvSpPr>
        <p:spPr>
          <a:xfrm>
            <a:off x="1600200" y="46177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Übungen &amp; Reflexion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600200" y="49651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 erkennen, nicht nur zuhören.</a:t>
            </a:r>
            <a:endParaRPr lang="en-US" sz="1400" dirty="0"/>
          </a:p>
        </p:txBody>
      </p:sp>
      <p:pic>
        <p:nvPicPr>
          <p:cNvPr id="20" name="Image 4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0408"/>
            <a:ext cx="566928" cy="56692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77240" y="5550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100" dirty="0"/>
          </a:p>
        </p:txBody>
      </p:sp>
      <p:sp>
        <p:nvSpPr>
          <p:cNvPr id="22" name="Text 15"/>
          <p:cNvSpPr/>
          <p:nvPr/>
        </p:nvSpPr>
        <p:spPr>
          <a:xfrm>
            <a:off x="1600200" y="55138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Schutz im Alltag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1600200" y="586130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du ab morgen anders machst.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011680"/>
            <a:ext cx="10149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Nicht alles, was du denkst, </a:t>
            </a:r>
            <a:pPr algn="l" indent="0" marL="0">
              <a:lnSpc>
                <a:spcPct val="110000"/>
              </a:lnSpc>
              <a:buNone/>
            </a:pPr>
            <a:r>
              <a:rPr lang="en-US" sz="4000" b="1" i="1" dirty="0">
                <a:solidFill>
                  <a:srgbClr val="A3D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 wirklich von dir</a:t>
            </a:r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24128" y="4572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die Muster kennt, gewinnt den Abstand zurück.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AUSGANGSPUNKT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040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Beeinflussung arbeitet leise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wirksamste Beeinflussung zwingt dir keine Meinung auf. Sie sorgt dafür, dass sich eine bestimmte Sicht mit der Zeit einfach richtig anfühlt.</a:t>
            </a:r>
            <a:endParaRPr lang="en-US" sz="16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Wiederholung, Emotion und Vereinfachung – oft ganz ohne eine einzige Lüge.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955280" y="1554480"/>
            <a:ext cx="3566160" cy="3840480"/>
          </a:xfrm>
          <a:prstGeom prst="roundRect">
            <a:avLst>
              <a:gd name="adj" fmla="val 3590"/>
            </a:avLst>
          </a:prstGeom>
          <a:solidFill>
            <a:srgbClr val="08102A"/>
          </a:solidFill>
          <a:ln/>
        </p:spPr>
      </p:sp>
      <p:sp>
        <p:nvSpPr>
          <p:cNvPr id="6" name="Text 4"/>
          <p:cNvSpPr/>
          <p:nvPr/>
        </p:nvSpPr>
        <p:spPr>
          <a:xfrm>
            <a:off x="813816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zu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01000" y="23317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A3D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10.000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138160" y="3474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Werbebotschaften am Tag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0" y="40233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will ein Gefühl in dir wecken – meist das Gefühl, dass dir etwas fehlt.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1 · 5 MINUTEN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Einen Frame erkennen</a:t>
            </a:r>
            <a:endParaRPr lang="en-US" sz="36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554480" y="21671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Nimm eine aktuelle Schlagzeile oder Werbung.</a:t>
            </a:r>
            <a:endParaRPr lang="en-US" sz="1650" dirty="0"/>
          </a:p>
        </p:txBody>
      </p:sp>
      <p:pic>
        <p:nvPicPr>
          <p:cNvPr id="7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90088"/>
            <a:ext cx="512064" cy="5120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554480" y="300837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Unterstreiche die Wörter, die schon eine Wertung enthalten.</a:t>
            </a:r>
            <a:endParaRPr lang="en-US" sz="1650" dirty="0"/>
          </a:p>
        </p:txBody>
      </p:sp>
      <p:pic>
        <p:nvPicPr>
          <p:cNvPr id="10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31336"/>
            <a:ext cx="512064" cy="5120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240" y="38313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1554480" y="384962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Formuliere denselben Vorgang so neutral wie möglich.</a:t>
            </a:r>
            <a:endParaRPr lang="en-US" sz="1650" dirty="0"/>
          </a:p>
        </p:txBody>
      </p:sp>
      <p:pic>
        <p:nvPicPr>
          <p:cNvPr id="13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72584"/>
            <a:ext cx="512064" cy="51206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4672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1554480" y="469087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Frag: Wer profitiert von genau diesem Rahmen?</a:t>
            </a:r>
            <a:endParaRPr lang="en-US" sz="1650" dirty="0"/>
          </a:p>
        </p:txBody>
      </p:sp>
      <p:sp>
        <p:nvSpPr>
          <p:cNvPr id="16" name="Shape 10"/>
          <p:cNvSpPr/>
          <p:nvPr/>
        </p:nvSpPr>
        <p:spPr>
          <a:xfrm>
            <a:off x="8366760" y="2148840"/>
            <a:ext cx="3154680" cy="3200400"/>
          </a:xfrm>
          <a:prstGeom prst="roundRect">
            <a:avLst>
              <a:gd name="adj" fmla="val 3478"/>
            </a:avLst>
          </a:prstGeom>
          <a:solidFill>
            <a:srgbClr val="08102A"/>
          </a:solidFill>
          <a:ln/>
        </p:spPr>
      </p:sp>
      <p:sp>
        <p:nvSpPr>
          <p:cNvPr id="17" name="Text 11"/>
          <p:cNvSpPr/>
          <p:nvPr/>
        </p:nvSpPr>
        <p:spPr>
          <a:xfrm>
            <a:off x="859536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MITNEHMEN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8595360" y="278892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Framing ist keine Lüge – es ist eine Brille. Freiheit beginnt, wenn du die Brille bemerkst.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148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WERKZEUGE DER BEEINFLUSSUNG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60120" y="251460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dein Denken gelenkt wird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05840" y="370332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Sieben Mechanismen – und dein Schutz gegen jeden.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LANDKARTE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Sieben Mechanismen der Beeinflussung</a:t>
            </a:r>
            <a:endParaRPr lang="en-US" sz="29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603504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5448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54480" y="2148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Rahmen entscheidet</a:t>
            </a:r>
            <a:endParaRPr lang="en-US" sz="1250" dirty="0"/>
          </a:p>
        </p:txBody>
      </p:sp>
      <p:pic>
        <p:nvPicPr>
          <p:cNvPr id="8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07792"/>
            <a:ext cx="603504" cy="6035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29077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554480" y="28895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Filterblase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554480" y="32278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Feed ist ein Spiegel</a:t>
            </a:r>
            <a:endParaRPr lang="en-US" sz="1250" dirty="0"/>
          </a:p>
        </p:txBody>
      </p:sp>
      <p:pic>
        <p:nvPicPr>
          <p:cNvPr id="12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86784"/>
            <a:ext cx="603504" cy="6035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1520" y="39867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554480" y="39684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Wiederholung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554480" y="430682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 gehört fühlt sich wahr an</a:t>
            </a:r>
            <a:endParaRPr lang="en-US" sz="1250" dirty="0"/>
          </a:p>
        </p:txBody>
      </p:sp>
      <p:pic>
        <p:nvPicPr>
          <p:cNvPr id="16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065776"/>
            <a:ext cx="603504" cy="6035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1520" y="50657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1554480" y="5047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Propaganda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554480" y="538581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Leise, nicht laut</a:t>
            </a:r>
            <a:endParaRPr lang="en-US" sz="1250" dirty="0"/>
          </a:p>
        </p:txBody>
      </p:sp>
      <p:pic>
        <p:nvPicPr>
          <p:cNvPr id="20" name="Image 4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828800"/>
            <a:ext cx="603504" cy="60350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46520" y="18288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726948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Werbung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7269480" y="2148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der Mangel, dann das Produkt</a:t>
            </a:r>
            <a:endParaRPr lang="en-US" sz="1250" dirty="0"/>
          </a:p>
        </p:txBody>
      </p:sp>
      <p:pic>
        <p:nvPicPr>
          <p:cNvPr id="24" name="Image 5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2907792"/>
            <a:ext cx="603504" cy="60350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446520" y="29077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18"/>
          <p:cNvSpPr/>
          <p:nvPr/>
        </p:nvSpPr>
        <p:spPr>
          <a:xfrm>
            <a:off x="7269480" y="28895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Gruppendruck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7269480" y="32278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Schweigespirale</a:t>
            </a:r>
            <a:endParaRPr lang="en-US" sz="1250" dirty="0"/>
          </a:p>
        </p:txBody>
      </p:sp>
      <p:pic>
        <p:nvPicPr>
          <p:cNvPr id="28" name="Image 6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986784"/>
            <a:ext cx="603504" cy="60350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446520" y="39867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Text 21"/>
          <p:cNvSpPr/>
          <p:nvPr/>
        </p:nvSpPr>
        <p:spPr>
          <a:xfrm>
            <a:off x="7269480" y="39684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Kognitive Dissonanz</a:t>
            </a:r>
            <a:endParaRPr lang="en-US" sz="1600" dirty="0"/>
          </a:p>
        </p:txBody>
      </p:sp>
      <p:sp>
        <p:nvSpPr>
          <p:cNvPr id="31" name="Text 22"/>
          <p:cNvSpPr/>
          <p:nvPr/>
        </p:nvSpPr>
        <p:spPr>
          <a:xfrm>
            <a:off x="7269480" y="430682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Verteidigen, was schadet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377440" y="11887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Framing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2395728" y="214884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Rahmen entscheidet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77240" y="32004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Dasselbe kann „Investition“ oder „Ausgabe“ heißen. Ein einziges Wort liefert die Bewertung gleich mit – bevor du nachdenkst.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Welches Wort in einer Schlagzeile hat dich zuletzt gelenkt?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377440" y="11887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Filterblase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2395728" y="214884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Dein Feed ist ein Spiegel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77240" y="32004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siehst du keine Welt, sondern eine Auswahl aus deinem Verhalten. Empörung wird nach oben gespült, Ruhiges verschwindet.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Wessen Meinung bestätigt dir dein Feed – und wen zeigt er dir nie?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377440" y="11887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Wiederholung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2395728" y="214884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Oft gehört fühlt sich wahr an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77240" y="32004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öfter du eine Aussage hörst, desto wahrer wirkt sie – ganz ohne Beweis. Vertrautheit wird mit Wahrheit verwechselt.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hältst du für wahr, nur weil du es oft gehört hast?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4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377440" y="11887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Propaganda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2395728" y="214884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Leise, nicht laut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77240" y="32004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Wiederholung, Emotion und Vereinfachung – dazu ein Feindbild. Keiner dieser Hebel braucht eine einzige Lüge.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 arbeitet eine Botschaft mit Angst statt mit Argumenten?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5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377440" y="11887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Werbung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2395728" y="214884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Erst der Mangel, dann das Produkt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77240" y="32004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Gute Werbung weckt ein Fehlen, das Sekunden zuvor nicht da war – und verkauft dir die Erlösung davon.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wolltest du zuletzt erst, seit du die Werbung gesehen hast?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6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377440" y="11887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Gruppendruck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2395728" y="214884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Schweigespirale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77240" y="32004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Angst vor Ausgrenzung schweigen wir – und eine laute Minderheit wirkt plötzlich wie die Mehrheit.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 trägst du etwas mit, das du innerlich bezweifelst?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7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377440" y="11887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Kognitive Dissonanz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2395728" y="214884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Verteidigen, was schadet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77240" y="32004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Information, die nicht ins Weltbild passt, erzeugt Spannung – meist gewinnt das Weltbild, nicht die Information.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 unbequeme Info hast du zuletzt schnell abgewertet?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2 · QUELLEN-CHECK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Oft gehört oder belegt?</a:t>
            </a:r>
            <a:endParaRPr lang="en-US" sz="36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554480" y="21671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Nimm eine Überzeugung, die dir selbstverständlich ist.</a:t>
            </a:r>
            <a:endParaRPr lang="en-US" sz="1650" dirty="0"/>
          </a:p>
        </p:txBody>
      </p:sp>
      <p:pic>
        <p:nvPicPr>
          <p:cNvPr id="7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90088"/>
            <a:ext cx="512064" cy="5120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554480" y="300837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Frag: Kenne ich einen echten Beleg – oder habe ich das nur oft gehört?</a:t>
            </a:r>
            <a:endParaRPr lang="en-US" sz="1650" dirty="0"/>
          </a:p>
        </p:txBody>
      </p:sp>
      <p:pic>
        <p:nvPicPr>
          <p:cNvPr id="10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31336"/>
            <a:ext cx="512064" cy="5120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240" y="38313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1554480" y="384962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Suche die ursprüngliche Quelle, nicht die Wiederholung.</a:t>
            </a:r>
            <a:endParaRPr lang="en-US" sz="1650" dirty="0"/>
          </a:p>
        </p:txBody>
      </p:sp>
      <p:pic>
        <p:nvPicPr>
          <p:cNvPr id="13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72584"/>
            <a:ext cx="512064" cy="51206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4672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1554480" y="469087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Zähle unabhängige Quellen, nicht laute Stimmen.</a:t>
            </a:r>
            <a:endParaRPr lang="en-US" sz="1650" dirty="0"/>
          </a:p>
        </p:txBody>
      </p:sp>
      <p:sp>
        <p:nvSpPr>
          <p:cNvPr id="16" name="Shape 10"/>
          <p:cNvSpPr/>
          <p:nvPr/>
        </p:nvSpPr>
        <p:spPr>
          <a:xfrm>
            <a:off x="8366760" y="2148840"/>
            <a:ext cx="3154680" cy="3200400"/>
          </a:xfrm>
          <a:prstGeom prst="roundRect">
            <a:avLst>
              <a:gd name="adj" fmla="val 3478"/>
            </a:avLst>
          </a:prstGeom>
          <a:solidFill>
            <a:srgbClr val="08102A"/>
          </a:solidFill>
          <a:ln/>
        </p:spPr>
      </p:sp>
      <p:sp>
        <p:nvSpPr>
          <p:cNvPr id="17" name="Text 11"/>
          <p:cNvSpPr/>
          <p:nvPr/>
        </p:nvSpPr>
        <p:spPr>
          <a:xfrm>
            <a:off x="859536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MITNEHMEN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8595360" y="278892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Vertrautheit ist kein Beweis. Was oft wiederholt wird, verdient dieselbe Prüfung wie beim ersten Mal.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BLEIBT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Reise in drei Sätzen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2F6EC"/>
          </a:solidFill>
          <a:ln w="12700">
            <a:solidFill>
              <a:srgbClr val="E4E7E0"/>
            </a:solidFill>
            <a:prstDash val="solid"/>
          </a:ln>
        </p:spPr>
      </p:sp>
      <p:pic>
        <p:nvPicPr>
          <p:cNvPr id="5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5146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51560" y="3383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Bemerken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560" y="38862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erkennst die Mechanismen – Framing, Wiederholung, Emotion, Feindbild.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34840" y="21945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2F6EC"/>
          </a:solidFill>
          <a:ln w="12700">
            <a:solidFill>
              <a:srgbClr val="E4E7E0"/>
            </a:solidFill>
            <a:prstDash val="solid"/>
          </a:ln>
        </p:spPr>
      </p:sp>
      <p:pic>
        <p:nvPicPr>
          <p:cNvPr id="10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51460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4754880" y="3383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Prüfen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754880" y="38862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fragst nach Quelle, Absicht und dem, was bewusst weggelassen wird.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38160" y="21945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2F6EC"/>
          </a:solidFill>
          <a:ln w="12700">
            <a:solidFill>
              <a:srgbClr val="E4E7E0"/>
            </a:solidFill>
            <a:prstDash val="solid"/>
          </a:ln>
        </p:spPr>
      </p:sp>
      <p:pic>
        <p:nvPicPr>
          <p:cNvPr id="15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51460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5820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8458200" y="3383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Wählen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8458200" y="38862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übernimmst nicht die vorgefertigte Bewertung, sondern entscheidest selbst.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ES WEITERGEHT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Geh den Weg – begleitet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7132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8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7 Stufen mit geführten Videos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8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Praxis-Übungen &amp; 31 Vertiefungen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8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Bewusstseinstest, Wachstumskurve &amp; Journal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8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deinem Tempo – ohne Druck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0" y="2651760"/>
            <a:ext cx="3017520" cy="1828800"/>
          </a:xfrm>
          <a:prstGeom prst="roundRect">
            <a:avLst>
              <a:gd name="adj" fmla="val 6000"/>
            </a:avLst>
          </a:prstGeom>
          <a:solidFill>
            <a:srgbClr val="0F1E44"/>
          </a:solidFill>
          <a:ln w="15875">
            <a:solidFill>
              <a:srgbClr val="21B2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Mitgliedschaft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0" y="3246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49 €</a:t>
            </a:r>
            <a:pPr algn="ctr" indent="0" marL="0">
              <a:buNone/>
            </a:pPr>
            <a:r>
              <a:rPr lang="en-US" sz="1600" dirty="0">
                <a:solidFill>
                  <a:srgbClr val="C3CC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 Monat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321040" y="4069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werdemeisterdeinergedanken.de/mitgliedschaft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Erster Schritt kostenlos: der Bewusstseinstest.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82296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7490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Werde Meister deiner </a:t>
            </a:r>
            <a:pPr algn="ctr" indent="0" marL="0">
              <a:buNone/>
            </a:pPr>
            <a:r>
              <a:rPr lang="en-US" sz="4000" b="1" i="1" dirty="0">
                <a:solidFill>
                  <a:srgbClr val="A3D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Gedanken</a:t>
            </a:r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Danke, dass du heute dabei warst.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werdemeisterdeinergedanken.de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Werde Meister deiner Gedanken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Heiko Schwaninger</dc:creator>
  <cp:lastModifiedBy>Heiko Schwaninger</cp:lastModifiedBy>
  <cp:revision>1</cp:revision>
  <dcterms:created xsi:type="dcterms:W3CDTF">2026-08-01T00:18:58Z</dcterms:created>
  <dcterms:modified xsi:type="dcterms:W3CDTF">2026-08-01T00:18:58Z</dcterms:modified>
</cp:coreProperties>
</file>