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Mechanismus 1: Propaganda &amp; Konditionierung – Wie Denken von außen geformt wird. Kernaussage, Beispiel, Reflexionsfrage. Ca. 15 Min pro Mechanismus.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Mechanismus 2: Framing – Die unsichtbare Macht hinter den Worten. Kernaussage, Beispiel, Reflexionsfrage. Ca. 15 Min pro Mechanismus.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Mechanismus 3: Sprache &amp; Etiketten – Wie Wörter deine Wahrnehmung färben. Kernaussage, Beispiel, Reflexionsfrage. Ca. 15 Min pro Mechanismus.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Mechanismus 4: Medien &amp; Aufmerksamkeit – Worüber du nachdenkst, ist schon eine Entscheidung. Kernaussage, Beispiel, Reflexionsfrage. Ca. 15 Min pro Mechanismus.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Mechanismus 5: Algorithmen &amp; Filterblasen – Die personalisierte Realität. Kernaussage, Beispiel, Reflexionsfrage. Ca. 15 Min pro Mechanismus.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Mechanismus 6: Werbung &amp; künstlicher Mangel – Wie ein Bedürfnis erschaffen wird. Kernaussage, Beispiel, Reflexionsfrage. Ca. 15 Min pro Mechanismus.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Mechanismus 7: Gruppendruck &amp; Schweigespirale – Warum wir uns anpassen, obwohl wir zweifeln. Kernaussage, Beispiel, Reflexionsfrage. Ca. 15 Min pro Mechanismus.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Mechanismus 8: Autorität &amp; Gehorsam – Wenn Titel das Prüfen ersetzen. Kernaussage, Beispiel, Reflexionsfrage. Ca. 15 Min pro Mechanismus.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Mechanismus 9: Angst als Steuerungsmittel – Warum Druck dich lenkbar macht. Kernaussage, Beispiel, Reflexionsfrage. Ca. 15 Min pro Mechanismus.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Mechanismus 10: Wiederholung wird zur Wahrheit – Warum Vertrautes glaubwürdig wirkt. Kernaussage, Beispiel, Reflexionsfrage. Ca. 15 Min pro Mechanismus.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Mechanismus 11: Ablenkung &amp; Überflutung – Wenn Aufmerksamkeit selbst zum Ziel wird. Kernaussage, Beispiel, Reflexionsfrage. Ca. 15 Min pro Mechanismus.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Mechanismus 12: Kognitive Dissonanz – Warum wir Unpassendes abwehren. Kernaussage, Beispiel, Reflexionsfrage. Ca. 15 Min pro Mechanismus.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Mechanismus 13: Normalisierung – Wie das Ungewöhnliche selbstverständlich wird. Kernaussage, Beispiel, Reflexionsfrage. Ca. 15 Min pro Mechanismus.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Mechanismus 14: Bilder statt Argumente – Warum ein Bild schneller wirkt als ein Beweis. Kernaussage, Beispiel, Reflexionsfrage. Ca. 15 Min pro Mechanismus.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Mechanismus 15: Identität &amp; Meinung – Wenn Kritik als Angriff auf dich wirkt. Kernaussage, Beispiel, Reflexionsfrage. Ca. 15 Min pro Mechanismus.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Mechanismus 16: Reizüberflutung &amp; Alarmbereitschaft – Warum ein überflutetes Gehirn leichter zu lenken ist. Kernaussage, Beispiel, Reflexionsfrage. Ca. 15 Min pro Mechanismus.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image" Target="../media/image-2-1.png"/><Relationship Id="rId5" Type="http://schemas.openxmlformats.org/officeDocument/2006/relationships/image" Target="../media/image-2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image" Target="../media/image-5-1.png"/><Relationship Id="rId4" Type="http://schemas.openxmlformats.org/officeDocument/2006/relationships/image" Target="../media/image-5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image" Target="../media/image-7-1.png"/><Relationship Id="rId5" Type="http://schemas.openxmlformats.org/officeDocument/2006/relationships/image" Target="../media/image-7-1.png"/><Relationship Id="rId6" Type="http://schemas.openxmlformats.org/officeDocument/2006/relationships/image" Target="../media/image-7-1.png"/><Relationship Id="rId7" Type="http://schemas.openxmlformats.org/officeDocument/2006/relationships/image" Target="../media/image-7-1.png"/><Relationship Id="rId8" Type="http://schemas.openxmlformats.org/officeDocument/2006/relationships/image" Target="../media/image-7-1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1.png"/><Relationship Id="rId4" Type="http://schemas.openxmlformats.org/officeDocument/2006/relationships/image" Target="../media/image-8-1.png"/><Relationship Id="rId5" Type="http://schemas.openxmlformats.org/officeDocument/2006/relationships/image" Target="../media/image-8-1.png"/><Relationship Id="rId6" Type="http://schemas.openxmlformats.org/officeDocument/2006/relationships/image" Target="../media/image-8-1.png"/><Relationship Id="rId7" Type="http://schemas.openxmlformats.org/officeDocument/2006/relationships/image" Target="../media/image-8-1.png"/><Relationship Id="rId8" Type="http://schemas.openxmlformats.org/officeDocument/2006/relationships/image" Target="../media/image-8-1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1.png"/><Relationship Id="rId3" Type="http://schemas.openxmlformats.org/officeDocument/2006/relationships/image" Target="../media/image-25-1.png"/><Relationship Id="rId4" Type="http://schemas.openxmlformats.org/officeDocument/2006/relationships/image" Target="../media/image-25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1.png"/><Relationship Id="rId3" Type="http://schemas.openxmlformats.org/officeDocument/2006/relationships/image" Target="../media/image-2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r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1691640"/>
            <a:ext cx="2743200" cy="2743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1097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A3D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TAGES-WORKSHOP · KLARER KOPF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31520" y="1645920"/>
            <a:ext cx="79552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Mentale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i="1" dirty="0">
                <a:solidFill>
                  <a:srgbClr val="34C4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Selbstverteidigung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777240" y="416052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8D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16 Mechanismen, mit denen dein Denken gelenkt wird – und dein Schutz gegen jeden.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7724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E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Heiko Schwaninger  ·  werdemeisterdeinergedanken.de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ÜBERBLICK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dich heute erwartet</a:t>
            </a:r>
            <a:endParaRPr lang="en-US" sz="3800" dirty="0"/>
          </a:p>
        </p:txBody>
      </p:sp>
      <p:pic>
        <p:nvPicPr>
          <p:cNvPr id="4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65960"/>
            <a:ext cx="566928" cy="5669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6" name="Text 3"/>
          <p:cNvSpPr/>
          <p:nvPr/>
        </p:nvSpPr>
        <p:spPr>
          <a:xfrm>
            <a:off x="1600200" y="192938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Ankommen &amp; Einstieg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600200" y="227685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dein Kopf ein umkämpftes Feld ist.</a:t>
            </a:r>
            <a:endParaRPr lang="en-US" sz="1400" dirty="0"/>
          </a:p>
        </p:txBody>
      </p:sp>
      <p:pic>
        <p:nvPicPr>
          <p:cNvPr id="8" name="Image 1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862072"/>
            <a:ext cx="566928" cy="5669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77240" y="28620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6"/>
          <p:cNvSpPr/>
          <p:nvPr/>
        </p:nvSpPr>
        <p:spPr>
          <a:xfrm>
            <a:off x="1600200" y="282549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Beeinflussung wirkt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600200" y="317296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Leise statt laut – ganz ohne Lüge.</a:t>
            </a:r>
            <a:endParaRPr lang="en-US" sz="1400" dirty="0"/>
          </a:p>
        </p:txBody>
      </p:sp>
      <p:pic>
        <p:nvPicPr>
          <p:cNvPr id="12" name="Image 2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758184"/>
            <a:ext cx="566928" cy="56692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77240" y="37581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00" dirty="0"/>
          </a:p>
        </p:txBody>
      </p:sp>
      <p:sp>
        <p:nvSpPr>
          <p:cNvPr id="14" name="Text 9"/>
          <p:cNvSpPr/>
          <p:nvPr/>
        </p:nvSpPr>
        <p:spPr>
          <a:xfrm>
            <a:off x="1600200" y="37216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Mechanismen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1600200" y="406908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Propaganda bis Reizüberflutung – in vier Blöcken.</a:t>
            </a:r>
            <a:endParaRPr lang="en-US" sz="1400" dirty="0"/>
          </a:p>
        </p:txBody>
      </p:sp>
      <p:pic>
        <p:nvPicPr>
          <p:cNvPr id="16" name="Image 3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654296"/>
            <a:ext cx="566928" cy="56692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77240" y="46542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100" dirty="0"/>
          </a:p>
        </p:txBody>
      </p:sp>
      <p:sp>
        <p:nvSpPr>
          <p:cNvPr id="18" name="Text 12"/>
          <p:cNvSpPr/>
          <p:nvPr/>
        </p:nvSpPr>
        <p:spPr>
          <a:xfrm>
            <a:off x="1600200" y="461772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Übungen &amp; Reflexion</a:t>
            </a:r>
            <a:endParaRPr lang="en-US" sz="1800" dirty="0"/>
          </a:p>
        </p:txBody>
      </p:sp>
      <p:sp>
        <p:nvSpPr>
          <p:cNvPr id="19" name="Text 13"/>
          <p:cNvSpPr/>
          <p:nvPr/>
        </p:nvSpPr>
        <p:spPr>
          <a:xfrm>
            <a:off x="1600200" y="496519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 Mechanismus an dir selbst erkennen.</a:t>
            </a:r>
            <a:endParaRPr lang="en-US" sz="1400" dirty="0"/>
          </a:p>
        </p:txBody>
      </p:sp>
      <p:pic>
        <p:nvPicPr>
          <p:cNvPr id="20" name="Image 4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550408"/>
            <a:ext cx="566928" cy="56692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77240" y="55504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100" dirty="0"/>
          </a:p>
        </p:txBody>
      </p:sp>
      <p:sp>
        <p:nvSpPr>
          <p:cNvPr id="22" name="Text 15"/>
          <p:cNvSpPr/>
          <p:nvPr/>
        </p:nvSpPr>
        <p:spPr>
          <a:xfrm>
            <a:off x="1600200" y="551383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Dein Schutz im Alltag</a:t>
            </a:r>
            <a:endParaRPr lang="en-US" sz="1800" dirty="0"/>
          </a:p>
        </p:txBody>
      </p:sp>
      <p:sp>
        <p:nvSpPr>
          <p:cNvPr id="23" name="Text 16"/>
          <p:cNvSpPr/>
          <p:nvPr/>
        </p:nvSpPr>
        <p:spPr>
          <a:xfrm>
            <a:off x="1600200" y="586130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du ab morgen anders machst.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2011680"/>
            <a:ext cx="10149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Nicht alles, was du denkst, </a:t>
            </a:r>
            <a:pPr indent="0" marL="0">
              <a:lnSpc>
                <a:spcPct val="110000"/>
              </a:lnSpc>
              <a:buNone/>
            </a:pPr>
            <a:r>
              <a:rPr lang="en-US" sz="4000" b="1" i="1" dirty="0">
                <a:solidFill>
                  <a:srgbClr val="A3D6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ist wirklich von dir</a:t>
            </a:r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024128" y="45720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3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die Muster kennt, gewinnt den Abstand zurück.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AUSGANGSPUNKT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7040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Beeinflussung arbeitet leise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67665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65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wirksamste Beeinflussung zwingt dir keine Meinung auf. Sie sorgt dafür, dass sich eine bestimmte Sicht mit der Zeit einfach richtig anfühlt.</a:t>
            </a:r>
            <a:endParaRPr lang="en-US" sz="16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65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 Wiederholung, Emotion und Vereinfachung – oft ganz ohne eine einzige Lüge.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955280" y="1554480"/>
            <a:ext cx="3566160" cy="3840480"/>
          </a:xfrm>
          <a:prstGeom prst="roundRect">
            <a:avLst>
              <a:gd name="adj" fmla="val 3590"/>
            </a:avLst>
          </a:prstGeom>
          <a:solidFill>
            <a:srgbClr val="08102A"/>
          </a:solidFill>
          <a:ln/>
        </p:spPr>
      </p:sp>
      <p:sp>
        <p:nvSpPr>
          <p:cNvPr id="6" name="Text 4"/>
          <p:cNvSpPr/>
          <p:nvPr/>
        </p:nvSpPr>
        <p:spPr>
          <a:xfrm>
            <a:off x="8138160" y="19659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E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zu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01000" y="233172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A3D6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10.000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8138160" y="34747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Werbebotschaften am Tag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0" y="4023360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 das ist nur einer von 16 Hebeln, die täglich auf dein Denken wirken.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1 · 5 MINUTEN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Einen Frame erkennen</a:t>
            </a:r>
            <a:endParaRPr lang="en-US" sz="3600" dirty="0"/>
          </a:p>
        </p:txBody>
      </p:sp>
      <p:pic>
        <p:nvPicPr>
          <p:cNvPr id="4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512064" cy="5120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21488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1554480" y="21671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Nimm eine aktuelle Schlagzeile oder Werbung.</a:t>
            </a:r>
            <a:endParaRPr lang="en-US" sz="1650" dirty="0"/>
          </a:p>
        </p:txBody>
      </p:sp>
      <p:pic>
        <p:nvPicPr>
          <p:cNvPr id="7" name="Image 1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90088"/>
            <a:ext cx="512064" cy="51206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7240" y="29900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1554480" y="3008376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Unterstreiche die Wörter, die schon eine Wertung enthalten.</a:t>
            </a:r>
            <a:endParaRPr lang="en-US" sz="1650" dirty="0"/>
          </a:p>
        </p:txBody>
      </p:sp>
      <p:pic>
        <p:nvPicPr>
          <p:cNvPr id="10" name="Image 2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831336"/>
            <a:ext cx="512064" cy="51206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77240" y="38313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1554480" y="3849624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Formuliere denselben Vorgang so neutral wie möglich.</a:t>
            </a:r>
            <a:endParaRPr lang="en-US" sz="1650" dirty="0"/>
          </a:p>
        </p:txBody>
      </p:sp>
      <p:pic>
        <p:nvPicPr>
          <p:cNvPr id="13" name="Image 3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672584"/>
            <a:ext cx="512064" cy="51206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77240" y="4672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1554480" y="4690872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Frag: Wer profitiert von genau diesem Rahmen?</a:t>
            </a:r>
            <a:endParaRPr lang="en-US" sz="1650" dirty="0"/>
          </a:p>
        </p:txBody>
      </p:sp>
      <p:sp>
        <p:nvSpPr>
          <p:cNvPr id="16" name="Shape 10"/>
          <p:cNvSpPr/>
          <p:nvPr/>
        </p:nvSpPr>
        <p:spPr>
          <a:xfrm>
            <a:off x="8366760" y="2148840"/>
            <a:ext cx="3154680" cy="3200400"/>
          </a:xfrm>
          <a:prstGeom prst="roundRect">
            <a:avLst>
              <a:gd name="adj" fmla="val 3478"/>
            </a:avLst>
          </a:prstGeom>
          <a:solidFill>
            <a:srgbClr val="08102A"/>
          </a:solidFill>
          <a:ln/>
        </p:spPr>
      </p:sp>
      <p:sp>
        <p:nvSpPr>
          <p:cNvPr id="17" name="Text 11"/>
          <p:cNvSpPr/>
          <p:nvPr/>
        </p:nvSpPr>
        <p:spPr>
          <a:xfrm>
            <a:off x="8595360" y="2423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3D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MITNEHMEN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8595360" y="2788920"/>
            <a:ext cx="2743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Framing ist keine Lüge – es ist eine Brille. Freiheit beginnt, wenn du die Brille bemerkst.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2148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A3D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WERKZEUGE DER BEEINFLUSSUNG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60120" y="251460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Mechanismen – ein System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1005840" y="370332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3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gehen sie in vier Blöcken durch: von Propaganda bis Reizüberflutung.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LANDKARTE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16 Mechanismen im Überblick  (1/2)</a:t>
            </a:r>
            <a:endParaRPr lang="en-US" sz="2800" dirty="0"/>
          </a:p>
        </p:txBody>
      </p:sp>
      <p:pic>
        <p:nvPicPr>
          <p:cNvPr id="4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28800"/>
            <a:ext cx="603504" cy="6035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18288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554480" y="18105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Propaganda &amp; Konditionierung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554480" y="21488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Denken von außen geformt wird</a:t>
            </a:r>
            <a:endParaRPr lang="en-US" sz="1150" dirty="0"/>
          </a:p>
        </p:txBody>
      </p:sp>
      <p:pic>
        <p:nvPicPr>
          <p:cNvPr id="8" name="Image 1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07792"/>
            <a:ext cx="603504" cy="60350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" y="290779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1554480" y="288950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554480" y="322783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unsichtbare Macht hinter den Worten</a:t>
            </a:r>
            <a:endParaRPr lang="en-US" sz="1150" dirty="0"/>
          </a:p>
        </p:txBody>
      </p:sp>
      <p:pic>
        <p:nvPicPr>
          <p:cNvPr id="12" name="Image 2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986784"/>
            <a:ext cx="603504" cy="60350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31520" y="398678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1554480" y="396849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Sprache &amp; Etiketten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1554480" y="4306824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Wörter deine Wahrnehmung färben</a:t>
            </a:r>
            <a:endParaRPr lang="en-US" sz="1150" dirty="0"/>
          </a:p>
        </p:txBody>
      </p:sp>
      <p:pic>
        <p:nvPicPr>
          <p:cNvPr id="16" name="Image 3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065776"/>
            <a:ext cx="603504" cy="60350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31520" y="50657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1554480" y="5047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Medien &amp; Aufmerksamkeit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1554480" y="5385816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Worüber du nachdenkst, ist schon eine Entscheidung</a:t>
            </a:r>
            <a:endParaRPr lang="en-US" sz="1150" dirty="0"/>
          </a:p>
        </p:txBody>
      </p:sp>
      <p:pic>
        <p:nvPicPr>
          <p:cNvPr id="20" name="Image 4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1828800"/>
            <a:ext cx="603504" cy="60350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446520" y="18288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2" name="Text 15"/>
          <p:cNvSpPr/>
          <p:nvPr/>
        </p:nvSpPr>
        <p:spPr>
          <a:xfrm>
            <a:off x="7269480" y="18105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Algorithmen &amp; Filterblasen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7269480" y="21488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personalisierte Realität</a:t>
            </a:r>
            <a:endParaRPr lang="en-US" sz="1150" dirty="0"/>
          </a:p>
        </p:txBody>
      </p:sp>
      <p:pic>
        <p:nvPicPr>
          <p:cNvPr id="24" name="Image 5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520" y="2907792"/>
            <a:ext cx="603504" cy="603504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446520" y="290779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6" name="Text 18"/>
          <p:cNvSpPr/>
          <p:nvPr/>
        </p:nvSpPr>
        <p:spPr>
          <a:xfrm>
            <a:off x="7269480" y="288950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Werbung &amp; künstlicher Mangel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7269480" y="322783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ein Bedürfnis erschaffen wird</a:t>
            </a:r>
            <a:endParaRPr lang="en-US" sz="1150" dirty="0"/>
          </a:p>
        </p:txBody>
      </p:sp>
      <p:pic>
        <p:nvPicPr>
          <p:cNvPr id="28" name="Image 6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6520" y="3986784"/>
            <a:ext cx="603504" cy="603504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446520" y="398678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30" name="Text 21"/>
          <p:cNvSpPr/>
          <p:nvPr/>
        </p:nvSpPr>
        <p:spPr>
          <a:xfrm>
            <a:off x="7269480" y="396849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Gruppendruck &amp; Schweigespirale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7269480" y="4306824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wir uns anpassen, obwohl wir zweifeln</a:t>
            </a:r>
            <a:endParaRPr lang="en-US" sz="1150" dirty="0"/>
          </a:p>
        </p:txBody>
      </p:sp>
      <p:pic>
        <p:nvPicPr>
          <p:cNvPr id="32" name="Image 7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6520" y="5065776"/>
            <a:ext cx="603504" cy="603504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6446520" y="50657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34" name="Text 24"/>
          <p:cNvSpPr/>
          <p:nvPr/>
        </p:nvSpPr>
        <p:spPr>
          <a:xfrm>
            <a:off x="7269480" y="5047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Autorität &amp; Gehorsam</a:t>
            </a:r>
            <a:endParaRPr lang="en-US" sz="1500" dirty="0"/>
          </a:p>
        </p:txBody>
      </p:sp>
      <p:sp>
        <p:nvSpPr>
          <p:cNvPr id="35" name="Text 25"/>
          <p:cNvSpPr/>
          <p:nvPr/>
        </p:nvSpPr>
        <p:spPr>
          <a:xfrm>
            <a:off x="7269480" y="5385816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Titel das Prüfen ersetzen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LANDKARTE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16 Mechanismen im Überblick  (2/2)</a:t>
            </a:r>
            <a:endParaRPr lang="en-US" sz="2800" dirty="0"/>
          </a:p>
        </p:txBody>
      </p:sp>
      <p:pic>
        <p:nvPicPr>
          <p:cNvPr id="4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28800"/>
            <a:ext cx="603504" cy="6035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18288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554480" y="18105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Angst als Steuerungsmittel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554480" y="21488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Druck dich lenkbar macht</a:t>
            </a:r>
            <a:endParaRPr lang="en-US" sz="1150" dirty="0"/>
          </a:p>
        </p:txBody>
      </p:sp>
      <p:pic>
        <p:nvPicPr>
          <p:cNvPr id="8" name="Image 1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07792"/>
            <a:ext cx="603504" cy="60350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" y="290779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1554480" y="288950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Wiederholung wird zur Wahrheit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554480" y="322783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Vertrautes glaubwürdig wirkt</a:t>
            </a:r>
            <a:endParaRPr lang="en-US" sz="1150" dirty="0"/>
          </a:p>
        </p:txBody>
      </p:sp>
      <p:pic>
        <p:nvPicPr>
          <p:cNvPr id="12" name="Image 2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986784"/>
            <a:ext cx="603504" cy="60350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31520" y="398678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1554480" y="396849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Ablenkung &amp; Überflutung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1554480" y="4306824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Aufmerksamkeit selbst zum Ziel wird</a:t>
            </a:r>
            <a:endParaRPr lang="en-US" sz="1150" dirty="0"/>
          </a:p>
        </p:txBody>
      </p:sp>
      <p:pic>
        <p:nvPicPr>
          <p:cNvPr id="16" name="Image 3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065776"/>
            <a:ext cx="603504" cy="60350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31520" y="50657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1554480" y="5047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Kognitive Dissonanz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1554480" y="5385816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wir Unpassendes abwehren</a:t>
            </a:r>
            <a:endParaRPr lang="en-US" sz="1150" dirty="0"/>
          </a:p>
        </p:txBody>
      </p:sp>
      <p:pic>
        <p:nvPicPr>
          <p:cNvPr id="20" name="Image 4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1828800"/>
            <a:ext cx="603504" cy="60350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446520" y="18288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200" dirty="0"/>
          </a:p>
        </p:txBody>
      </p:sp>
      <p:sp>
        <p:nvSpPr>
          <p:cNvPr id="22" name="Text 15"/>
          <p:cNvSpPr/>
          <p:nvPr/>
        </p:nvSpPr>
        <p:spPr>
          <a:xfrm>
            <a:off x="7269480" y="18105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Normalisierung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7269480" y="21488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das Ungewöhnliche selbstverständlich wird</a:t>
            </a:r>
            <a:endParaRPr lang="en-US" sz="1150" dirty="0"/>
          </a:p>
        </p:txBody>
      </p:sp>
      <p:pic>
        <p:nvPicPr>
          <p:cNvPr id="24" name="Image 5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520" y="2907792"/>
            <a:ext cx="603504" cy="603504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446520" y="290779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26" name="Text 18"/>
          <p:cNvSpPr/>
          <p:nvPr/>
        </p:nvSpPr>
        <p:spPr>
          <a:xfrm>
            <a:off x="7269480" y="288950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Bilder statt Argumente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7269480" y="322783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ein Bild schneller wirkt als ein Beweis</a:t>
            </a:r>
            <a:endParaRPr lang="en-US" sz="1150" dirty="0"/>
          </a:p>
        </p:txBody>
      </p:sp>
      <p:pic>
        <p:nvPicPr>
          <p:cNvPr id="28" name="Image 6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6520" y="3986784"/>
            <a:ext cx="603504" cy="603504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446520" y="398678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200" dirty="0"/>
          </a:p>
        </p:txBody>
      </p:sp>
      <p:sp>
        <p:nvSpPr>
          <p:cNvPr id="30" name="Text 21"/>
          <p:cNvSpPr/>
          <p:nvPr/>
        </p:nvSpPr>
        <p:spPr>
          <a:xfrm>
            <a:off x="7269480" y="396849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Identität &amp; Meinung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7269480" y="4306824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Kritik als Angriff auf dich wirkt</a:t>
            </a:r>
            <a:endParaRPr lang="en-US" sz="1150" dirty="0"/>
          </a:p>
        </p:txBody>
      </p:sp>
      <p:pic>
        <p:nvPicPr>
          <p:cNvPr id="32" name="Image 7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6520" y="5065776"/>
            <a:ext cx="603504" cy="603504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6446520" y="50657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2200" dirty="0"/>
          </a:p>
        </p:txBody>
      </p:sp>
      <p:sp>
        <p:nvSpPr>
          <p:cNvPr id="34" name="Text 24"/>
          <p:cNvSpPr/>
          <p:nvPr/>
        </p:nvSpPr>
        <p:spPr>
          <a:xfrm>
            <a:off x="7269480" y="5047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Reizüberflutung &amp; Alarmbereitschaft</a:t>
            </a:r>
            <a:endParaRPr lang="en-US" sz="1500" dirty="0"/>
          </a:p>
        </p:txBody>
      </p:sp>
      <p:sp>
        <p:nvSpPr>
          <p:cNvPr id="35" name="Text 25"/>
          <p:cNvSpPr/>
          <p:nvPr/>
        </p:nvSpPr>
        <p:spPr>
          <a:xfrm>
            <a:off x="7269480" y="5385816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ein überflutetes Gehirn leichter zu lenken ist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Mechanismus 1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Propaganda &amp; Konditionierung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Denken von außen geformt wird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Propaganda zwingt selten direkt eine Meinung auf – sie wirkt über Wiederholung, Emotion und Vereinfachung.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 Überzeugung hast du übernommen, ohne sie je geprüft zu haben?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Mechanismus 2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Framing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unsichtbare Macht hinter den Worten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Frame ist ein Deutungsrahmen: Dieselbe Wirklichkeit wirkt je nach Wortwahl völlig anders – ganz ohne falsche Fakten.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Welches Wort in einer Schlagzeile hat dich zuletzt gelenkt?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Mechanismus 3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Sprache &amp; Etiketten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Wörter deine Wahrnehmung färben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Wörter beschreiben die Wirklichkeit nicht nur – sie geben ihr bereits eine Bedeutung, oft schon bevor du prüfst.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Welches Etikett verändert dein Urteil über einen Menschen – vor dem ersten Argument?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Mechanismus 4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Medien &amp; Aufmerksamkeit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Worüber du nachdenkst, ist schon eine Entscheidung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Medien müssen dir nicht sagen, was du denken sollst – es reicht, festzulegen, worüber du täglich nachdenkst.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Worüber denkst du gerade viel nach – und wer hat das Thema gesetzt?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Mechanismus 5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Algorithmen &amp; Filterblasen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personalisierte Realität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siehst du nicht „die Welt“, sondern eine Auswahl, die auf deinem bisherigen Verhalten beruht.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Wessen Meinung bestätigt dir dein Feed – und wen zeigt er dir nie?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Mechanismus 6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Werbung &amp; künstlicher Mangel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ein Bedürfnis erschaffen wird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Werbung verkauft nicht nur Produkte, sondern Vorstellungen davon, wer du sein solltest – und was dir angeblich fehlt.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wolltest du zuletzt erst, seit du die Werbung gesehen hast?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Mechanismus 7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Gruppendruck &amp; Schweigespirale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wir uns anpassen, obwohl wir zweifeln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Menschen passen sich häufig an, obwohl sie innerlich Zweifel haben – aus Angst vor Ausgrenzung.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 trägst du etwas mit, das du innerlich bezweifelst?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Mechanismus 8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Autorität &amp; Gehorsam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Wenn Titel das Prüfen ersetzen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Titel, Status und Institutionen können dazu führen, dass Aussagen nicht mehr geprüft, sondern einfach geglaubt werden.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 hörst du auf zu prüfen, nur weil ein Titel dahintersteht?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Mechanismus 9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Angst als Steuerungsmittel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Druck dich lenkbar macht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Angst verengt die Wahrnehmung – unter Druck suchen Menschen nach schnellen Antworten, Sicherheit und klaren Führungsfiguren.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 Entscheidung hast du zuletzt aus Angst statt aus Klarheit getroffen?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Mechanismus 10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Wiederholung wird zur Wahrheit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Vertrautes glaubwürdig wirkt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Aussage kann vertraut und dadurch wahr wirken, obwohl sie nie bewiesen wurde.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hältst du für wahr, nur weil du es oft gehört hast?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Mechanismus 11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Ablenkung &amp; Überflutung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Wenn Aufmerksamkeit selbst zum Ziel wird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 jede Beeinflussung verbreitet falsche Informationen – manchmal reicht es, die Aufmerksamkeit auf Nebensachen zu lenken.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übersiehst du gerade, weil deine Aufmerksamkeit woanders gebunden ist?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Mechanismus 12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Kognitive Dissonanz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wir Unpassendes abwehren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Menschen weisen Informationen oft nicht zurück, weil sie falsch sind, sondern weil sie das eigene Weltbild bedrohen.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 unbequeme Information hast du zuletzt schnell abgewertet?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Mechanismus 13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Normalisierung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das Ungewöhnliche selbstverständlich wird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häufig genug gezeigt, gesagt oder praktiziert wird, wirkt irgendwann selbstverständlich – auch wenn es das nicht ist.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findest du heute normal, das dich früher gestört hätte?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Mechanismus 14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Bilder statt Argumente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ein Bild schneller wirkt als ein Beweis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Bilder erreichen Menschen oft schneller als Fakten – und ein Ausschnitt kann eine ganze Wirklichkeit ersetzen.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Welches Bild hat dich zuletzt überzeugt – ohne ein einziges Argument?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Mechanismus 15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Identität &amp; Meinung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Wenn Kritik als Angriff auf dich wirkt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Sobald eine Meinung Teil deiner Identität wird, fühlt sich Kritik daran wie ein persönlicher Angriff an.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Bei welcher Meinung fühlt sich Kritik wie ein persönlicher Angriff an?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7772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5100" dirty="0"/>
          </a:p>
        </p:txBody>
      </p:sp>
      <p:sp>
        <p:nvSpPr>
          <p:cNvPr id="4" name="Text 1"/>
          <p:cNvSpPr/>
          <p:nvPr/>
        </p:nvSpPr>
        <p:spPr>
          <a:xfrm>
            <a:off x="242316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Mechanismus 16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377440" y="11887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Reizüberflutung &amp; Alarmbereitschaft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395728" y="214884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ein überflutetes Gehirn leichter zu lenken ist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3291840"/>
            <a:ext cx="7315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 viele gleichzeitige, wechselnde und emotionale Reize halten dein Nervensystem in Daueralarm – und in Alarm denkst du enger und bist leichter steuerbar.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366760" y="3200400"/>
            <a:ext cx="3154680" cy="2560320"/>
          </a:xfrm>
          <a:prstGeom prst="roundRect">
            <a:avLst>
              <a:gd name="adj" fmla="val 4286"/>
            </a:avLst>
          </a:prstGeom>
          <a:solidFill>
            <a:srgbClr val="E7F4F5"/>
          </a:solidFill>
          <a:ln w="12700">
            <a:solidFill>
              <a:srgbClr val="CFE6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1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9536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Triffst du Entscheidungen im Alarm – oder in der Ruhe?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2 · QUELLEN-CHECK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Oft gehört oder belegt?</a:t>
            </a:r>
            <a:endParaRPr lang="en-US" sz="3600" dirty="0"/>
          </a:p>
        </p:txBody>
      </p:sp>
      <p:pic>
        <p:nvPicPr>
          <p:cNvPr id="4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512064" cy="5120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21488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1554480" y="21671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Nimm eine Überzeugung, die dir selbstverständlich ist.</a:t>
            </a:r>
            <a:endParaRPr lang="en-US" sz="1650" dirty="0"/>
          </a:p>
        </p:txBody>
      </p:sp>
      <p:pic>
        <p:nvPicPr>
          <p:cNvPr id="7" name="Image 1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90088"/>
            <a:ext cx="512064" cy="51206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7240" y="29900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1554480" y="3008376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Frag: Kenne ich einen echten Beleg – oder habe ich das nur oft gehört?</a:t>
            </a:r>
            <a:endParaRPr lang="en-US" sz="1650" dirty="0"/>
          </a:p>
        </p:txBody>
      </p:sp>
      <p:pic>
        <p:nvPicPr>
          <p:cNvPr id="10" name="Image 2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831336"/>
            <a:ext cx="512064" cy="51206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77240" y="38313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1554480" y="3849624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Suche die ursprüngliche Quelle, nicht die Wiederholung.</a:t>
            </a:r>
            <a:endParaRPr lang="en-US" sz="1650" dirty="0"/>
          </a:p>
        </p:txBody>
      </p:sp>
      <p:pic>
        <p:nvPicPr>
          <p:cNvPr id="13" name="Image 3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672584"/>
            <a:ext cx="512064" cy="51206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77240" y="4672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1554480" y="4690872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Zähle unabhängige Quellen, nicht laute Stimmen.</a:t>
            </a:r>
            <a:endParaRPr lang="en-US" sz="1650" dirty="0"/>
          </a:p>
        </p:txBody>
      </p:sp>
      <p:sp>
        <p:nvSpPr>
          <p:cNvPr id="16" name="Shape 10"/>
          <p:cNvSpPr/>
          <p:nvPr/>
        </p:nvSpPr>
        <p:spPr>
          <a:xfrm>
            <a:off x="8366760" y="2148840"/>
            <a:ext cx="3154680" cy="3200400"/>
          </a:xfrm>
          <a:prstGeom prst="roundRect">
            <a:avLst>
              <a:gd name="adj" fmla="val 3478"/>
            </a:avLst>
          </a:prstGeom>
          <a:solidFill>
            <a:srgbClr val="08102A"/>
          </a:solidFill>
          <a:ln/>
        </p:spPr>
      </p:sp>
      <p:sp>
        <p:nvSpPr>
          <p:cNvPr id="17" name="Text 11"/>
          <p:cNvSpPr/>
          <p:nvPr/>
        </p:nvSpPr>
        <p:spPr>
          <a:xfrm>
            <a:off x="8595360" y="2423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3D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MITNEHMEN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8595360" y="2788920"/>
            <a:ext cx="2743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Vertrautheit ist kein Beweis. Was oft wiederholt wird, verdient dieselbe Prüfung wie beim ersten Mal.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4F9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BLEIBT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Dein Schutz in drei Schritten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2194560"/>
            <a:ext cx="3429000" cy="3108960"/>
          </a:xfrm>
          <a:prstGeom prst="roundRect">
            <a:avLst>
              <a:gd name="adj" fmla="val 3529"/>
            </a:avLst>
          </a:prstGeom>
          <a:solidFill>
            <a:srgbClr val="F2F6EC"/>
          </a:solidFill>
          <a:ln w="12700">
            <a:solidFill>
              <a:srgbClr val="E4E7E0"/>
            </a:solidFill>
            <a:prstDash val="solid"/>
          </a:ln>
        </p:spPr>
      </p:sp>
      <p:pic>
        <p:nvPicPr>
          <p:cNvPr id="5" name="Image 0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51460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051560" y="33832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Bemerken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051560" y="388620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erkennst die Mechanismen – Framing, Wiederholung, Emotion, Feindbild.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434840" y="2194560"/>
            <a:ext cx="3429000" cy="3108960"/>
          </a:xfrm>
          <a:prstGeom prst="roundRect">
            <a:avLst>
              <a:gd name="adj" fmla="val 3529"/>
            </a:avLst>
          </a:prstGeom>
          <a:solidFill>
            <a:srgbClr val="F2F6EC"/>
          </a:solidFill>
          <a:ln w="12700">
            <a:solidFill>
              <a:srgbClr val="E4E7E0"/>
            </a:solidFill>
            <a:prstDash val="solid"/>
          </a:ln>
        </p:spPr>
      </p:sp>
      <p:pic>
        <p:nvPicPr>
          <p:cNvPr id="10" name="Image 1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514600"/>
            <a:ext cx="640080" cy="6400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75488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4754880" y="33832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Prüfen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4754880" y="388620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fragst nach Quelle, Absicht und dem, was bewusst weggelassen wird.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138160" y="2194560"/>
            <a:ext cx="3429000" cy="3108960"/>
          </a:xfrm>
          <a:prstGeom prst="roundRect">
            <a:avLst>
              <a:gd name="adj" fmla="val 3529"/>
            </a:avLst>
          </a:prstGeom>
          <a:solidFill>
            <a:srgbClr val="F2F6EC"/>
          </a:solidFill>
          <a:ln w="12700">
            <a:solidFill>
              <a:srgbClr val="E4E7E0"/>
            </a:solidFill>
            <a:prstDash val="solid"/>
          </a:ln>
        </p:spPr>
      </p:sp>
      <p:pic>
        <p:nvPicPr>
          <p:cNvPr id="15" name="Image 2" descr="/tmp/claude-0/-home-user-werdemeisterdeinergedanken/4e63162c-faaf-5cdf-9e83-105262259c9d/scratchpad/presentation/assets/bad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2514600"/>
            <a:ext cx="640080" cy="6400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5820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1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2"/>
          <p:cNvSpPr/>
          <p:nvPr/>
        </p:nvSpPr>
        <p:spPr>
          <a:xfrm>
            <a:off x="8458200" y="33832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Wählen</a:t>
            </a:r>
            <a:endParaRPr lang="en-US" sz="2200" dirty="0"/>
          </a:p>
        </p:txBody>
      </p:sp>
      <p:sp>
        <p:nvSpPr>
          <p:cNvPr id="18" name="Text 13"/>
          <p:cNvSpPr/>
          <p:nvPr/>
        </p:nvSpPr>
        <p:spPr>
          <a:xfrm>
            <a:off x="8458200" y="388620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485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übernimmst nicht die vorgefertigte Bewertung, sondern entscheidest selbst.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A3D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ES WEITERGEHT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Vertiefe jeden Mechanismus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72237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700" dirty="0">
                <a:solidFill>
                  <a:srgbClr val="E7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16 Mechanismen als Vertiefung im Mitgliederbereich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700" dirty="0">
                <a:solidFill>
                  <a:srgbClr val="E7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Praxis-Übungen &amp; 31 Vertiefungen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700" dirty="0">
                <a:solidFill>
                  <a:srgbClr val="E7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Bewusstseinstest, Wachstumskurve &amp; Journal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700" dirty="0">
                <a:solidFill>
                  <a:srgbClr val="E7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deinem Tempo – ohne Druck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503920" y="2651760"/>
            <a:ext cx="3017520" cy="1828800"/>
          </a:xfrm>
          <a:prstGeom prst="roundRect">
            <a:avLst>
              <a:gd name="adj" fmla="val 6000"/>
            </a:avLst>
          </a:prstGeom>
          <a:solidFill>
            <a:srgbClr val="0F1E44"/>
          </a:solidFill>
          <a:ln w="15875">
            <a:solidFill>
              <a:srgbClr val="21B2B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0" y="28803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AEB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Mitgliedschaft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503920" y="3246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49 €</a:t>
            </a:r>
            <a:pPr algn="ctr" indent="0" marL="0">
              <a:buNone/>
            </a:pPr>
            <a:r>
              <a:rPr lang="en-US" sz="1600" dirty="0">
                <a:solidFill>
                  <a:srgbClr val="C3CC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/ Monat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321040" y="40690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3D6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werdemeisterdeinergedanken.de/mitgliedschaft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3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Erster Schritt kostenlos: der Bewusstseinstest.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werdemeisterdeinergedanken/4e63162c-faaf-5cdf-9e83-105262259c9d/scratchpad/presentation/assets/br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822960"/>
            <a:ext cx="2743200" cy="2743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74904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Werde Meister deiner </a:t>
            </a:r>
            <a:pPr algn="ctr" indent="0" marL="0">
              <a:buNone/>
            </a:pPr>
            <a:r>
              <a:rPr lang="en-US" sz="4000" b="1" i="1" dirty="0">
                <a:solidFill>
                  <a:srgbClr val="A3D6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Gedanken</a:t>
            </a:r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914400" y="47548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3C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Danke, dass du heute dabei warst.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werdemeisterdeinergedanken.de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Werde Meister deiner Gedanken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Heiko Schwaninger</dc:creator>
  <cp:lastModifiedBy>Heiko Schwaninger</cp:lastModifiedBy>
  <cp:revision>1</cp:revision>
  <dcterms:created xsi:type="dcterms:W3CDTF">2026-08-01T00:33:32Z</dcterms:created>
  <dcterms:modified xsi:type="dcterms:W3CDTF">2026-08-01T00:33:32Z</dcterms:modified>
</cp:coreProperties>
</file>