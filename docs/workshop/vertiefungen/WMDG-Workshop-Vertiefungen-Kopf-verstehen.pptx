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1: Automatische Gedanken – Die Stimme, die immer schon urteilt.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2: Kognitive Verzerrungen – Die häufigsten Denkfehler.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3: Grübeln &amp; Gedankenkreisen – Raus aus der Endlosschleife.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4: Konditionierung – Warum alte Reize noch feuern.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5: Kernüberzeugungen – Die tiefen Regeln unter den Gedanken.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6: Der innere Kritiker – Die strenge Stimme verstehen.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7: Selbstmitgefühl – Der freundliche Umgang mit dir.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8: Emotionsregulation – Gefühle steuern, ohne sie zu unterdrücken.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9: Muster, Körper &amp; Gesundheit – Wenn Denken unter die Haut geht.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10: Die Reiz-Reaktions-Lücke – Der Raum, in dem du frei bist.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11: Neuroplastizität – Warum Veränderung möglich ist.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12: Werte &amp; Ziele – Die Richtung unter dem Tun.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Baustein 13: Integration &amp; Weitergabe – Vom Wissen zur gelebten Haltung.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1.png"/><Relationship Id="rId3" Type="http://schemas.openxmlformats.org/officeDocument/2006/relationships/image" Target="../media/image-22-1.png"/><Relationship Id="rId4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1.png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TAGES-WORKSHOP · VERTIEFUNG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645920"/>
            <a:ext cx="7955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Kopf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i="1" dirty="0">
                <a:solidFill>
                  <a:srgbClr val="34C4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verstehen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8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13 Bausteine: die psychologischen Mechanismen hinter deinen Gedanken.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Heiko Schwaninger  ·  werdemeisterdeinergedanken.de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dich heute erwartet</a:t>
            </a:r>
            <a:endParaRPr lang="en-US" sz="3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1600200" y="1929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 &amp; Einstieg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00200" y="22768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Muster schneller sind als Vorsätze.</a:t>
            </a:r>
            <a:endParaRPr lang="en-US" sz="140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1600200" y="282549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Gedanken &amp; Verzerrungen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00200" y="31729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automatisch in dir abläuft.</a:t>
            </a:r>
            <a:endParaRPr lang="en-US" sz="140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58184"/>
            <a:ext cx="566928" cy="5669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7724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1600200" y="37216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tiefen Schichten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0020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Konditionierung, Kernüberzeugungen, innerer Kritiker.</a:t>
            </a:r>
            <a:endParaRPr lang="en-US" sz="140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1600200" y="46177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Veränderung &amp; Freiheit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600200" y="49651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Reiz-Reaktions-Lücke, Neuroplastizität, Emotion.</a:t>
            </a:r>
            <a:endParaRPr lang="en-US" sz="140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2" name="Text 15"/>
          <p:cNvSpPr/>
          <p:nvPr/>
        </p:nvSpPr>
        <p:spPr>
          <a:xfrm>
            <a:off x="160020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Ausrichtung &amp; Integration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00200" y="58613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Werte, Körper, gelebte Haltung.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du verstehst, </a:t>
            </a:r>
            <a:pPr indent="0" marL="0">
              <a:lnSpc>
                <a:spcPct val="110000"/>
              </a:lnSpc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 dich nicht mehr unbemerkt steuern</a:t>
            </a:r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024128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Verstehen ist der erste Schritt zur Veränderung.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AUSGANGSPUNKT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Muster laufen schneller als Vorsätze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Großteil deines Verhaltens läuft automatisch – Prägungen, alte Reize und Schutzstrategien feuern, bevor der Verstand eingreift.</a:t>
            </a:r>
            <a:endParaRPr lang="en-US" sz="16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nur an der Oberfläche kämpft, bekämpft Symptome. Wer die Mechanismen versteht, setzt an der Wurzel an.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55280" y="1554480"/>
            <a:ext cx="3566160" cy="3840480"/>
          </a:xfrm>
          <a:prstGeom prst="roundRect">
            <a:avLst>
              <a:gd name="adj" fmla="val 3590"/>
            </a:avLst>
          </a:prstGeom>
          <a:solidFill>
            <a:srgbClr val="08102A"/>
          </a:solidFill>
          <a:ln/>
        </p:spPr>
      </p:sp>
      <p:sp>
        <p:nvSpPr>
          <p:cNvPr id="6" name="Text 4"/>
          <p:cNvSpPr/>
          <p:nvPr/>
        </p:nvSpPr>
        <p:spPr>
          <a:xfrm>
            <a:off x="813816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Lücke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138160" y="34747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zwischen Reiz und Reaktion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diesem winzigen Raum liegt dein ganzer Freiraum.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GEDANKENPROTOKOLL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Einen Gedanken entlarven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 Situation, die dich zuletzt belastet hat.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Welcher automatische Gedanke schoss dir durch den Kopf?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Verzerrung steckt darin (Schwarz-Weiß, Katastrophe …)?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würde ein guter Freund dieselbe Lage sehen?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du aufschreibst, verliert seine Selbstverständlichkeit. Beobachten ist schon der Anfang von Verändern.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MECHANISMEN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Bausteine des Denkens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automatischen Gedanken bis zur gelebten Haltung.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13 Bausteine im Überblick  (1/2)</a:t>
            </a:r>
            <a:endParaRPr lang="en-US" sz="2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54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Gedanken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Stimme, die immer schon urteilt</a:t>
            </a:r>
            <a:endParaRPr lang="en-US" sz="115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7792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554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Kognitive Verzerrungen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54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häufigsten Denkfehler</a:t>
            </a:r>
            <a:endParaRPr lang="en-US" sz="115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86784"/>
            <a:ext cx="603504" cy="6035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54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Grübeln &amp; Gedankenkreisen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54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Raus aus der Endlosschleife</a:t>
            </a:r>
            <a:endParaRPr lang="en-US" sz="115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065776"/>
            <a:ext cx="603504" cy="6035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1554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Konditionierung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554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alte Reize noch feuern</a:t>
            </a:r>
            <a:endParaRPr lang="en-US" sz="115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269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Kernüberzeugungen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tiefen Regeln unter den Gedanken</a:t>
            </a:r>
            <a:endParaRPr lang="en-US" sz="1150" dirty="0"/>
          </a:p>
        </p:txBody>
      </p:sp>
      <p:pic>
        <p:nvPicPr>
          <p:cNvPr id="24" name="Image 5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907792"/>
            <a:ext cx="603504" cy="60350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46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7269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innere Kritiker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7269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strenge Stimme verstehen</a:t>
            </a:r>
            <a:endParaRPr lang="en-US" sz="1150" dirty="0"/>
          </a:p>
        </p:txBody>
      </p:sp>
      <p:pic>
        <p:nvPicPr>
          <p:cNvPr id="28" name="Image 6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986784"/>
            <a:ext cx="603504" cy="60350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446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1"/>
          <p:cNvSpPr/>
          <p:nvPr/>
        </p:nvSpPr>
        <p:spPr>
          <a:xfrm>
            <a:off x="7269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Selbstmitgefühl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7269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freundliche Umgang mit dir</a:t>
            </a:r>
            <a:endParaRPr lang="en-US" sz="1150" dirty="0"/>
          </a:p>
        </p:txBody>
      </p:sp>
      <p:pic>
        <p:nvPicPr>
          <p:cNvPr id="32" name="Image 7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065776"/>
            <a:ext cx="603504" cy="60350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446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24"/>
          <p:cNvSpPr/>
          <p:nvPr/>
        </p:nvSpPr>
        <p:spPr>
          <a:xfrm>
            <a:off x="7269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Emotionsregulation</a:t>
            </a:r>
            <a:endParaRPr lang="en-US" sz="1500" dirty="0"/>
          </a:p>
        </p:txBody>
      </p:sp>
      <p:sp>
        <p:nvSpPr>
          <p:cNvPr id="35" name="Text 25"/>
          <p:cNvSpPr/>
          <p:nvPr/>
        </p:nvSpPr>
        <p:spPr>
          <a:xfrm>
            <a:off x="7269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Gefühle steuern, ohne sie zu unterdrücken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13 Bausteine im Überblick  (2/2)</a:t>
            </a:r>
            <a:endParaRPr lang="en-US" sz="2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54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Muster, Körper &amp; Gesundheit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Denken unter die Haut geht</a:t>
            </a:r>
            <a:endParaRPr lang="en-US" sz="115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7792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554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Reiz-Reaktions-Lücke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54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Raum, in dem du frei bist</a:t>
            </a:r>
            <a:endParaRPr lang="en-US" sz="115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86784"/>
            <a:ext cx="603504" cy="6035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54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Neuroplastizität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54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Veränderung möglich ist</a:t>
            </a:r>
            <a:endParaRPr lang="en-US" sz="115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065776"/>
            <a:ext cx="603504" cy="6035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1554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&amp; Ziele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554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Richtung unter dem Tun</a:t>
            </a:r>
            <a:endParaRPr lang="en-US" sz="115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269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Weitergabe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Wissen zur gelebten Haltung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Automatische Gedanken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Stimme, die immer schon urteilt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Blitzschnelle, ungefragte Bewertungen, die deine Stimmung steuern – lange bevor du sie bemerkst.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Welcher automatische Gedanke taucht bei dir am häufigsten auf?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Kognitive Verzerrungen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häufigsten Denkfehler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Systematische Denkfehler, die die Wirklichkeit verzerren – und wie du sie im Alltag entlarvst.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neigst du zu Schwarz-Weiß- oder Katastrophendenken?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Grübeln &amp; Gedankenkreisen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Raus aus der Endlosschleife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sich das ewige Wiederkäuen wie Problemlösen anfühlt – und es doch nie eines ist.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welches Thema kreisen deine Gedanken immer wieder?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Konditionierung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alte Reize noch feuern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dein Nervensystem lernt, automatisch zu reagieren – und warum manche Reaktionen längst überholt sind.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Reaktion von dir passt nicht mehr zur heutigen Situation?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Kernüberzeugungen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tiefen Regeln unter den Gedanken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Grundannahmen über dich, andere und die Welt – die unsichtbare Schicht unter deinen automatischen Gedanken.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stille Grundregel steuert dich, ohne dass du sie gewählt hast?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innere Kritiker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strenge Stimme verstehen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Woher die abwertende innere Stimme kommt, was sie eigentlich will – und wie du ihr souverän begegnest.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klingt dein innerer Kritiker – und wessen Stimme ist das?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Selbstmitgefühl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freundliche Umgang mit dir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Härte gegen dich selbst dich nicht besser macht – und Freundlichkeit kein Weichspüler ist.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würdest du mit einem guten Freund in deiner Lage sprechen?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Emotionsregulation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Gefühle steuern, ohne sie zu unterdrücken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du starke Gefühle halten und lenken lernst – zwischen Wegdrücken und Überflutetwerden.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Gefühl drückst du eher weg – und welches überflutet dich?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Muster, Körper &amp; Gesundheit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Denken unter die Haut geht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anhaltende Muster und Stress auf den Körper wirken – und warum innere Arbeit auch Körperarbeit ist.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spürst du Stress oder alte Muster in deinem Körper?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Reiz-Reaktions-Lücke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Raum, in dem du frei bist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Zwischen dem, was passiert, und dem, was du tust, liegt ein winziger Moment – dein ganzer Freiraum.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willst du künftig kurz innehalten, bevor du reagierst?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11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Neuroplastizität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Veränderung möglich ist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Gehirn ist formbar – ein Leben lang. Die neurologische Grundlage dafür, dass Umlernen wirklich geht.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neue Bahn willst du in dir anlegen?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12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Werte &amp; Ziele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Richtung unter dem Tun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Ziele ohne Werte leer bleiben – und wie du eine Richtung findest, die wirklich dich meint.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dir wirklich wichtig – unter all den Zielen?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Baustein 13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&amp; Weitergabe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Wissen zur gelebten Haltung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aus einzelnen Erkenntnissen eine stabile innere Haltung wird – und warum Weitergeben sie vertieft.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von heute willst du wirklich leben – und weitergeben?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DER FREIRAUM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Reiz-Reaktions-Lücke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Erinnere eine typische Auslöser-Situation.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genau sitzt der Reiz – ein Wort, ein Ton, ein Blick?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einen bewussten Atemzug, bevor du reagierst.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eine andere Reaktion – und probiere sie beim nächsten Mal.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Zwischen Reiz und Reaktion liegt ein Raum. In diesem Raum liegt deine Freiheit.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Von Einsicht zu Veränderung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5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5156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Erkennen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5156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siehst die automatischen Gedanken und Muster.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3484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0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51460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75488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Verstehen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75488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weißt, woher sie kommen – Prägung, Konditionierung, alte Regeln.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5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1460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582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45820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Verändern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45820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die Reiz-Reaktions-Lücke und Neuroplastizität wählst du neu.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WEITERGEHT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Vertiefe jeden Baustein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7223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Bausteine als Vertiefung im Mitgliederbereich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Praxis-Übungen &amp; 31 Vertiefungen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Bewusstseinstest, Wachstumskurve &amp; Journal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deinem Tempo – ohne Druck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6000"/>
            </a:avLst>
          </a:prstGeom>
          <a:solidFill>
            <a:srgbClr val="0F1E44"/>
          </a:solidFill>
          <a:ln w="15875">
            <a:solidFill>
              <a:srgbClr val="21B2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Mitgliedschaft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49 €</a:t>
            </a:r>
            <a:pPr algn="ctr" indent="0" marL="0">
              <a:buNone/>
            </a:pPr>
            <a:r>
              <a:rPr lang="en-US" sz="1600" dirty="0">
                <a:solidFill>
                  <a:srgbClr val="C3C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Monat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werdemeisterdeinergedanken.de/mitgliedschaft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Erster Schritt kostenlos: der Bewusstseinstest.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82296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749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Werde Meister deiner </a:t>
            </a:r>
            <a:pPr algn="ctr" indent="0" marL="0"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Gedanken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Danke, dass du heute dabei warst.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Werde Meister deiner Gedanken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Heiko Schwaninger</dc:creator>
  <cp:lastModifiedBy>Heiko Schwaninger</cp:lastModifiedBy>
  <cp:revision>1</cp:revision>
  <dcterms:created xsi:type="dcterms:W3CDTF">2026-08-01T00:56:22Z</dcterms:created>
  <dcterms:modified xsi:type="dcterms:W3CDTF">2026-08-01T00:56:22Z</dcterms:modified>
</cp:coreProperties>
</file>