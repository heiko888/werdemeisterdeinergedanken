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Kurz vorstellen. Rahmen setzen: heute geht es ums bewusste Sehen, nicht um Ratschläge. Vertraulichkeit im Raum betonen.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ruhig durchgehen. Zeitrahmen nennen. Frage in die Runde: Was möchtet ihr heute mitnehmen?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Wirken lassen. Kurze Stille nach dem Satz.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Zahl groß stehen lassen. Hinweis: Die alte Behauptung „zehnmal mehr Glia als Neuronen“ ist überholt – das Verhältnis liegt nahe eins zu eins.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anleiten, Tempo langsam. Betonen, dass es kein Richtig oder Falsch gibt.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Orientierung geben: Es geht nicht ums Auswendiglernen, sondern um Aha-Momente.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Landkarte kurz durchgehen, keine Details – nur Vorfreude wecken.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die drei großen Bereiche nennen: Kortex, limbische Strukturen, Hirnstamm. Mythos „nur 10 % Nutzung“ entkräften.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 together, wire together“ erklären. Warnung: Kein Programm „rewired“ dein Gehirn über Nacht – es braucht Wiederholung und Geduld.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Ehrlichkeit vor Effekt. Split-Brain und Anästhesie kurz als Fenster ins Thema erwähnen, nicht ausführen.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mehrdeutige B/13-Beispiel bringen. Der Autopilot beginnt nicht bei den Gedanken, sondern bei den Augen.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60.000-Mythos offen als Mythos benennen; das schafft Glaubwürdigkeit. Erinnerungen sind rekonstruktiv, nicht abgespielt.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Schachter &amp; Singer: Erregung plus Deutung ergibt die Emotion. Dieser Deutungsspielraum ist der Angelpunkt jeder Regulation.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Systeme schlagen Vorsätze. Tägliche fünf Minuten schlagen den einmaligen Kraftakt.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Behutsam bleiben – „kein festes Ich“ kann verunsichern. Betonen: Prozess heißt auch veränderbar.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Ehrlich bleiben: Nicht jeder populäre „Bias“ hat der Replikationskrise standgehalten. Auch die Bias-Forschung hat Verzerrungen.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Korrelation ist nicht Kausalität. Placebo ist ein Verstärker der Selbstregulation, kein Ersatz für Medizin.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Freiwilliges Teilen in die Runde einladen, ohne Druck. Ein bis zwei Stimmen reichen.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sprechen. Diese drei Sätze sind der Kern des Tages.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Verkaufsdruck. Als Einladung formulieren, nicht als Abschluss.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 Stille. Ruhig und warm verabschieden.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pic>
        <p:nvPicPr>
          <p:cNvPr id="3" name="Picture 2" descr="brain.png"/>
          <p:cNvPicPr>
            <a:picLocks noChangeAspect="1"/>
          </p:cNvPicPr>
          <p:nvPr/>
        </p:nvPicPr>
        <p:blipFill>
          <a:blip r:embed="rId3"/>
          <a:stretch>
            <a:fillRect/>
          </a:stretch>
        </p:blipFill>
        <p:spPr>
          <a:xfrm>
            <a:off x="8869680" y="1691640"/>
            <a:ext cx="2743200" cy="2743200"/>
          </a:xfrm>
          <a:prstGeom prst="rect">
            <a:avLst/>
          </a:prstGeom>
        </p:spPr>
      </p:pic>
      <p:sp>
        <p:nvSpPr>
          <p:cNvPr id="4" name="TextBox 3"/>
          <p:cNvSpPr txBox="1"/>
          <p:nvPr/>
        </p:nvSpPr>
        <p:spPr>
          <a:xfrm>
            <a:off x="777240" y="1097280"/>
            <a:ext cx="7315200" cy="320040"/>
          </a:xfrm>
          <a:prstGeom prst="rect">
            <a:avLst/>
          </a:prstGeom>
          <a:noFill/>
        </p:spPr>
        <p:txBody>
          <a:bodyPr wrap="square" anchor="t" lIns="0" rIns="0" tIns="0" bIns="0">
            <a:noAutofit/>
          </a:bodyPr>
          <a:lstStyle/>
          <a:p>
            <a:pPr>
              <a:spcAft>
                <a:spcPts val="600"/>
              </a:spcAft>
            </a:pPr>
            <a:r>
              <a:rPr sz="1200" b="1" i="0" spc="240">
                <a:solidFill>
                  <a:srgbClr val="A3D64F"/>
                </a:solidFill>
                <a:latin typeface="Calibri"/>
              </a:rPr>
              <a:t>WORKSHOP · WISSENSREISE</a:t>
            </a:r>
          </a:p>
        </p:txBody>
      </p:sp>
      <p:sp>
        <p:nvSpPr>
          <p:cNvPr id="5" name="TextBox 4"/>
          <p:cNvSpPr txBox="1"/>
          <p:nvPr/>
        </p:nvSpPr>
        <p:spPr>
          <a:xfrm>
            <a:off x="731520" y="1645920"/>
            <a:ext cx="7955279" cy="2286000"/>
          </a:xfrm>
          <a:prstGeom prst="rect">
            <a:avLst/>
          </a:prstGeom>
          <a:noFill/>
        </p:spPr>
        <p:txBody>
          <a:bodyPr wrap="square" anchor="t" lIns="0" rIns="0" tIns="0" bIns="0">
            <a:noAutofit/>
          </a:bodyPr>
          <a:lstStyle/>
          <a:p>
            <a:pPr>
              <a:lnSpc>
                <a:spcPct val="100000"/>
              </a:lnSpc>
            </a:pPr>
            <a:r>
              <a:rPr sz="4800" b="1" i="0">
                <a:solidFill>
                  <a:srgbClr val="FFFFFF"/>
                </a:solidFill>
                <a:latin typeface="Cambria"/>
              </a:rPr>
              <a:t>Dein Gehirn</a:t>
            </a:r>
          </a:p>
          <a:p>
            <a:pPr>
              <a:lnSpc>
                <a:spcPct val="100000"/>
              </a:lnSpc>
            </a:pPr>
            <a:r>
              <a:rPr sz="4400" b="0" i="0">
                <a:solidFill>
                  <a:srgbClr val="34C4C4"/>
                </a:solidFill>
                <a:latin typeface="Cambria"/>
              </a:rPr>
              <a:t>verstehen</a:t>
            </a:r>
          </a:p>
        </p:txBody>
      </p:sp>
      <p:sp>
        <p:nvSpPr>
          <p:cNvPr id="6" name="TextBox 5"/>
          <p:cNvSpPr txBox="1"/>
          <p:nvPr/>
        </p:nvSpPr>
        <p:spPr>
          <a:xfrm>
            <a:off x="777240" y="4160520"/>
            <a:ext cx="7589520" cy="914400"/>
          </a:xfrm>
          <a:prstGeom prst="rect">
            <a:avLst/>
          </a:prstGeom>
          <a:noFill/>
        </p:spPr>
        <p:txBody>
          <a:bodyPr wrap="square" anchor="t" lIns="0" rIns="0" tIns="0" bIns="0">
            <a:noAutofit/>
          </a:bodyPr>
          <a:lstStyle/>
          <a:p>
            <a:pPr>
              <a:lnSpc>
                <a:spcPct val="120000"/>
              </a:lnSpc>
            </a:pPr>
            <a:r>
              <a:rPr sz="1600" b="0" i="0">
                <a:solidFill>
                  <a:srgbClr val="D8DBE6"/>
                </a:solidFill>
                <a:latin typeface="Calibri"/>
              </a:rPr>
              <a:t>Eine Reise durch Gehirn, Bewusstsein und Gedanken – ehrlich, klar und ohne Neuro-Mythen. In zehn Modulen vom biologischen Fundament bis zu den großen Fragen.</a:t>
            </a:r>
          </a:p>
        </p:txBody>
      </p:sp>
      <p:sp>
        <p:nvSpPr>
          <p:cNvPr id="7" name="TextBox 6"/>
          <p:cNvSpPr txBox="1"/>
          <p:nvPr/>
        </p:nvSpPr>
        <p:spPr>
          <a:xfrm>
            <a:off x="777240" y="5943600"/>
            <a:ext cx="8229600" cy="365760"/>
          </a:xfrm>
          <a:prstGeom prst="rect">
            <a:avLst/>
          </a:prstGeom>
          <a:noFill/>
        </p:spPr>
        <p:txBody>
          <a:bodyPr wrap="square" anchor="t" lIns="0" rIns="0" tIns="0" bIns="0">
            <a:noAutofit/>
          </a:bodyPr>
          <a:lstStyle/>
          <a:p>
            <a:r>
              <a:rPr sz="1300" b="1" i="0">
                <a:solidFill>
                  <a:srgbClr val="AEB6C6"/>
                </a:solidFill>
                <a:latin typeface="Calibri"/>
              </a:rPr>
              <a:t>Heiko Schwaninger  ·  werdemeisterdeinergedanken.de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ÜBERBLICK</a:t>
            </a:r>
          </a:p>
        </p:txBody>
      </p:sp>
      <p:sp>
        <p:nvSpPr>
          <p:cNvPr id="3" name="TextBox 2"/>
          <p:cNvSpPr txBox="1"/>
          <p:nvPr/>
        </p:nvSpPr>
        <p:spPr>
          <a:xfrm>
            <a:off x="731520" y="960120"/>
            <a:ext cx="10058400" cy="914400"/>
          </a:xfrm>
          <a:prstGeom prst="rect">
            <a:avLst/>
          </a:prstGeom>
          <a:noFill/>
        </p:spPr>
        <p:txBody>
          <a:bodyPr wrap="square" anchor="t" lIns="0" rIns="0" tIns="0" bIns="0">
            <a:noAutofit/>
          </a:bodyPr>
          <a:lstStyle/>
          <a:p>
            <a:pPr>
              <a:lnSpc>
                <a:spcPct val="103000"/>
              </a:lnSpc>
            </a:pPr>
            <a:r>
              <a:rPr sz="3800" b="1" i="0">
                <a:solidFill>
                  <a:srgbClr val="1A2233"/>
                </a:solidFill>
                <a:latin typeface="Cambria"/>
              </a:rPr>
              <a:t>Was dich heute erwartet</a:t>
            </a:r>
          </a:p>
        </p:txBody>
      </p:sp>
      <p:pic>
        <p:nvPicPr>
          <p:cNvPr id="4" name="Picture 3" descr="circle.png"/>
          <p:cNvPicPr>
            <a:picLocks noChangeAspect="1"/>
          </p:cNvPicPr>
          <p:nvPr/>
        </p:nvPicPr>
        <p:blipFill>
          <a:blip r:embed="rId2"/>
          <a:stretch>
            <a:fillRect/>
          </a:stretch>
        </p:blipFill>
        <p:spPr>
          <a:xfrm>
            <a:off x="777240" y="1965960"/>
            <a:ext cx="566928" cy="566928"/>
          </a:xfrm>
          <a:prstGeom prst="rect">
            <a:avLst/>
          </a:prstGeom>
        </p:spPr>
      </p:pic>
      <p:sp>
        <p:nvSpPr>
          <p:cNvPr id="5" name="TextBox 4"/>
          <p:cNvSpPr txBox="1"/>
          <p:nvPr/>
        </p:nvSpPr>
        <p:spPr>
          <a:xfrm>
            <a:off x="777240" y="1965960"/>
            <a:ext cx="566928" cy="566928"/>
          </a:xfrm>
          <a:prstGeom prst="rect">
            <a:avLst/>
          </a:prstGeom>
          <a:noFill/>
        </p:spPr>
        <p:txBody>
          <a:bodyPr wrap="square" anchor="ctr" lIns="0" rIns="0" tIns="0" bIns="0">
            <a:noAutofit/>
          </a:bodyPr>
          <a:lstStyle/>
          <a:p>
            <a:pPr algn="ctr"/>
            <a:r>
              <a:rPr sz="2100" b="1" i="0">
                <a:solidFill>
                  <a:srgbClr val="08102A"/>
                </a:solidFill>
                <a:latin typeface="Cambria"/>
              </a:rPr>
              <a:t>1</a:t>
            </a:r>
          </a:p>
        </p:txBody>
      </p:sp>
      <p:sp>
        <p:nvSpPr>
          <p:cNvPr id="6" name="TextBox 5"/>
          <p:cNvSpPr txBox="1"/>
          <p:nvPr/>
        </p:nvSpPr>
        <p:spPr>
          <a:xfrm>
            <a:off x="1600200" y="1929384"/>
            <a:ext cx="9692640" cy="384048"/>
          </a:xfrm>
          <a:prstGeom prst="rect">
            <a:avLst/>
          </a:prstGeom>
          <a:noFill/>
        </p:spPr>
        <p:txBody>
          <a:bodyPr wrap="square" anchor="t" lIns="0" rIns="0" tIns="0" bIns="0">
            <a:noAutofit/>
          </a:bodyPr>
          <a:lstStyle/>
          <a:p>
            <a:r>
              <a:rPr sz="1800" b="1" i="0">
                <a:solidFill>
                  <a:srgbClr val="1A2233"/>
                </a:solidFill>
                <a:latin typeface="Calibri"/>
              </a:rPr>
              <a:t>Das Fundament</a:t>
            </a:r>
          </a:p>
        </p:txBody>
      </p:sp>
      <p:sp>
        <p:nvSpPr>
          <p:cNvPr id="7" name="TextBox 6"/>
          <p:cNvSpPr txBox="1"/>
          <p:nvPr/>
        </p:nvSpPr>
        <p:spPr>
          <a:xfrm>
            <a:off x="1600200" y="2295144"/>
            <a:ext cx="9692640" cy="384048"/>
          </a:xfrm>
          <a:prstGeom prst="rect">
            <a:avLst/>
          </a:prstGeom>
          <a:noFill/>
        </p:spPr>
        <p:txBody>
          <a:bodyPr wrap="square" anchor="t" lIns="0" rIns="0" tIns="0" bIns="0">
            <a:noAutofit/>
          </a:bodyPr>
          <a:lstStyle/>
          <a:p>
            <a:r>
              <a:rPr sz="1400" b="0" i="0">
                <a:solidFill>
                  <a:srgbClr val="48524E"/>
                </a:solidFill>
                <a:latin typeface="Calibri"/>
              </a:rPr>
              <a:t>Wie dein Gehirn gebaut ist und warum es sich ein Leben lang verändert.</a:t>
            </a:r>
          </a:p>
        </p:txBody>
      </p:sp>
      <p:pic>
        <p:nvPicPr>
          <p:cNvPr id="8" name="Picture 7" descr="circle.png"/>
          <p:cNvPicPr>
            <a:picLocks noChangeAspect="1"/>
          </p:cNvPicPr>
          <p:nvPr/>
        </p:nvPicPr>
        <p:blipFill>
          <a:blip r:embed="rId2"/>
          <a:stretch>
            <a:fillRect/>
          </a:stretch>
        </p:blipFill>
        <p:spPr>
          <a:xfrm>
            <a:off x="777240" y="2862072"/>
            <a:ext cx="566928" cy="566928"/>
          </a:xfrm>
          <a:prstGeom prst="rect">
            <a:avLst/>
          </a:prstGeom>
        </p:spPr>
      </p:pic>
      <p:sp>
        <p:nvSpPr>
          <p:cNvPr id="9" name="TextBox 8"/>
          <p:cNvSpPr txBox="1"/>
          <p:nvPr/>
        </p:nvSpPr>
        <p:spPr>
          <a:xfrm>
            <a:off x="777240" y="2862072"/>
            <a:ext cx="566928" cy="566928"/>
          </a:xfrm>
          <a:prstGeom prst="rect">
            <a:avLst/>
          </a:prstGeom>
          <a:noFill/>
        </p:spPr>
        <p:txBody>
          <a:bodyPr wrap="square" anchor="ctr" lIns="0" rIns="0" tIns="0" bIns="0">
            <a:noAutofit/>
          </a:bodyPr>
          <a:lstStyle/>
          <a:p>
            <a:pPr algn="ctr"/>
            <a:r>
              <a:rPr sz="2100" b="1" i="0">
                <a:solidFill>
                  <a:srgbClr val="08102A"/>
                </a:solidFill>
                <a:latin typeface="Cambria"/>
              </a:rPr>
              <a:t>2</a:t>
            </a:r>
          </a:p>
        </p:txBody>
      </p:sp>
      <p:sp>
        <p:nvSpPr>
          <p:cNvPr id="10" name="TextBox 9"/>
          <p:cNvSpPr txBox="1"/>
          <p:nvPr/>
        </p:nvSpPr>
        <p:spPr>
          <a:xfrm>
            <a:off x="1600200" y="2825496"/>
            <a:ext cx="9692640" cy="384048"/>
          </a:xfrm>
          <a:prstGeom prst="rect">
            <a:avLst/>
          </a:prstGeom>
          <a:noFill/>
        </p:spPr>
        <p:txBody>
          <a:bodyPr wrap="square" anchor="t" lIns="0" rIns="0" tIns="0" bIns="0">
            <a:noAutofit/>
          </a:bodyPr>
          <a:lstStyle/>
          <a:p>
            <a:r>
              <a:rPr sz="1800" b="1" i="0">
                <a:solidFill>
                  <a:srgbClr val="1A2233"/>
                </a:solidFill>
                <a:latin typeface="Calibri"/>
              </a:rPr>
              <a:t>Bewusstsein &amp; Wahrnehmung</a:t>
            </a:r>
          </a:p>
        </p:txBody>
      </p:sp>
      <p:sp>
        <p:nvSpPr>
          <p:cNvPr id="11" name="TextBox 10"/>
          <p:cNvSpPr txBox="1"/>
          <p:nvPr/>
        </p:nvSpPr>
        <p:spPr>
          <a:xfrm>
            <a:off x="1600200" y="3191256"/>
            <a:ext cx="9692640" cy="384048"/>
          </a:xfrm>
          <a:prstGeom prst="rect">
            <a:avLst/>
          </a:prstGeom>
          <a:noFill/>
        </p:spPr>
        <p:txBody>
          <a:bodyPr wrap="square" anchor="t" lIns="0" rIns="0" tIns="0" bIns="0">
            <a:noAutofit/>
          </a:bodyPr>
          <a:lstStyle/>
          <a:p>
            <a:r>
              <a:rPr sz="1400" b="0" i="0">
                <a:solidFill>
                  <a:srgbClr val="48524E"/>
                </a:solidFill>
                <a:latin typeface="Calibri"/>
              </a:rPr>
              <a:t>Was Erleben ist und warum du nie die Welt siehst, sondern deine Vermutung über sie.</a:t>
            </a:r>
          </a:p>
        </p:txBody>
      </p:sp>
      <p:pic>
        <p:nvPicPr>
          <p:cNvPr id="12" name="Picture 11" descr="circle.png"/>
          <p:cNvPicPr>
            <a:picLocks noChangeAspect="1"/>
          </p:cNvPicPr>
          <p:nvPr/>
        </p:nvPicPr>
        <p:blipFill>
          <a:blip r:embed="rId2"/>
          <a:stretch>
            <a:fillRect/>
          </a:stretch>
        </p:blipFill>
        <p:spPr>
          <a:xfrm>
            <a:off x="777240" y="3758183"/>
            <a:ext cx="566928" cy="566928"/>
          </a:xfrm>
          <a:prstGeom prst="rect">
            <a:avLst/>
          </a:prstGeom>
        </p:spPr>
      </p:pic>
      <p:sp>
        <p:nvSpPr>
          <p:cNvPr id="13" name="TextBox 12"/>
          <p:cNvSpPr txBox="1"/>
          <p:nvPr/>
        </p:nvSpPr>
        <p:spPr>
          <a:xfrm>
            <a:off x="777240" y="3758183"/>
            <a:ext cx="566928" cy="566928"/>
          </a:xfrm>
          <a:prstGeom prst="rect">
            <a:avLst/>
          </a:prstGeom>
          <a:noFill/>
        </p:spPr>
        <p:txBody>
          <a:bodyPr wrap="square" anchor="ctr" lIns="0" rIns="0" tIns="0" bIns="0">
            <a:noAutofit/>
          </a:bodyPr>
          <a:lstStyle/>
          <a:p>
            <a:pPr algn="ctr"/>
            <a:r>
              <a:rPr sz="2100" b="1" i="0">
                <a:solidFill>
                  <a:srgbClr val="08102A"/>
                </a:solidFill>
                <a:latin typeface="Cambria"/>
              </a:rPr>
              <a:t>3</a:t>
            </a:r>
          </a:p>
        </p:txBody>
      </p:sp>
      <p:sp>
        <p:nvSpPr>
          <p:cNvPr id="14" name="TextBox 13"/>
          <p:cNvSpPr txBox="1"/>
          <p:nvPr/>
        </p:nvSpPr>
        <p:spPr>
          <a:xfrm>
            <a:off x="1600200" y="3721607"/>
            <a:ext cx="9692640" cy="384048"/>
          </a:xfrm>
          <a:prstGeom prst="rect">
            <a:avLst/>
          </a:prstGeom>
          <a:noFill/>
        </p:spPr>
        <p:txBody>
          <a:bodyPr wrap="square" anchor="t" lIns="0" rIns="0" tIns="0" bIns="0">
            <a:noAutofit/>
          </a:bodyPr>
          <a:lstStyle/>
          <a:p>
            <a:r>
              <a:rPr sz="1800" b="1" i="0">
                <a:solidFill>
                  <a:srgbClr val="1A2233"/>
                </a:solidFill>
                <a:latin typeface="Calibri"/>
              </a:rPr>
              <a:t>Denken &amp; Fühlen</a:t>
            </a:r>
          </a:p>
        </p:txBody>
      </p:sp>
      <p:sp>
        <p:nvSpPr>
          <p:cNvPr id="15" name="TextBox 14"/>
          <p:cNvSpPr txBox="1"/>
          <p:nvPr/>
        </p:nvSpPr>
        <p:spPr>
          <a:xfrm>
            <a:off x="1600200" y="4087368"/>
            <a:ext cx="9692640" cy="384048"/>
          </a:xfrm>
          <a:prstGeom prst="rect">
            <a:avLst/>
          </a:prstGeom>
          <a:noFill/>
        </p:spPr>
        <p:txBody>
          <a:bodyPr wrap="square" anchor="t" lIns="0" rIns="0" tIns="0" bIns="0">
            <a:noAutofit/>
          </a:bodyPr>
          <a:lstStyle/>
          <a:p>
            <a:r>
              <a:rPr sz="1400" b="0" i="0">
                <a:solidFill>
                  <a:srgbClr val="48524E"/>
                </a:solidFill>
                <a:latin typeface="Calibri"/>
              </a:rPr>
              <a:t>Wie Gedanken, Erinnerungen und Emotionen im Gehirn entstehen.</a:t>
            </a:r>
          </a:p>
        </p:txBody>
      </p:sp>
      <p:pic>
        <p:nvPicPr>
          <p:cNvPr id="16" name="Picture 15" descr="circle.png"/>
          <p:cNvPicPr>
            <a:picLocks noChangeAspect="1"/>
          </p:cNvPicPr>
          <p:nvPr/>
        </p:nvPicPr>
        <p:blipFill>
          <a:blip r:embed="rId2"/>
          <a:stretch>
            <a:fillRect/>
          </a:stretch>
        </p:blipFill>
        <p:spPr>
          <a:xfrm>
            <a:off x="777240" y="4654296"/>
            <a:ext cx="566928" cy="566928"/>
          </a:xfrm>
          <a:prstGeom prst="rect">
            <a:avLst/>
          </a:prstGeom>
        </p:spPr>
      </p:pic>
      <p:sp>
        <p:nvSpPr>
          <p:cNvPr id="17" name="TextBox 16"/>
          <p:cNvSpPr txBox="1"/>
          <p:nvPr/>
        </p:nvSpPr>
        <p:spPr>
          <a:xfrm>
            <a:off x="777240" y="4654296"/>
            <a:ext cx="566928" cy="566928"/>
          </a:xfrm>
          <a:prstGeom prst="rect">
            <a:avLst/>
          </a:prstGeom>
          <a:noFill/>
        </p:spPr>
        <p:txBody>
          <a:bodyPr wrap="square" anchor="ctr" lIns="0" rIns="0" tIns="0" bIns="0">
            <a:noAutofit/>
          </a:bodyPr>
          <a:lstStyle/>
          <a:p>
            <a:pPr algn="ctr"/>
            <a:r>
              <a:rPr sz="2100" b="1" i="0">
                <a:solidFill>
                  <a:srgbClr val="08102A"/>
                </a:solidFill>
                <a:latin typeface="Cambria"/>
              </a:rPr>
              <a:t>4</a:t>
            </a:r>
          </a:p>
        </p:txBody>
      </p:sp>
      <p:sp>
        <p:nvSpPr>
          <p:cNvPr id="18" name="TextBox 17"/>
          <p:cNvSpPr txBox="1"/>
          <p:nvPr/>
        </p:nvSpPr>
        <p:spPr>
          <a:xfrm>
            <a:off x="1600200" y="4617720"/>
            <a:ext cx="9692640" cy="384048"/>
          </a:xfrm>
          <a:prstGeom prst="rect">
            <a:avLst/>
          </a:prstGeom>
          <a:noFill/>
        </p:spPr>
        <p:txBody>
          <a:bodyPr wrap="square" anchor="t" lIns="0" rIns="0" tIns="0" bIns="0">
            <a:noAutofit/>
          </a:bodyPr>
          <a:lstStyle/>
          <a:p>
            <a:r>
              <a:rPr sz="1800" b="1" i="0">
                <a:solidFill>
                  <a:srgbClr val="1A2233"/>
                </a:solidFill>
                <a:latin typeface="Calibri"/>
              </a:rPr>
              <a:t>Verändern &amp; Regulieren</a:t>
            </a:r>
          </a:p>
        </p:txBody>
      </p:sp>
      <p:sp>
        <p:nvSpPr>
          <p:cNvPr id="19" name="TextBox 18"/>
          <p:cNvSpPr txBox="1"/>
          <p:nvPr/>
        </p:nvSpPr>
        <p:spPr>
          <a:xfrm>
            <a:off x="1600200" y="4983480"/>
            <a:ext cx="9692640" cy="384048"/>
          </a:xfrm>
          <a:prstGeom prst="rect">
            <a:avLst/>
          </a:prstGeom>
          <a:noFill/>
        </p:spPr>
        <p:txBody>
          <a:bodyPr wrap="square" anchor="t" lIns="0" rIns="0" tIns="0" bIns="0">
            <a:noAutofit/>
          </a:bodyPr>
          <a:lstStyle/>
          <a:p>
            <a:r>
              <a:rPr sz="1400" b="0" i="0">
                <a:solidFill>
                  <a:srgbClr val="48524E"/>
                </a:solidFill>
                <a:latin typeface="Calibri"/>
              </a:rPr>
              <a:t>Was sich am Gehirn nachweislich beeinflussen lässt – und was nur Marketing ist.</a:t>
            </a:r>
          </a:p>
        </p:txBody>
      </p:sp>
      <p:pic>
        <p:nvPicPr>
          <p:cNvPr id="20" name="Picture 19" descr="circle.png"/>
          <p:cNvPicPr>
            <a:picLocks noChangeAspect="1"/>
          </p:cNvPicPr>
          <p:nvPr/>
        </p:nvPicPr>
        <p:blipFill>
          <a:blip r:embed="rId2"/>
          <a:stretch>
            <a:fillRect/>
          </a:stretch>
        </p:blipFill>
        <p:spPr>
          <a:xfrm>
            <a:off x="777240" y="5550408"/>
            <a:ext cx="566928" cy="566928"/>
          </a:xfrm>
          <a:prstGeom prst="rect">
            <a:avLst/>
          </a:prstGeom>
        </p:spPr>
      </p:pic>
      <p:sp>
        <p:nvSpPr>
          <p:cNvPr id="21" name="TextBox 20"/>
          <p:cNvSpPr txBox="1"/>
          <p:nvPr/>
        </p:nvSpPr>
        <p:spPr>
          <a:xfrm>
            <a:off x="777240" y="5550408"/>
            <a:ext cx="566928" cy="566928"/>
          </a:xfrm>
          <a:prstGeom prst="rect">
            <a:avLst/>
          </a:prstGeom>
          <a:noFill/>
        </p:spPr>
        <p:txBody>
          <a:bodyPr wrap="square" anchor="ctr" lIns="0" rIns="0" tIns="0" bIns="0">
            <a:noAutofit/>
          </a:bodyPr>
          <a:lstStyle/>
          <a:p>
            <a:pPr algn="ctr"/>
            <a:r>
              <a:rPr sz="2100" b="1" i="0">
                <a:solidFill>
                  <a:srgbClr val="08102A"/>
                </a:solidFill>
                <a:latin typeface="Cambria"/>
              </a:rPr>
              <a:t>5</a:t>
            </a:r>
          </a:p>
        </p:txBody>
      </p:sp>
      <p:sp>
        <p:nvSpPr>
          <p:cNvPr id="22" name="TextBox 21"/>
          <p:cNvSpPr txBox="1"/>
          <p:nvPr/>
        </p:nvSpPr>
        <p:spPr>
          <a:xfrm>
            <a:off x="1600200" y="5513832"/>
            <a:ext cx="9692640" cy="384048"/>
          </a:xfrm>
          <a:prstGeom prst="rect">
            <a:avLst/>
          </a:prstGeom>
          <a:noFill/>
        </p:spPr>
        <p:txBody>
          <a:bodyPr wrap="square" anchor="t" lIns="0" rIns="0" tIns="0" bIns="0">
            <a:noAutofit/>
          </a:bodyPr>
          <a:lstStyle/>
          <a:p>
            <a:r>
              <a:rPr sz="1800" b="1" i="0">
                <a:solidFill>
                  <a:srgbClr val="1A2233"/>
                </a:solidFill>
                <a:latin typeface="Calibri"/>
              </a:rPr>
              <a:t>Selbst &amp; Grenzfragen</a:t>
            </a:r>
          </a:p>
        </p:txBody>
      </p:sp>
      <p:sp>
        <p:nvSpPr>
          <p:cNvPr id="23" name="TextBox 22"/>
          <p:cNvSpPr txBox="1"/>
          <p:nvPr/>
        </p:nvSpPr>
        <p:spPr>
          <a:xfrm>
            <a:off x="1600200" y="5879592"/>
            <a:ext cx="9692640" cy="384048"/>
          </a:xfrm>
          <a:prstGeom prst="rect">
            <a:avLst/>
          </a:prstGeom>
          <a:noFill/>
        </p:spPr>
        <p:txBody>
          <a:bodyPr wrap="square" anchor="t" lIns="0" rIns="0" tIns="0" bIns="0">
            <a:noAutofit/>
          </a:bodyPr>
          <a:lstStyle/>
          <a:p>
            <a:r>
              <a:rPr sz="1400" b="0" i="0">
                <a:solidFill>
                  <a:srgbClr val="48524E"/>
                </a:solidFill>
                <a:latin typeface="Calibri"/>
              </a:rPr>
              <a:t>Das Ich, die Verzerrungen des Denkens und die offenen Ränder der Forschung.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005840" y="2011680"/>
            <a:ext cx="10149840" cy="2377440"/>
          </a:xfrm>
          <a:prstGeom prst="rect">
            <a:avLst/>
          </a:prstGeom>
          <a:noFill/>
        </p:spPr>
        <p:txBody>
          <a:bodyPr wrap="square" anchor="t" lIns="0" rIns="0" tIns="0" bIns="0">
            <a:noAutofit/>
          </a:bodyPr>
          <a:lstStyle/>
          <a:p>
            <a:pPr>
              <a:lnSpc>
                <a:spcPct val="112000"/>
              </a:lnSpc>
            </a:pPr>
            <a:r>
              <a:rPr sz="4000" b="1" i="0">
                <a:solidFill>
                  <a:srgbClr val="FFFFFF"/>
                </a:solidFill>
                <a:latin typeface="Cambria"/>
              </a:rPr>
              <a:t>Du bist nicht deine Gedanken – du bist das </a:t>
            </a:r>
            <a:r>
              <a:rPr sz="4000" b="1" i="0">
                <a:solidFill>
                  <a:srgbClr val="A3D64F"/>
                </a:solidFill>
                <a:latin typeface="Cambria"/>
              </a:rPr>
              <a:t>formbare Gehirn</a:t>
            </a:r>
            <a:r>
              <a:rPr sz="4000" b="1" i="0">
                <a:solidFill>
                  <a:srgbClr val="FFFFFF"/>
                </a:solidFill>
                <a:latin typeface="Cambria"/>
              </a:rPr>
              <a:t>, das sie hervorbringt.</a:t>
            </a:r>
          </a:p>
        </p:txBody>
      </p:sp>
      <p:sp>
        <p:nvSpPr>
          <p:cNvPr id="4" name="TextBox 3"/>
          <p:cNvSpPr txBox="1"/>
          <p:nvPr/>
        </p:nvSpPr>
        <p:spPr>
          <a:xfrm>
            <a:off x="1024128" y="4572000"/>
            <a:ext cx="9144000" cy="822960"/>
          </a:xfrm>
          <a:prstGeom prst="rect">
            <a:avLst/>
          </a:prstGeom>
          <a:noFill/>
        </p:spPr>
        <p:txBody>
          <a:bodyPr wrap="square" anchor="t" lIns="0" rIns="0" tIns="0" bIns="0">
            <a:noAutofit/>
          </a:bodyPr>
          <a:lstStyle/>
          <a:p>
            <a:pPr>
              <a:lnSpc>
                <a:spcPct val="120000"/>
              </a:lnSpc>
            </a:pPr>
            <a:r>
              <a:rPr sz="1700" b="0" i="0">
                <a:solidFill>
                  <a:srgbClr val="C3CCDD"/>
                </a:solidFill>
                <a:latin typeface="Calibri"/>
              </a:rPr>
              <a:t>Und genau dieses Gehirn kannst du verstehen lernen.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AUSGANGSPUNKT</a:t>
            </a:r>
          </a:p>
        </p:txBody>
      </p:sp>
      <p:sp>
        <p:nvSpPr>
          <p:cNvPr id="3" name="TextBox 2"/>
          <p:cNvSpPr txBox="1"/>
          <p:nvPr/>
        </p:nvSpPr>
        <p:spPr>
          <a:xfrm>
            <a:off x="731520" y="960120"/>
            <a:ext cx="7040880" cy="1188720"/>
          </a:xfrm>
          <a:prstGeom prst="rect">
            <a:avLst/>
          </a:prstGeom>
          <a:noFill/>
        </p:spPr>
        <p:txBody>
          <a:bodyPr wrap="square" anchor="t" lIns="0" rIns="0" tIns="0" bIns="0">
            <a:noAutofit/>
          </a:bodyPr>
          <a:lstStyle/>
          <a:p>
            <a:pPr>
              <a:lnSpc>
                <a:spcPct val="105000"/>
              </a:lnSpc>
            </a:pPr>
            <a:r>
              <a:rPr sz="3200" b="1" i="0">
                <a:solidFill>
                  <a:srgbClr val="1A2233"/>
                </a:solidFill>
                <a:latin typeface="Cambria"/>
              </a:rPr>
              <a:t>Die komplexeste Struktur des Universums</a:t>
            </a:r>
          </a:p>
        </p:txBody>
      </p:sp>
      <p:sp>
        <p:nvSpPr>
          <p:cNvPr id="4" name="TextBox 3"/>
          <p:cNvSpPr txBox="1"/>
          <p:nvPr/>
        </p:nvSpPr>
        <p:spPr>
          <a:xfrm>
            <a:off x="731520" y="2286000"/>
            <a:ext cx="6766560" cy="2377440"/>
          </a:xfrm>
          <a:prstGeom prst="rect">
            <a:avLst/>
          </a:prstGeom>
          <a:noFill/>
        </p:spPr>
        <p:txBody>
          <a:bodyPr wrap="square" anchor="t" lIns="0" rIns="0" tIns="0" bIns="0">
            <a:noAutofit/>
          </a:bodyPr>
          <a:lstStyle/>
          <a:p>
            <a:pPr>
              <a:lnSpc>
                <a:spcPct val="130000"/>
              </a:lnSpc>
              <a:spcAft>
                <a:spcPts val="1200"/>
              </a:spcAft>
            </a:pPr>
            <a:r>
              <a:rPr sz="1650" b="0" i="0">
                <a:solidFill>
                  <a:srgbClr val="48524E"/>
                </a:solidFill>
                <a:latin typeface="Calibri"/>
              </a:rPr>
              <a:t>Rund anderthalb Kilogramm formbares Gewebe, geschützt vom Schädel – und doch das komplexeste bekannte Gebilde überhaupt. Jede Emotion, jeder Gedanke, jede Entscheidung hat hier ein biologisches Substrat.</a:t>
            </a:r>
          </a:p>
          <a:p>
            <a:pPr>
              <a:lnSpc>
                <a:spcPct val="130000"/>
              </a:lnSpc>
            </a:pPr>
            <a:r>
              <a:rPr sz="1650" b="0" i="0">
                <a:solidFill>
                  <a:srgbClr val="48524E"/>
                </a:solidFill>
                <a:latin typeface="Calibri"/>
              </a:rPr>
              <a:t>Wer seine Gedanken meistern will, gewinnt Halt, wenn er weiß, welche Strukturen dabei im Spiel sind – ohne in platten Biologismus zu verfallen.</a:t>
            </a:r>
          </a:p>
        </p:txBody>
      </p:sp>
      <p:sp>
        <p:nvSpPr>
          <p:cNvPr id="5" name="Rounded Rectangle 4"/>
          <p:cNvSpPr/>
          <p:nvPr/>
        </p:nvSpPr>
        <p:spPr>
          <a:xfrm>
            <a:off x="7955279" y="1554480"/>
            <a:ext cx="3566160" cy="3840480"/>
          </a:xfrm>
          <a:prstGeom prst="roundRect">
            <a:avLst>
              <a:gd name="adj" fmla="val 8000"/>
            </a:avLst>
          </a:prstGeom>
          <a:solidFill>
            <a:srgbClr val="081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38160" y="2148840"/>
            <a:ext cx="3200400" cy="320040"/>
          </a:xfrm>
          <a:prstGeom prst="rect">
            <a:avLst/>
          </a:prstGeom>
          <a:noFill/>
        </p:spPr>
        <p:txBody>
          <a:bodyPr wrap="square" anchor="t" lIns="0" rIns="0" tIns="0" bIns="0">
            <a:noAutofit/>
          </a:bodyPr>
          <a:lstStyle/>
          <a:p>
            <a:pPr algn="ctr"/>
            <a:r>
              <a:rPr sz="1200" b="1" i="0" spc="200">
                <a:solidFill>
                  <a:srgbClr val="A3D64F"/>
                </a:solidFill>
                <a:latin typeface="Calibri"/>
              </a:rPr>
              <a:t>RUND</a:t>
            </a:r>
          </a:p>
        </p:txBody>
      </p:sp>
      <p:sp>
        <p:nvSpPr>
          <p:cNvPr id="7" name="TextBox 6"/>
          <p:cNvSpPr txBox="1"/>
          <p:nvPr/>
        </p:nvSpPr>
        <p:spPr>
          <a:xfrm>
            <a:off x="8001000" y="2560320"/>
            <a:ext cx="3474720" cy="1051560"/>
          </a:xfrm>
          <a:prstGeom prst="rect">
            <a:avLst/>
          </a:prstGeom>
          <a:noFill/>
        </p:spPr>
        <p:txBody>
          <a:bodyPr wrap="square" anchor="t" lIns="0" rIns="0" tIns="0" bIns="0">
            <a:noAutofit/>
          </a:bodyPr>
          <a:lstStyle/>
          <a:p>
            <a:pPr algn="ctr"/>
            <a:r>
              <a:rPr sz="4000" b="1" i="0">
                <a:solidFill>
                  <a:srgbClr val="A3D64F"/>
                </a:solidFill>
                <a:latin typeface="Cambria"/>
              </a:rPr>
              <a:t>86 Mrd.</a:t>
            </a:r>
          </a:p>
        </p:txBody>
      </p:sp>
      <p:sp>
        <p:nvSpPr>
          <p:cNvPr id="8" name="TextBox 7"/>
          <p:cNvSpPr txBox="1"/>
          <p:nvPr/>
        </p:nvSpPr>
        <p:spPr>
          <a:xfrm>
            <a:off x="8138160" y="3611880"/>
            <a:ext cx="3200400" cy="457200"/>
          </a:xfrm>
          <a:prstGeom prst="rect">
            <a:avLst/>
          </a:prstGeom>
          <a:noFill/>
        </p:spPr>
        <p:txBody>
          <a:bodyPr wrap="square" anchor="t" lIns="0" rIns="0" tIns="0" bIns="0">
            <a:noAutofit/>
          </a:bodyPr>
          <a:lstStyle/>
          <a:p>
            <a:pPr algn="ctr"/>
            <a:r>
              <a:rPr sz="1600" b="1" i="0">
                <a:solidFill>
                  <a:srgbClr val="FFFFFF"/>
                </a:solidFill>
                <a:latin typeface="Calibri"/>
              </a:rPr>
              <a:t>Nervenzellen in deinem Kopf</a:t>
            </a:r>
          </a:p>
        </p:txBody>
      </p:sp>
      <p:sp>
        <p:nvSpPr>
          <p:cNvPr id="9" name="TextBox 8"/>
          <p:cNvSpPr txBox="1"/>
          <p:nvPr/>
        </p:nvSpPr>
        <p:spPr>
          <a:xfrm>
            <a:off x="8229600" y="4114800"/>
            <a:ext cx="3017520" cy="1097280"/>
          </a:xfrm>
          <a:prstGeom prst="rect">
            <a:avLst/>
          </a:prstGeom>
          <a:noFill/>
        </p:spPr>
        <p:txBody>
          <a:bodyPr wrap="square" anchor="t" lIns="0" rIns="0" tIns="0" bIns="0">
            <a:noAutofit/>
          </a:bodyPr>
          <a:lstStyle/>
          <a:p>
            <a:pPr algn="ctr">
              <a:lnSpc>
                <a:spcPct val="115000"/>
              </a:lnSpc>
            </a:pPr>
            <a:r>
              <a:rPr sz="1300" b="0" i="0">
                <a:solidFill>
                  <a:srgbClr val="C3CCDD"/>
                </a:solidFill>
                <a:latin typeface="Calibri"/>
              </a:rPr>
              <a:t>vernetzt über Billionen von Synapsen (Herculano-Houzel, 2009)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100584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ÜBUNG 1 · 3 MINUTEN</a:t>
            </a:r>
          </a:p>
        </p:txBody>
      </p:sp>
      <p:sp>
        <p:nvSpPr>
          <p:cNvPr id="3" name="TextBox 2"/>
          <p:cNvSpPr txBox="1"/>
          <p:nvPr/>
        </p:nvSpPr>
        <p:spPr>
          <a:xfrm>
            <a:off x="731520" y="960120"/>
            <a:ext cx="10607040" cy="822960"/>
          </a:xfrm>
          <a:prstGeom prst="rect">
            <a:avLst/>
          </a:prstGeom>
          <a:noFill/>
        </p:spPr>
        <p:txBody>
          <a:bodyPr wrap="square" anchor="t" lIns="0" rIns="0" tIns="0" bIns="0">
            <a:noAutofit/>
          </a:bodyPr>
          <a:lstStyle/>
          <a:p>
            <a:r>
              <a:rPr sz="3600" b="1" i="0">
                <a:solidFill>
                  <a:srgbClr val="1A2233"/>
                </a:solidFill>
                <a:latin typeface="Cambria"/>
              </a:rPr>
              <a:t>Der Spalt zwischen Reiz und Reaktion</a:t>
            </a:r>
          </a:p>
        </p:txBody>
      </p:sp>
      <p:pic>
        <p:nvPicPr>
          <p:cNvPr id="4" name="Picture 3" descr="circle.png"/>
          <p:cNvPicPr>
            <a:picLocks noChangeAspect="1"/>
          </p:cNvPicPr>
          <p:nvPr/>
        </p:nvPicPr>
        <p:blipFill>
          <a:blip r:embed="rId2"/>
          <a:stretch>
            <a:fillRect/>
          </a:stretch>
        </p:blipFill>
        <p:spPr>
          <a:xfrm>
            <a:off x="777240" y="2148840"/>
            <a:ext cx="512064" cy="512064"/>
          </a:xfrm>
          <a:prstGeom prst="rect">
            <a:avLst/>
          </a:prstGeom>
        </p:spPr>
      </p:pic>
      <p:sp>
        <p:nvSpPr>
          <p:cNvPr id="5" name="TextBox 4"/>
          <p:cNvSpPr txBox="1"/>
          <p:nvPr/>
        </p:nvSpPr>
        <p:spPr>
          <a:xfrm>
            <a:off x="777240" y="2148840"/>
            <a:ext cx="512064" cy="512064"/>
          </a:xfrm>
          <a:prstGeom prst="rect">
            <a:avLst/>
          </a:prstGeom>
          <a:noFill/>
        </p:spPr>
        <p:txBody>
          <a:bodyPr wrap="square" anchor="ctr" lIns="0" rIns="0" tIns="0" bIns="0">
            <a:noAutofit/>
          </a:bodyPr>
          <a:lstStyle/>
          <a:p>
            <a:pPr algn="ctr"/>
            <a:r>
              <a:rPr sz="1900" b="1" i="0">
                <a:solidFill>
                  <a:srgbClr val="08102A"/>
                </a:solidFill>
                <a:latin typeface="Cambria"/>
              </a:rPr>
              <a:t>1</a:t>
            </a:r>
          </a:p>
        </p:txBody>
      </p:sp>
      <p:sp>
        <p:nvSpPr>
          <p:cNvPr id="6" name="TextBox 5"/>
          <p:cNvSpPr txBox="1"/>
          <p:nvPr/>
        </p:nvSpPr>
        <p:spPr>
          <a:xfrm>
            <a:off x="1554480" y="2130552"/>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Setz dich bequem hin und schließ für einen Moment die Augen.</a:t>
            </a:r>
          </a:p>
        </p:txBody>
      </p:sp>
      <p:pic>
        <p:nvPicPr>
          <p:cNvPr id="7" name="Picture 6" descr="circle.png"/>
          <p:cNvPicPr>
            <a:picLocks noChangeAspect="1"/>
          </p:cNvPicPr>
          <p:nvPr/>
        </p:nvPicPr>
        <p:blipFill>
          <a:blip r:embed="rId2"/>
          <a:stretch>
            <a:fillRect/>
          </a:stretch>
        </p:blipFill>
        <p:spPr>
          <a:xfrm>
            <a:off x="777240" y="2990088"/>
            <a:ext cx="512064" cy="512064"/>
          </a:xfrm>
          <a:prstGeom prst="rect">
            <a:avLst/>
          </a:prstGeom>
        </p:spPr>
      </p:pic>
      <p:sp>
        <p:nvSpPr>
          <p:cNvPr id="8" name="TextBox 7"/>
          <p:cNvSpPr txBox="1"/>
          <p:nvPr/>
        </p:nvSpPr>
        <p:spPr>
          <a:xfrm>
            <a:off x="777240" y="2990088"/>
            <a:ext cx="512064" cy="512064"/>
          </a:xfrm>
          <a:prstGeom prst="rect">
            <a:avLst/>
          </a:prstGeom>
          <a:noFill/>
        </p:spPr>
        <p:txBody>
          <a:bodyPr wrap="square" anchor="ctr" lIns="0" rIns="0" tIns="0" bIns="0">
            <a:noAutofit/>
          </a:bodyPr>
          <a:lstStyle/>
          <a:p>
            <a:pPr algn="ctr"/>
            <a:r>
              <a:rPr sz="1900" b="1" i="0">
                <a:solidFill>
                  <a:srgbClr val="08102A"/>
                </a:solidFill>
                <a:latin typeface="Cambria"/>
              </a:rPr>
              <a:t>2</a:t>
            </a:r>
          </a:p>
        </p:txBody>
      </p:sp>
      <p:sp>
        <p:nvSpPr>
          <p:cNvPr id="9" name="TextBox 8"/>
          <p:cNvSpPr txBox="1"/>
          <p:nvPr/>
        </p:nvSpPr>
        <p:spPr>
          <a:xfrm>
            <a:off x="1554480" y="2971800"/>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Denk an eine Situation von gestern, in der du automatisch reagiert hast.</a:t>
            </a:r>
          </a:p>
        </p:txBody>
      </p:sp>
      <p:pic>
        <p:nvPicPr>
          <p:cNvPr id="10" name="Picture 9" descr="circle.png"/>
          <p:cNvPicPr>
            <a:picLocks noChangeAspect="1"/>
          </p:cNvPicPr>
          <p:nvPr/>
        </p:nvPicPr>
        <p:blipFill>
          <a:blip r:embed="rId2"/>
          <a:stretch>
            <a:fillRect/>
          </a:stretch>
        </p:blipFill>
        <p:spPr>
          <a:xfrm>
            <a:off x="777240" y="3831336"/>
            <a:ext cx="512064" cy="512064"/>
          </a:xfrm>
          <a:prstGeom prst="rect">
            <a:avLst/>
          </a:prstGeom>
        </p:spPr>
      </p:pic>
      <p:sp>
        <p:nvSpPr>
          <p:cNvPr id="11" name="TextBox 10"/>
          <p:cNvSpPr txBox="1"/>
          <p:nvPr/>
        </p:nvSpPr>
        <p:spPr>
          <a:xfrm>
            <a:off x="777240" y="3831336"/>
            <a:ext cx="512064" cy="512064"/>
          </a:xfrm>
          <a:prstGeom prst="rect">
            <a:avLst/>
          </a:prstGeom>
          <a:noFill/>
        </p:spPr>
        <p:txBody>
          <a:bodyPr wrap="square" anchor="ctr" lIns="0" rIns="0" tIns="0" bIns="0">
            <a:noAutofit/>
          </a:bodyPr>
          <a:lstStyle/>
          <a:p>
            <a:pPr algn="ctr"/>
            <a:r>
              <a:rPr sz="1900" b="1" i="0">
                <a:solidFill>
                  <a:srgbClr val="08102A"/>
                </a:solidFill>
                <a:latin typeface="Cambria"/>
              </a:rPr>
              <a:t>3</a:t>
            </a:r>
          </a:p>
        </p:txBody>
      </p:sp>
      <p:sp>
        <p:nvSpPr>
          <p:cNvPr id="12" name="TextBox 11"/>
          <p:cNvSpPr txBox="1"/>
          <p:nvPr/>
        </p:nvSpPr>
        <p:spPr>
          <a:xfrm>
            <a:off x="1554480" y="3813048"/>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Spür nach: Wo war der winzige Moment zwischen dem Auslöser und deiner Reaktion?</a:t>
            </a:r>
          </a:p>
        </p:txBody>
      </p:sp>
      <p:pic>
        <p:nvPicPr>
          <p:cNvPr id="13" name="Picture 12" descr="circle.png"/>
          <p:cNvPicPr>
            <a:picLocks noChangeAspect="1"/>
          </p:cNvPicPr>
          <p:nvPr/>
        </p:nvPicPr>
        <p:blipFill>
          <a:blip r:embed="rId2"/>
          <a:stretch>
            <a:fillRect/>
          </a:stretch>
        </p:blipFill>
        <p:spPr>
          <a:xfrm>
            <a:off x="777240" y="4672584"/>
            <a:ext cx="512064" cy="512064"/>
          </a:xfrm>
          <a:prstGeom prst="rect">
            <a:avLst/>
          </a:prstGeom>
        </p:spPr>
      </p:pic>
      <p:sp>
        <p:nvSpPr>
          <p:cNvPr id="14" name="TextBox 13"/>
          <p:cNvSpPr txBox="1"/>
          <p:nvPr/>
        </p:nvSpPr>
        <p:spPr>
          <a:xfrm>
            <a:off x="777240" y="4672584"/>
            <a:ext cx="512064" cy="512064"/>
          </a:xfrm>
          <a:prstGeom prst="rect">
            <a:avLst/>
          </a:prstGeom>
          <a:noFill/>
        </p:spPr>
        <p:txBody>
          <a:bodyPr wrap="square" anchor="ctr" lIns="0" rIns="0" tIns="0" bIns="0">
            <a:noAutofit/>
          </a:bodyPr>
          <a:lstStyle/>
          <a:p>
            <a:pPr algn="ctr"/>
            <a:r>
              <a:rPr sz="1900" b="1" i="0">
                <a:solidFill>
                  <a:srgbClr val="08102A"/>
                </a:solidFill>
                <a:latin typeface="Cambria"/>
              </a:rPr>
              <a:t>4</a:t>
            </a:r>
          </a:p>
        </p:txBody>
      </p:sp>
      <p:sp>
        <p:nvSpPr>
          <p:cNvPr id="15" name="TextBox 14"/>
          <p:cNvSpPr txBox="1"/>
          <p:nvPr/>
        </p:nvSpPr>
        <p:spPr>
          <a:xfrm>
            <a:off x="1554480" y="4654296"/>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Öffne die Augen und halt in einem Satz fest, was du bemerkt hast.</a:t>
            </a:r>
          </a:p>
        </p:txBody>
      </p:sp>
      <p:sp>
        <p:nvSpPr>
          <p:cNvPr id="16" name="Rounded Rectangle 15"/>
          <p:cNvSpPr/>
          <p:nvPr/>
        </p:nvSpPr>
        <p:spPr>
          <a:xfrm>
            <a:off x="8366760" y="2148840"/>
            <a:ext cx="3154680" cy="3200400"/>
          </a:xfrm>
          <a:prstGeom prst="roundRect">
            <a:avLst>
              <a:gd name="adj" fmla="val 9000"/>
            </a:avLst>
          </a:prstGeom>
          <a:solidFill>
            <a:srgbClr val="081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423160"/>
            <a:ext cx="2743200" cy="274320"/>
          </a:xfrm>
          <a:prstGeom prst="rect">
            <a:avLst/>
          </a:prstGeom>
          <a:noFill/>
        </p:spPr>
        <p:txBody>
          <a:bodyPr wrap="square" anchor="t" lIns="0" rIns="0" tIns="0" bIns="0">
            <a:noAutofit/>
          </a:bodyPr>
          <a:lstStyle/>
          <a:p>
            <a:pPr>
              <a:spcAft>
                <a:spcPts val="600"/>
              </a:spcAft>
            </a:pPr>
            <a:r>
              <a:rPr sz="1100" b="1" i="0" spc="240">
                <a:solidFill>
                  <a:srgbClr val="A3D64F"/>
                </a:solidFill>
                <a:latin typeface="Calibri"/>
              </a:rPr>
              <a:t>MITNEHMEN</a:t>
            </a:r>
          </a:p>
        </p:txBody>
      </p:sp>
      <p:sp>
        <p:nvSpPr>
          <p:cNvPr id="18" name="TextBox 17"/>
          <p:cNvSpPr txBox="1"/>
          <p:nvPr/>
        </p:nvSpPr>
        <p:spPr>
          <a:xfrm>
            <a:off x="8595360" y="2788920"/>
            <a:ext cx="2743200" cy="2377440"/>
          </a:xfrm>
          <a:prstGeom prst="rect">
            <a:avLst/>
          </a:prstGeom>
          <a:noFill/>
        </p:spPr>
        <p:txBody>
          <a:bodyPr wrap="square" anchor="t" lIns="0" rIns="0" tIns="0" bIns="0">
            <a:noAutofit/>
          </a:bodyPr>
          <a:lstStyle/>
          <a:p>
            <a:pPr>
              <a:lnSpc>
                <a:spcPct val="120000"/>
              </a:lnSpc>
            </a:pPr>
            <a:r>
              <a:rPr sz="1800" b="0" i="0">
                <a:solidFill>
                  <a:srgbClr val="FFFFFF"/>
                </a:solidFill>
                <a:latin typeface="Calibri"/>
              </a:rPr>
              <a:t>Genau in diesem Spalt zwischen Reiz und Reaktion liegt dein Spielraum – dort setzt alle Arbeit an den Gedanken 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005840" y="2148840"/>
            <a:ext cx="7315200" cy="320040"/>
          </a:xfrm>
          <a:prstGeom prst="rect">
            <a:avLst/>
          </a:prstGeom>
          <a:noFill/>
        </p:spPr>
        <p:txBody>
          <a:bodyPr wrap="square" anchor="t" lIns="0" rIns="0" tIns="0" bIns="0">
            <a:noAutofit/>
          </a:bodyPr>
          <a:lstStyle/>
          <a:p>
            <a:pPr>
              <a:spcAft>
                <a:spcPts val="600"/>
              </a:spcAft>
            </a:pPr>
            <a:r>
              <a:rPr sz="1200" b="1" i="0" spc="240">
                <a:solidFill>
                  <a:srgbClr val="A3D64F"/>
                </a:solidFill>
                <a:latin typeface="Calibri"/>
              </a:rPr>
              <a:t>DIE WISSENSREISE</a:t>
            </a:r>
          </a:p>
        </p:txBody>
      </p:sp>
      <p:sp>
        <p:nvSpPr>
          <p:cNvPr id="4" name="TextBox 3"/>
          <p:cNvSpPr txBox="1"/>
          <p:nvPr/>
        </p:nvSpPr>
        <p:spPr>
          <a:xfrm>
            <a:off x="960120" y="2514600"/>
            <a:ext cx="10241280" cy="1097280"/>
          </a:xfrm>
          <a:prstGeom prst="rect">
            <a:avLst/>
          </a:prstGeom>
          <a:noFill/>
        </p:spPr>
        <p:txBody>
          <a:bodyPr wrap="square" anchor="t" lIns="0" rIns="0" tIns="0" bIns="0">
            <a:noAutofit/>
          </a:bodyPr>
          <a:lstStyle/>
          <a:p>
            <a:r>
              <a:rPr sz="4200" b="1" i="0">
                <a:solidFill>
                  <a:srgbClr val="FFFFFF"/>
                </a:solidFill>
                <a:latin typeface="Cambria"/>
              </a:rPr>
              <a:t>Zehn Module durch dein Gehirn</a:t>
            </a:r>
          </a:p>
        </p:txBody>
      </p:sp>
      <p:sp>
        <p:nvSpPr>
          <p:cNvPr id="5" name="TextBox 4"/>
          <p:cNvSpPr txBox="1"/>
          <p:nvPr/>
        </p:nvSpPr>
        <p:spPr>
          <a:xfrm>
            <a:off x="1005840" y="3703320"/>
            <a:ext cx="9326880" cy="822960"/>
          </a:xfrm>
          <a:prstGeom prst="rect">
            <a:avLst/>
          </a:prstGeom>
          <a:noFill/>
        </p:spPr>
        <p:txBody>
          <a:bodyPr wrap="square" anchor="t" lIns="0" rIns="0" tIns="0" bIns="0">
            <a:noAutofit/>
          </a:bodyPr>
          <a:lstStyle/>
          <a:p>
            <a:pPr>
              <a:lnSpc>
                <a:spcPct val="120000"/>
              </a:lnSpc>
            </a:pPr>
            <a:r>
              <a:rPr sz="1700" b="0" i="0">
                <a:solidFill>
                  <a:srgbClr val="C3CCDD"/>
                </a:solidFill>
                <a:latin typeface="Calibri"/>
              </a:rPr>
              <a:t>Wir verdichten 27 Kapitel zu zehn Etappen – vom biologischen Fundament bis zu Bewusstsein, Selbst und den großen offenen Fragen.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DIE LANDKARTE</a:t>
            </a:r>
          </a:p>
        </p:txBody>
      </p:sp>
      <p:sp>
        <p:nvSpPr>
          <p:cNvPr id="3" name="TextBox 2"/>
          <p:cNvSpPr txBox="1"/>
          <p:nvPr/>
        </p:nvSpPr>
        <p:spPr>
          <a:xfrm>
            <a:off x="731520" y="960120"/>
            <a:ext cx="10698480" cy="914400"/>
          </a:xfrm>
          <a:prstGeom prst="rect">
            <a:avLst/>
          </a:prstGeom>
          <a:noFill/>
        </p:spPr>
        <p:txBody>
          <a:bodyPr wrap="square" anchor="t" lIns="0" rIns="0" tIns="0" bIns="0">
            <a:noAutofit/>
          </a:bodyPr>
          <a:lstStyle/>
          <a:p>
            <a:pPr>
              <a:lnSpc>
                <a:spcPct val="103000"/>
              </a:lnSpc>
            </a:pPr>
            <a:r>
              <a:rPr sz="2800" b="1" i="0">
                <a:solidFill>
                  <a:srgbClr val="1A2233"/>
                </a:solidFill>
                <a:latin typeface="Cambria"/>
              </a:rPr>
              <a:t>Wohin uns die Reise führt</a:t>
            </a:r>
          </a:p>
        </p:txBody>
      </p:sp>
      <p:pic>
        <p:nvPicPr>
          <p:cNvPr id="4" name="Picture 3" descr="circle.png"/>
          <p:cNvPicPr>
            <a:picLocks noChangeAspect="1"/>
          </p:cNvPicPr>
          <p:nvPr/>
        </p:nvPicPr>
        <p:blipFill>
          <a:blip r:embed="rId2"/>
          <a:stretch>
            <a:fillRect/>
          </a:stretch>
        </p:blipFill>
        <p:spPr>
          <a:xfrm>
            <a:off x="731520" y="1828800"/>
            <a:ext cx="603504" cy="603504"/>
          </a:xfrm>
          <a:prstGeom prst="rect">
            <a:avLst/>
          </a:prstGeom>
        </p:spPr>
      </p:pic>
      <p:sp>
        <p:nvSpPr>
          <p:cNvPr id="5" name="TextBox 4"/>
          <p:cNvSpPr txBox="1"/>
          <p:nvPr/>
        </p:nvSpPr>
        <p:spPr>
          <a:xfrm>
            <a:off x="731520" y="1828800"/>
            <a:ext cx="603504" cy="603504"/>
          </a:xfrm>
          <a:prstGeom prst="rect">
            <a:avLst/>
          </a:prstGeom>
          <a:noFill/>
        </p:spPr>
        <p:txBody>
          <a:bodyPr wrap="square" anchor="ctr" lIns="0" rIns="0" tIns="0" bIns="0">
            <a:noAutofit/>
          </a:bodyPr>
          <a:lstStyle/>
          <a:p>
            <a:pPr algn="ctr"/>
            <a:r>
              <a:rPr sz="2200" b="1" i="0">
                <a:solidFill>
                  <a:srgbClr val="08102A"/>
                </a:solidFill>
                <a:latin typeface="Cambria"/>
              </a:rPr>
              <a:t>1</a:t>
            </a:r>
          </a:p>
        </p:txBody>
      </p:sp>
      <p:sp>
        <p:nvSpPr>
          <p:cNvPr id="6" name="TextBox 5"/>
          <p:cNvSpPr txBox="1"/>
          <p:nvPr/>
        </p:nvSpPr>
        <p:spPr>
          <a:xfrm>
            <a:off x="1554480" y="1810512"/>
            <a:ext cx="4754880" cy="384048"/>
          </a:xfrm>
          <a:prstGeom prst="rect">
            <a:avLst/>
          </a:prstGeom>
          <a:noFill/>
        </p:spPr>
        <p:txBody>
          <a:bodyPr wrap="square" anchor="t" lIns="0" rIns="0" tIns="0" bIns="0">
            <a:noAutofit/>
          </a:bodyPr>
          <a:lstStyle/>
          <a:p>
            <a:r>
              <a:rPr sz="1500" b="1" i="0">
                <a:solidFill>
                  <a:srgbClr val="1A2233"/>
                </a:solidFill>
                <a:latin typeface="Calibri"/>
              </a:rPr>
              <a:t>Aufbau &amp; Neuronen</a:t>
            </a:r>
          </a:p>
        </p:txBody>
      </p:sp>
      <p:sp>
        <p:nvSpPr>
          <p:cNvPr id="7" name="TextBox 6"/>
          <p:cNvSpPr txBox="1"/>
          <p:nvPr/>
        </p:nvSpPr>
        <p:spPr>
          <a:xfrm>
            <a:off x="1554480" y="2148840"/>
            <a:ext cx="4800600" cy="457200"/>
          </a:xfrm>
          <a:prstGeom prst="rect">
            <a:avLst/>
          </a:prstGeom>
          <a:noFill/>
        </p:spPr>
        <p:txBody>
          <a:bodyPr wrap="square" anchor="t" lIns="0" rIns="0" tIns="0" bIns="0">
            <a:noAutofit/>
          </a:bodyPr>
          <a:lstStyle/>
          <a:p>
            <a:r>
              <a:rPr sz="1150" b="0" i="0">
                <a:solidFill>
                  <a:srgbClr val="21B2BD"/>
                </a:solidFill>
                <a:latin typeface="Calibri"/>
              </a:rPr>
              <a:t>Die Landkarte im Kopf</a:t>
            </a:r>
          </a:p>
        </p:txBody>
      </p:sp>
      <p:pic>
        <p:nvPicPr>
          <p:cNvPr id="8" name="Picture 7" descr="circle.png"/>
          <p:cNvPicPr>
            <a:picLocks noChangeAspect="1"/>
          </p:cNvPicPr>
          <p:nvPr/>
        </p:nvPicPr>
        <p:blipFill>
          <a:blip r:embed="rId2"/>
          <a:stretch>
            <a:fillRect/>
          </a:stretch>
        </p:blipFill>
        <p:spPr>
          <a:xfrm>
            <a:off x="731520" y="2688336"/>
            <a:ext cx="603504" cy="603504"/>
          </a:xfrm>
          <a:prstGeom prst="rect">
            <a:avLst/>
          </a:prstGeom>
        </p:spPr>
      </p:pic>
      <p:sp>
        <p:nvSpPr>
          <p:cNvPr id="9" name="TextBox 8"/>
          <p:cNvSpPr txBox="1"/>
          <p:nvPr/>
        </p:nvSpPr>
        <p:spPr>
          <a:xfrm>
            <a:off x="731520" y="2688336"/>
            <a:ext cx="603504" cy="603504"/>
          </a:xfrm>
          <a:prstGeom prst="rect">
            <a:avLst/>
          </a:prstGeom>
          <a:noFill/>
        </p:spPr>
        <p:txBody>
          <a:bodyPr wrap="square" anchor="ctr" lIns="0" rIns="0" tIns="0" bIns="0">
            <a:noAutofit/>
          </a:bodyPr>
          <a:lstStyle/>
          <a:p>
            <a:pPr algn="ctr"/>
            <a:r>
              <a:rPr sz="2200" b="1" i="0">
                <a:solidFill>
                  <a:srgbClr val="08102A"/>
                </a:solidFill>
                <a:latin typeface="Cambria"/>
              </a:rPr>
              <a:t>2</a:t>
            </a:r>
          </a:p>
        </p:txBody>
      </p:sp>
      <p:sp>
        <p:nvSpPr>
          <p:cNvPr id="10" name="TextBox 9"/>
          <p:cNvSpPr txBox="1"/>
          <p:nvPr/>
        </p:nvSpPr>
        <p:spPr>
          <a:xfrm>
            <a:off x="1554480" y="2670048"/>
            <a:ext cx="4754880" cy="384048"/>
          </a:xfrm>
          <a:prstGeom prst="rect">
            <a:avLst/>
          </a:prstGeom>
          <a:noFill/>
        </p:spPr>
        <p:txBody>
          <a:bodyPr wrap="square" anchor="t" lIns="0" rIns="0" tIns="0" bIns="0">
            <a:noAutofit/>
          </a:bodyPr>
          <a:lstStyle/>
          <a:p>
            <a:r>
              <a:rPr sz="1500" b="1" i="0">
                <a:solidFill>
                  <a:srgbClr val="1A2233"/>
                </a:solidFill>
                <a:latin typeface="Calibri"/>
              </a:rPr>
              <a:t>Neuroplastizität</a:t>
            </a:r>
          </a:p>
        </p:txBody>
      </p:sp>
      <p:sp>
        <p:nvSpPr>
          <p:cNvPr id="11" name="TextBox 10"/>
          <p:cNvSpPr txBox="1"/>
          <p:nvPr/>
        </p:nvSpPr>
        <p:spPr>
          <a:xfrm>
            <a:off x="1554480" y="3008376"/>
            <a:ext cx="4800600" cy="457200"/>
          </a:xfrm>
          <a:prstGeom prst="rect">
            <a:avLst/>
          </a:prstGeom>
          <a:noFill/>
        </p:spPr>
        <p:txBody>
          <a:bodyPr wrap="square" anchor="t" lIns="0" rIns="0" tIns="0" bIns="0">
            <a:noAutofit/>
          </a:bodyPr>
          <a:lstStyle/>
          <a:p>
            <a:r>
              <a:rPr sz="1150" b="0" i="0">
                <a:solidFill>
                  <a:srgbClr val="21B2BD"/>
                </a:solidFill>
                <a:latin typeface="Calibri"/>
              </a:rPr>
              <a:t>Das formbare Gehirn</a:t>
            </a:r>
          </a:p>
        </p:txBody>
      </p:sp>
      <p:pic>
        <p:nvPicPr>
          <p:cNvPr id="12" name="Picture 11" descr="circle.png"/>
          <p:cNvPicPr>
            <a:picLocks noChangeAspect="1"/>
          </p:cNvPicPr>
          <p:nvPr/>
        </p:nvPicPr>
        <p:blipFill>
          <a:blip r:embed="rId2"/>
          <a:stretch>
            <a:fillRect/>
          </a:stretch>
        </p:blipFill>
        <p:spPr>
          <a:xfrm>
            <a:off x="731520" y="3547872"/>
            <a:ext cx="603504" cy="603504"/>
          </a:xfrm>
          <a:prstGeom prst="rect">
            <a:avLst/>
          </a:prstGeom>
        </p:spPr>
      </p:pic>
      <p:sp>
        <p:nvSpPr>
          <p:cNvPr id="13" name="TextBox 12"/>
          <p:cNvSpPr txBox="1"/>
          <p:nvPr/>
        </p:nvSpPr>
        <p:spPr>
          <a:xfrm>
            <a:off x="731520" y="3547872"/>
            <a:ext cx="603504" cy="603504"/>
          </a:xfrm>
          <a:prstGeom prst="rect">
            <a:avLst/>
          </a:prstGeom>
          <a:noFill/>
        </p:spPr>
        <p:txBody>
          <a:bodyPr wrap="square" anchor="ctr" lIns="0" rIns="0" tIns="0" bIns="0">
            <a:noAutofit/>
          </a:bodyPr>
          <a:lstStyle/>
          <a:p>
            <a:pPr algn="ctr"/>
            <a:r>
              <a:rPr sz="2200" b="1" i="0">
                <a:solidFill>
                  <a:srgbClr val="08102A"/>
                </a:solidFill>
                <a:latin typeface="Cambria"/>
              </a:rPr>
              <a:t>3</a:t>
            </a:r>
          </a:p>
        </p:txBody>
      </p:sp>
      <p:sp>
        <p:nvSpPr>
          <p:cNvPr id="14" name="TextBox 13"/>
          <p:cNvSpPr txBox="1"/>
          <p:nvPr/>
        </p:nvSpPr>
        <p:spPr>
          <a:xfrm>
            <a:off x="1554480" y="3529584"/>
            <a:ext cx="4754880" cy="384048"/>
          </a:xfrm>
          <a:prstGeom prst="rect">
            <a:avLst/>
          </a:prstGeom>
          <a:noFill/>
        </p:spPr>
        <p:txBody>
          <a:bodyPr wrap="square" anchor="t" lIns="0" rIns="0" tIns="0" bIns="0">
            <a:noAutofit/>
          </a:bodyPr>
          <a:lstStyle/>
          <a:p>
            <a:r>
              <a:rPr sz="1500" b="1" i="0">
                <a:solidFill>
                  <a:srgbClr val="1A2233"/>
                </a:solidFill>
                <a:latin typeface="Calibri"/>
              </a:rPr>
              <a:t>Bewusstsein</a:t>
            </a:r>
          </a:p>
        </p:txBody>
      </p:sp>
      <p:sp>
        <p:nvSpPr>
          <p:cNvPr id="15" name="TextBox 14"/>
          <p:cNvSpPr txBox="1"/>
          <p:nvPr/>
        </p:nvSpPr>
        <p:spPr>
          <a:xfrm>
            <a:off x="1554480" y="3867911"/>
            <a:ext cx="4800600" cy="457200"/>
          </a:xfrm>
          <a:prstGeom prst="rect">
            <a:avLst/>
          </a:prstGeom>
          <a:noFill/>
        </p:spPr>
        <p:txBody>
          <a:bodyPr wrap="square" anchor="t" lIns="0" rIns="0" tIns="0" bIns="0">
            <a:noAutofit/>
          </a:bodyPr>
          <a:lstStyle/>
          <a:p>
            <a:r>
              <a:rPr sz="1150" b="0" i="0">
                <a:solidFill>
                  <a:srgbClr val="21B2BD"/>
                </a:solidFill>
                <a:latin typeface="Calibri"/>
              </a:rPr>
              <a:t>Das große Rätsel</a:t>
            </a:r>
          </a:p>
        </p:txBody>
      </p:sp>
      <p:pic>
        <p:nvPicPr>
          <p:cNvPr id="16" name="Picture 15" descr="circle.png"/>
          <p:cNvPicPr>
            <a:picLocks noChangeAspect="1"/>
          </p:cNvPicPr>
          <p:nvPr/>
        </p:nvPicPr>
        <p:blipFill>
          <a:blip r:embed="rId2"/>
          <a:stretch>
            <a:fillRect/>
          </a:stretch>
        </p:blipFill>
        <p:spPr>
          <a:xfrm>
            <a:off x="731520" y="4407408"/>
            <a:ext cx="603504" cy="603504"/>
          </a:xfrm>
          <a:prstGeom prst="rect">
            <a:avLst/>
          </a:prstGeom>
        </p:spPr>
      </p:pic>
      <p:sp>
        <p:nvSpPr>
          <p:cNvPr id="17" name="TextBox 16"/>
          <p:cNvSpPr txBox="1"/>
          <p:nvPr/>
        </p:nvSpPr>
        <p:spPr>
          <a:xfrm>
            <a:off x="731520" y="4407408"/>
            <a:ext cx="603504" cy="603504"/>
          </a:xfrm>
          <a:prstGeom prst="rect">
            <a:avLst/>
          </a:prstGeom>
          <a:noFill/>
        </p:spPr>
        <p:txBody>
          <a:bodyPr wrap="square" anchor="ctr" lIns="0" rIns="0" tIns="0" bIns="0">
            <a:noAutofit/>
          </a:bodyPr>
          <a:lstStyle/>
          <a:p>
            <a:pPr algn="ctr"/>
            <a:r>
              <a:rPr sz="2200" b="1" i="0">
                <a:solidFill>
                  <a:srgbClr val="08102A"/>
                </a:solidFill>
                <a:latin typeface="Cambria"/>
              </a:rPr>
              <a:t>4</a:t>
            </a:r>
          </a:p>
        </p:txBody>
      </p:sp>
      <p:sp>
        <p:nvSpPr>
          <p:cNvPr id="18" name="TextBox 17"/>
          <p:cNvSpPr txBox="1"/>
          <p:nvPr/>
        </p:nvSpPr>
        <p:spPr>
          <a:xfrm>
            <a:off x="1554480" y="4389120"/>
            <a:ext cx="4754880" cy="384048"/>
          </a:xfrm>
          <a:prstGeom prst="rect">
            <a:avLst/>
          </a:prstGeom>
          <a:noFill/>
        </p:spPr>
        <p:txBody>
          <a:bodyPr wrap="square" anchor="t" lIns="0" rIns="0" tIns="0" bIns="0">
            <a:noAutofit/>
          </a:bodyPr>
          <a:lstStyle/>
          <a:p>
            <a:r>
              <a:rPr sz="1500" b="1" i="0">
                <a:solidFill>
                  <a:srgbClr val="1A2233"/>
                </a:solidFill>
                <a:latin typeface="Calibri"/>
              </a:rPr>
              <a:t>Aufmerksamkeit &amp; Wahrnehmung</a:t>
            </a:r>
          </a:p>
        </p:txBody>
      </p:sp>
      <p:sp>
        <p:nvSpPr>
          <p:cNvPr id="19" name="TextBox 18"/>
          <p:cNvSpPr txBox="1"/>
          <p:nvPr/>
        </p:nvSpPr>
        <p:spPr>
          <a:xfrm>
            <a:off x="1554480" y="4727448"/>
            <a:ext cx="4800600" cy="457200"/>
          </a:xfrm>
          <a:prstGeom prst="rect">
            <a:avLst/>
          </a:prstGeom>
          <a:noFill/>
        </p:spPr>
        <p:txBody>
          <a:bodyPr wrap="square" anchor="t" lIns="0" rIns="0" tIns="0" bIns="0">
            <a:noAutofit/>
          </a:bodyPr>
          <a:lstStyle/>
          <a:p>
            <a:r>
              <a:rPr sz="1150" b="0" i="0">
                <a:solidFill>
                  <a:srgbClr val="21B2BD"/>
                </a:solidFill>
                <a:latin typeface="Calibri"/>
              </a:rPr>
              <a:t>Deine Vermutung über die Welt</a:t>
            </a:r>
          </a:p>
        </p:txBody>
      </p:sp>
      <p:pic>
        <p:nvPicPr>
          <p:cNvPr id="20" name="Picture 19" descr="circle.png"/>
          <p:cNvPicPr>
            <a:picLocks noChangeAspect="1"/>
          </p:cNvPicPr>
          <p:nvPr/>
        </p:nvPicPr>
        <p:blipFill>
          <a:blip r:embed="rId2"/>
          <a:stretch>
            <a:fillRect/>
          </a:stretch>
        </p:blipFill>
        <p:spPr>
          <a:xfrm>
            <a:off x="731520" y="5266944"/>
            <a:ext cx="603504" cy="603504"/>
          </a:xfrm>
          <a:prstGeom prst="rect">
            <a:avLst/>
          </a:prstGeom>
        </p:spPr>
      </p:pic>
      <p:sp>
        <p:nvSpPr>
          <p:cNvPr id="21" name="TextBox 20"/>
          <p:cNvSpPr txBox="1"/>
          <p:nvPr/>
        </p:nvSpPr>
        <p:spPr>
          <a:xfrm>
            <a:off x="731520" y="5266944"/>
            <a:ext cx="603504" cy="603504"/>
          </a:xfrm>
          <a:prstGeom prst="rect">
            <a:avLst/>
          </a:prstGeom>
          <a:noFill/>
        </p:spPr>
        <p:txBody>
          <a:bodyPr wrap="square" anchor="ctr" lIns="0" rIns="0" tIns="0" bIns="0">
            <a:noAutofit/>
          </a:bodyPr>
          <a:lstStyle/>
          <a:p>
            <a:pPr algn="ctr"/>
            <a:r>
              <a:rPr sz="2200" b="1" i="0">
                <a:solidFill>
                  <a:srgbClr val="08102A"/>
                </a:solidFill>
                <a:latin typeface="Cambria"/>
              </a:rPr>
              <a:t>5</a:t>
            </a:r>
          </a:p>
        </p:txBody>
      </p:sp>
      <p:sp>
        <p:nvSpPr>
          <p:cNvPr id="22" name="TextBox 21"/>
          <p:cNvSpPr txBox="1"/>
          <p:nvPr/>
        </p:nvSpPr>
        <p:spPr>
          <a:xfrm>
            <a:off x="1554480" y="5248656"/>
            <a:ext cx="4754880" cy="384048"/>
          </a:xfrm>
          <a:prstGeom prst="rect">
            <a:avLst/>
          </a:prstGeom>
          <a:noFill/>
        </p:spPr>
        <p:txBody>
          <a:bodyPr wrap="square" anchor="t" lIns="0" rIns="0" tIns="0" bIns="0">
            <a:noAutofit/>
          </a:bodyPr>
          <a:lstStyle/>
          <a:p>
            <a:r>
              <a:rPr sz="1500" b="1" i="0">
                <a:solidFill>
                  <a:srgbClr val="1A2233"/>
                </a:solidFill>
                <a:latin typeface="Calibri"/>
              </a:rPr>
              <a:t>Gedanken, Gedächtnis &amp; Lernen</a:t>
            </a:r>
          </a:p>
        </p:txBody>
      </p:sp>
      <p:sp>
        <p:nvSpPr>
          <p:cNvPr id="23" name="TextBox 22"/>
          <p:cNvSpPr txBox="1"/>
          <p:nvPr/>
        </p:nvSpPr>
        <p:spPr>
          <a:xfrm>
            <a:off x="1554480" y="5586983"/>
            <a:ext cx="4800600" cy="457200"/>
          </a:xfrm>
          <a:prstGeom prst="rect">
            <a:avLst/>
          </a:prstGeom>
          <a:noFill/>
        </p:spPr>
        <p:txBody>
          <a:bodyPr wrap="square" anchor="t" lIns="0" rIns="0" tIns="0" bIns="0">
            <a:noAutofit/>
          </a:bodyPr>
          <a:lstStyle/>
          <a:p>
            <a:r>
              <a:rPr sz="1150" b="0" i="0">
                <a:solidFill>
                  <a:srgbClr val="21B2BD"/>
                </a:solidFill>
                <a:latin typeface="Calibri"/>
              </a:rPr>
              <a:t>Wie Denken entsteht</a:t>
            </a:r>
          </a:p>
        </p:txBody>
      </p:sp>
      <p:pic>
        <p:nvPicPr>
          <p:cNvPr id="24" name="Picture 23" descr="circle.png"/>
          <p:cNvPicPr>
            <a:picLocks noChangeAspect="1"/>
          </p:cNvPicPr>
          <p:nvPr/>
        </p:nvPicPr>
        <p:blipFill>
          <a:blip r:embed="rId2"/>
          <a:stretch>
            <a:fillRect/>
          </a:stretch>
        </p:blipFill>
        <p:spPr>
          <a:xfrm>
            <a:off x="6446520" y="1828800"/>
            <a:ext cx="603504" cy="603504"/>
          </a:xfrm>
          <a:prstGeom prst="rect">
            <a:avLst/>
          </a:prstGeom>
        </p:spPr>
      </p:pic>
      <p:sp>
        <p:nvSpPr>
          <p:cNvPr id="25" name="TextBox 24"/>
          <p:cNvSpPr txBox="1"/>
          <p:nvPr/>
        </p:nvSpPr>
        <p:spPr>
          <a:xfrm>
            <a:off x="6446520" y="1828800"/>
            <a:ext cx="603504" cy="603504"/>
          </a:xfrm>
          <a:prstGeom prst="rect">
            <a:avLst/>
          </a:prstGeom>
          <a:noFill/>
        </p:spPr>
        <p:txBody>
          <a:bodyPr wrap="square" anchor="ctr" lIns="0" rIns="0" tIns="0" bIns="0">
            <a:noAutofit/>
          </a:bodyPr>
          <a:lstStyle/>
          <a:p>
            <a:pPr algn="ctr"/>
            <a:r>
              <a:rPr sz="2200" b="1" i="0">
                <a:solidFill>
                  <a:srgbClr val="08102A"/>
                </a:solidFill>
                <a:latin typeface="Cambria"/>
              </a:rPr>
              <a:t>6</a:t>
            </a:r>
          </a:p>
        </p:txBody>
      </p:sp>
      <p:sp>
        <p:nvSpPr>
          <p:cNvPr id="26" name="TextBox 25"/>
          <p:cNvSpPr txBox="1"/>
          <p:nvPr/>
        </p:nvSpPr>
        <p:spPr>
          <a:xfrm>
            <a:off x="7269480" y="1810512"/>
            <a:ext cx="4754880" cy="384048"/>
          </a:xfrm>
          <a:prstGeom prst="rect">
            <a:avLst/>
          </a:prstGeom>
          <a:noFill/>
        </p:spPr>
        <p:txBody>
          <a:bodyPr wrap="square" anchor="t" lIns="0" rIns="0" tIns="0" bIns="0">
            <a:noAutofit/>
          </a:bodyPr>
          <a:lstStyle/>
          <a:p>
            <a:r>
              <a:rPr sz="1500" b="1" i="0">
                <a:solidFill>
                  <a:srgbClr val="1A2233"/>
                </a:solidFill>
                <a:latin typeface="Calibri"/>
              </a:rPr>
              <a:t>Emotionen &amp; Motivation</a:t>
            </a:r>
          </a:p>
        </p:txBody>
      </p:sp>
      <p:sp>
        <p:nvSpPr>
          <p:cNvPr id="27" name="TextBox 26"/>
          <p:cNvSpPr txBox="1"/>
          <p:nvPr/>
        </p:nvSpPr>
        <p:spPr>
          <a:xfrm>
            <a:off x="7269480" y="2148840"/>
            <a:ext cx="4800600" cy="457200"/>
          </a:xfrm>
          <a:prstGeom prst="rect">
            <a:avLst/>
          </a:prstGeom>
          <a:noFill/>
        </p:spPr>
        <p:txBody>
          <a:bodyPr wrap="square" anchor="t" lIns="0" rIns="0" tIns="0" bIns="0">
            <a:noAutofit/>
          </a:bodyPr>
          <a:lstStyle/>
          <a:p>
            <a:r>
              <a:rPr sz="1150" b="0" i="0">
                <a:solidFill>
                  <a:srgbClr val="21B2BD"/>
                </a:solidFill>
                <a:latin typeface="Calibri"/>
              </a:rPr>
              <a:t>Konstruierte Gefühle</a:t>
            </a:r>
          </a:p>
        </p:txBody>
      </p:sp>
      <p:pic>
        <p:nvPicPr>
          <p:cNvPr id="28" name="Picture 27" descr="circle.png"/>
          <p:cNvPicPr>
            <a:picLocks noChangeAspect="1"/>
          </p:cNvPicPr>
          <p:nvPr/>
        </p:nvPicPr>
        <p:blipFill>
          <a:blip r:embed="rId2"/>
          <a:stretch>
            <a:fillRect/>
          </a:stretch>
        </p:blipFill>
        <p:spPr>
          <a:xfrm>
            <a:off x="6446520" y="2688336"/>
            <a:ext cx="603504" cy="603504"/>
          </a:xfrm>
          <a:prstGeom prst="rect">
            <a:avLst/>
          </a:prstGeom>
        </p:spPr>
      </p:pic>
      <p:sp>
        <p:nvSpPr>
          <p:cNvPr id="29" name="TextBox 28"/>
          <p:cNvSpPr txBox="1"/>
          <p:nvPr/>
        </p:nvSpPr>
        <p:spPr>
          <a:xfrm>
            <a:off x="6446520" y="2688336"/>
            <a:ext cx="603504" cy="603504"/>
          </a:xfrm>
          <a:prstGeom prst="rect">
            <a:avLst/>
          </a:prstGeom>
          <a:noFill/>
        </p:spPr>
        <p:txBody>
          <a:bodyPr wrap="square" anchor="ctr" lIns="0" rIns="0" tIns="0" bIns="0">
            <a:noAutofit/>
          </a:bodyPr>
          <a:lstStyle/>
          <a:p>
            <a:pPr algn="ctr"/>
            <a:r>
              <a:rPr sz="2200" b="1" i="0">
                <a:solidFill>
                  <a:srgbClr val="08102A"/>
                </a:solidFill>
                <a:latin typeface="Cambria"/>
              </a:rPr>
              <a:t>7</a:t>
            </a:r>
          </a:p>
        </p:txBody>
      </p:sp>
      <p:sp>
        <p:nvSpPr>
          <p:cNvPr id="30" name="TextBox 29"/>
          <p:cNvSpPr txBox="1"/>
          <p:nvPr/>
        </p:nvSpPr>
        <p:spPr>
          <a:xfrm>
            <a:off x="7269480" y="2670048"/>
            <a:ext cx="4754880" cy="384048"/>
          </a:xfrm>
          <a:prstGeom prst="rect">
            <a:avLst/>
          </a:prstGeom>
          <a:noFill/>
        </p:spPr>
        <p:txBody>
          <a:bodyPr wrap="square" anchor="t" lIns="0" rIns="0" tIns="0" bIns="0">
            <a:noAutofit/>
          </a:bodyPr>
          <a:lstStyle/>
          <a:p>
            <a:r>
              <a:rPr sz="1500" b="1" i="0">
                <a:solidFill>
                  <a:srgbClr val="1A2233"/>
                </a:solidFill>
                <a:latin typeface="Calibri"/>
              </a:rPr>
              <a:t>Verändern &amp; Regulieren</a:t>
            </a:r>
          </a:p>
        </p:txBody>
      </p:sp>
      <p:sp>
        <p:nvSpPr>
          <p:cNvPr id="31" name="TextBox 30"/>
          <p:cNvSpPr txBox="1"/>
          <p:nvPr/>
        </p:nvSpPr>
        <p:spPr>
          <a:xfrm>
            <a:off x="7269480" y="3008376"/>
            <a:ext cx="4800600" cy="457200"/>
          </a:xfrm>
          <a:prstGeom prst="rect">
            <a:avLst/>
          </a:prstGeom>
          <a:noFill/>
        </p:spPr>
        <p:txBody>
          <a:bodyPr wrap="square" anchor="t" lIns="0" rIns="0" tIns="0" bIns="0">
            <a:noAutofit/>
          </a:bodyPr>
          <a:lstStyle/>
          <a:p>
            <a:r>
              <a:rPr sz="1150" b="0" i="0">
                <a:solidFill>
                  <a:srgbClr val="21B2BD"/>
                </a:solidFill>
                <a:latin typeface="Calibri"/>
              </a:rPr>
              <a:t>Wille, Achtsamkeit, Gewohnheit</a:t>
            </a:r>
          </a:p>
        </p:txBody>
      </p:sp>
      <p:pic>
        <p:nvPicPr>
          <p:cNvPr id="32" name="Picture 31" descr="circle.png"/>
          <p:cNvPicPr>
            <a:picLocks noChangeAspect="1"/>
          </p:cNvPicPr>
          <p:nvPr/>
        </p:nvPicPr>
        <p:blipFill>
          <a:blip r:embed="rId2"/>
          <a:stretch>
            <a:fillRect/>
          </a:stretch>
        </p:blipFill>
        <p:spPr>
          <a:xfrm>
            <a:off x="6446520" y="3547872"/>
            <a:ext cx="603504" cy="603504"/>
          </a:xfrm>
          <a:prstGeom prst="rect">
            <a:avLst/>
          </a:prstGeom>
        </p:spPr>
      </p:pic>
      <p:sp>
        <p:nvSpPr>
          <p:cNvPr id="33" name="TextBox 32"/>
          <p:cNvSpPr txBox="1"/>
          <p:nvPr/>
        </p:nvSpPr>
        <p:spPr>
          <a:xfrm>
            <a:off x="6446520" y="3547872"/>
            <a:ext cx="603504" cy="603504"/>
          </a:xfrm>
          <a:prstGeom prst="rect">
            <a:avLst/>
          </a:prstGeom>
          <a:noFill/>
        </p:spPr>
        <p:txBody>
          <a:bodyPr wrap="square" anchor="ctr" lIns="0" rIns="0" tIns="0" bIns="0">
            <a:noAutofit/>
          </a:bodyPr>
          <a:lstStyle/>
          <a:p>
            <a:pPr algn="ctr"/>
            <a:r>
              <a:rPr sz="2200" b="1" i="0">
                <a:solidFill>
                  <a:srgbClr val="08102A"/>
                </a:solidFill>
                <a:latin typeface="Cambria"/>
              </a:rPr>
              <a:t>8</a:t>
            </a:r>
          </a:p>
        </p:txBody>
      </p:sp>
      <p:sp>
        <p:nvSpPr>
          <p:cNvPr id="34" name="TextBox 33"/>
          <p:cNvSpPr txBox="1"/>
          <p:nvPr/>
        </p:nvSpPr>
        <p:spPr>
          <a:xfrm>
            <a:off x="7269480" y="3529584"/>
            <a:ext cx="4754880" cy="384048"/>
          </a:xfrm>
          <a:prstGeom prst="rect">
            <a:avLst/>
          </a:prstGeom>
          <a:noFill/>
        </p:spPr>
        <p:txBody>
          <a:bodyPr wrap="square" anchor="t" lIns="0" rIns="0" tIns="0" bIns="0">
            <a:noAutofit/>
          </a:bodyPr>
          <a:lstStyle/>
          <a:p>
            <a:r>
              <a:rPr sz="1500" b="1" i="0">
                <a:solidFill>
                  <a:srgbClr val="1A2233"/>
                </a:solidFill>
                <a:latin typeface="Calibri"/>
              </a:rPr>
              <a:t>Selbst &amp; soziales Gehirn</a:t>
            </a:r>
          </a:p>
        </p:txBody>
      </p:sp>
      <p:sp>
        <p:nvSpPr>
          <p:cNvPr id="35" name="TextBox 34"/>
          <p:cNvSpPr txBox="1"/>
          <p:nvPr/>
        </p:nvSpPr>
        <p:spPr>
          <a:xfrm>
            <a:off x="7269480" y="3867911"/>
            <a:ext cx="4800600" cy="457200"/>
          </a:xfrm>
          <a:prstGeom prst="rect">
            <a:avLst/>
          </a:prstGeom>
          <a:noFill/>
        </p:spPr>
        <p:txBody>
          <a:bodyPr wrap="square" anchor="t" lIns="0" rIns="0" tIns="0" bIns="0">
            <a:noAutofit/>
          </a:bodyPr>
          <a:lstStyle/>
          <a:p>
            <a:r>
              <a:rPr sz="1150" b="0" i="0">
                <a:solidFill>
                  <a:srgbClr val="21B2BD"/>
                </a:solidFill>
                <a:latin typeface="Calibri"/>
              </a:rPr>
              <a:t>Das Ich als Prozess</a:t>
            </a:r>
          </a:p>
        </p:txBody>
      </p:sp>
      <p:pic>
        <p:nvPicPr>
          <p:cNvPr id="36" name="Picture 35" descr="circle.png"/>
          <p:cNvPicPr>
            <a:picLocks noChangeAspect="1"/>
          </p:cNvPicPr>
          <p:nvPr/>
        </p:nvPicPr>
        <p:blipFill>
          <a:blip r:embed="rId2"/>
          <a:stretch>
            <a:fillRect/>
          </a:stretch>
        </p:blipFill>
        <p:spPr>
          <a:xfrm>
            <a:off x="6446520" y="4407408"/>
            <a:ext cx="603504" cy="603504"/>
          </a:xfrm>
          <a:prstGeom prst="rect">
            <a:avLst/>
          </a:prstGeom>
        </p:spPr>
      </p:pic>
      <p:sp>
        <p:nvSpPr>
          <p:cNvPr id="37" name="TextBox 36"/>
          <p:cNvSpPr txBox="1"/>
          <p:nvPr/>
        </p:nvSpPr>
        <p:spPr>
          <a:xfrm>
            <a:off x="6446520" y="4407408"/>
            <a:ext cx="603504" cy="603504"/>
          </a:xfrm>
          <a:prstGeom prst="rect">
            <a:avLst/>
          </a:prstGeom>
          <a:noFill/>
        </p:spPr>
        <p:txBody>
          <a:bodyPr wrap="square" anchor="ctr" lIns="0" rIns="0" tIns="0" bIns="0">
            <a:noAutofit/>
          </a:bodyPr>
          <a:lstStyle/>
          <a:p>
            <a:pPr algn="ctr"/>
            <a:r>
              <a:rPr sz="2200" b="1" i="0">
                <a:solidFill>
                  <a:srgbClr val="08102A"/>
                </a:solidFill>
                <a:latin typeface="Cambria"/>
              </a:rPr>
              <a:t>9</a:t>
            </a:r>
          </a:p>
        </p:txBody>
      </p:sp>
      <p:sp>
        <p:nvSpPr>
          <p:cNvPr id="38" name="TextBox 37"/>
          <p:cNvSpPr txBox="1"/>
          <p:nvPr/>
        </p:nvSpPr>
        <p:spPr>
          <a:xfrm>
            <a:off x="7269480" y="4389120"/>
            <a:ext cx="4754880" cy="384048"/>
          </a:xfrm>
          <a:prstGeom prst="rect">
            <a:avLst/>
          </a:prstGeom>
          <a:noFill/>
        </p:spPr>
        <p:txBody>
          <a:bodyPr wrap="square" anchor="t" lIns="0" rIns="0" tIns="0" bIns="0">
            <a:noAutofit/>
          </a:bodyPr>
          <a:lstStyle/>
          <a:p>
            <a:r>
              <a:rPr sz="1500" b="1" i="0">
                <a:solidFill>
                  <a:srgbClr val="1A2233"/>
                </a:solidFill>
                <a:latin typeface="Calibri"/>
              </a:rPr>
              <a:t>Verzerrungen</a:t>
            </a:r>
          </a:p>
        </p:txBody>
      </p:sp>
      <p:sp>
        <p:nvSpPr>
          <p:cNvPr id="39" name="TextBox 38"/>
          <p:cNvSpPr txBox="1"/>
          <p:nvPr/>
        </p:nvSpPr>
        <p:spPr>
          <a:xfrm>
            <a:off x="7269480" y="4727448"/>
            <a:ext cx="4800600" cy="457200"/>
          </a:xfrm>
          <a:prstGeom prst="rect">
            <a:avLst/>
          </a:prstGeom>
          <a:noFill/>
        </p:spPr>
        <p:txBody>
          <a:bodyPr wrap="square" anchor="t" lIns="0" rIns="0" tIns="0" bIns="0">
            <a:noAutofit/>
          </a:bodyPr>
          <a:lstStyle/>
          <a:p>
            <a:r>
              <a:rPr sz="1150" b="0" i="0">
                <a:solidFill>
                  <a:srgbClr val="21B2BD"/>
                </a:solidFill>
                <a:latin typeface="Calibri"/>
              </a:rPr>
              <a:t>Mentale Selbstverteidigung</a:t>
            </a:r>
          </a:p>
        </p:txBody>
      </p:sp>
      <p:pic>
        <p:nvPicPr>
          <p:cNvPr id="40" name="Picture 39" descr="circle.png"/>
          <p:cNvPicPr>
            <a:picLocks noChangeAspect="1"/>
          </p:cNvPicPr>
          <p:nvPr/>
        </p:nvPicPr>
        <p:blipFill>
          <a:blip r:embed="rId2"/>
          <a:stretch>
            <a:fillRect/>
          </a:stretch>
        </p:blipFill>
        <p:spPr>
          <a:xfrm>
            <a:off x="6446520" y="5266944"/>
            <a:ext cx="603504" cy="603504"/>
          </a:xfrm>
          <a:prstGeom prst="rect">
            <a:avLst/>
          </a:prstGeom>
        </p:spPr>
      </p:pic>
      <p:sp>
        <p:nvSpPr>
          <p:cNvPr id="41" name="TextBox 40"/>
          <p:cNvSpPr txBox="1"/>
          <p:nvPr/>
        </p:nvSpPr>
        <p:spPr>
          <a:xfrm>
            <a:off x="6446520" y="5266944"/>
            <a:ext cx="603504" cy="603504"/>
          </a:xfrm>
          <a:prstGeom prst="rect">
            <a:avLst/>
          </a:prstGeom>
          <a:noFill/>
        </p:spPr>
        <p:txBody>
          <a:bodyPr wrap="square" anchor="ctr" lIns="0" rIns="0" tIns="0" bIns="0">
            <a:noAutofit/>
          </a:bodyPr>
          <a:lstStyle/>
          <a:p>
            <a:pPr algn="ctr"/>
            <a:r>
              <a:rPr sz="2200" b="1" i="0">
                <a:solidFill>
                  <a:srgbClr val="08102A"/>
                </a:solidFill>
                <a:latin typeface="Cambria"/>
              </a:rPr>
              <a:t>10</a:t>
            </a:r>
          </a:p>
        </p:txBody>
      </p:sp>
      <p:sp>
        <p:nvSpPr>
          <p:cNvPr id="42" name="TextBox 41"/>
          <p:cNvSpPr txBox="1"/>
          <p:nvPr/>
        </p:nvSpPr>
        <p:spPr>
          <a:xfrm>
            <a:off x="7269480" y="5248656"/>
            <a:ext cx="4754880" cy="384048"/>
          </a:xfrm>
          <a:prstGeom prst="rect">
            <a:avLst/>
          </a:prstGeom>
          <a:noFill/>
        </p:spPr>
        <p:txBody>
          <a:bodyPr wrap="square" anchor="t" lIns="0" rIns="0" tIns="0" bIns="0">
            <a:noAutofit/>
          </a:bodyPr>
          <a:lstStyle/>
          <a:p>
            <a:r>
              <a:rPr sz="1500" b="1" i="0">
                <a:solidFill>
                  <a:srgbClr val="1A2233"/>
                </a:solidFill>
                <a:latin typeface="Calibri"/>
              </a:rPr>
              <a:t>Gesundheit, KI &amp; Placebo</a:t>
            </a:r>
          </a:p>
        </p:txBody>
      </p:sp>
      <p:sp>
        <p:nvSpPr>
          <p:cNvPr id="43" name="TextBox 42"/>
          <p:cNvSpPr txBox="1"/>
          <p:nvPr/>
        </p:nvSpPr>
        <p:spPr>
          <a:xfrm>
            <a:off x="7269480" y="5586983"/>
            <a:ext cx="4800600" cy="457200"/>
          </a:xfrm>
          <a:prstGeom prst="rect">
            <a:avLst/>
          </a:prstGeom>
          <a:noFill/>
        </p:spPr>
        <p:txBody>
          <a:bodyPr wrap="square" anchor="t" lIns="0" rIns="0" tIns="0" bIns="0">
            <a:noAutofit/>
          </a:bodyPr>
          <a:lstStyle/>
          <a:p>
            <a:r>
              <a:rPr sz="1150" b="0" i="0">
                <a:solidFill>
                  <a:srgbClr val="21B2BD"/>
                </a:solidFill>
                <a:latin typeface="Calibri"/>
              </a:rPr>
              <a:t>Beleg statt Behauptung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01</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01</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Aufbau &amp; Neuronen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Die Landkarte im Kopf</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Rund 86 Milliarden Neuronen kommunizieren über Billionen von Synapsen. Die alte Idee „ein Areal, eine Funktion“ ist überholt: Die meisten Leistungen entstehen in verteilten Netzwerken – lokale Spezialisierung und globale Vernetzung zugleich. (Kap. 01–02)</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Wenn eine Angst hochschießt, bevor du „nachdenken“ kannst – was sagt dir das über schnelle und langsame Prozesse in dir?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02</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02</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Neuroplastizität</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Das formbare Gehirn</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Das Gehirn baut sich ein Leben lang durch Erfahrung um: Was oft genutzt wird, verstärkt sich, was brachliegt, wird zurückgebaut. Londoner Taxifahrer bekamen einen größeren Hippocampus, drei Monate Jonglieren ließ graue Substanz wachsen – die aber zurückging, sobald das Üben aufhörte. (Kap. 03)</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Welches Muster in dir ist eingeübt – und würde sich mit Wiederholung schwächen oder überschreiben lassen?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03</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03</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Bewusstsein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Das große Rätsel</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Warum wird all die Nervenaktivität überhaupt von einem Erleben begleitet? Das ist das „harte Problem“ (Chalmers). Es gibt ein halbes Dutzend ernstzunehmender, konkurrierender Theorien – aber keine ist bewiesen. Wer dir Gewissheit verspricht, verkauft dir etwas, das es nicht gibt. (Kap. 04–05)</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Wie fühlt es sich an, dass dein vertrautestes Erleben zugleich das größte ungelöste Rätsel der Wissenschaft 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04</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04</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Aufmerksamkeit &amp; Wahrnehmung</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Deine Vermutung über die Welt</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Du siehst nie die Welt direkt, sondern das beste Modell, das dein Gehirn aus Sinnesdaten und Erwartung errechnet – „kontrollierte Halluzination“. Aufmerksamkeit ist der schmale Flaschenhals, der entscheidet, was überhaupt bewusst wird. Vieles läuft unbewusst und geprägt ab. (Kap. 06, 27)</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Wo hast du zuletzt etwas „gesehen“, das mehr deine Erwartung war als die Wirklichkeit?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05</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05</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Gedanken, Gedächtnis &amp; Lernen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Wie Denken entsteht</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Ein Gedanke ist kein Ding, sondern ein kurzlebiges neuronales Muster. Es gibt schnelles, automatisches (System 1) und langsames, willentliches Denken (System 2). Die populäre Zahl „60.000 Gedanken pro Tag“ ist wissenschaftlich nicht belegt – niemand kann sinnvoll zählen, was ein einzelner Gedanke ist. (Kap. 07–08, 18, 23)</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 deiner täglichen Gedanken sind automatisch abgespult – und welche wählst du wirklich?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06</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06</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Emotionen &amp; Motivation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Konstruierte Gefühle</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Emotionen sind keine Naturgewalten, die uns überfallen, sondern Konstruktionen aus Körperzustand, Situation und Bedeutung – und genau deshalb beeinflussbar. Die Amygdala ist ein Bedrohungsdetektor, kein simples „Angstzentrum“. Dopamin ist Motivations- und Erwartungssignal, nicht bloß „Belohnung“. (Kap. 09, 16)</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Dieselbe körperliche Erregung kann Angst oder Aufregung sein – wie deutest du deine gerade?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07</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07</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Verändern &amp; Regulieren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Wille, Achtsamkeit, Gewohnheit</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Zwischen Reiz und Reaktion liegt ein bewusster Spielraum, auch wenn der freie Wille umstritten ist. Achtsamkeitstraining verändert nachweislich Aufmerksamkeit und Stressreaktion. Gewohnheiten verlagern sich vom bewussten Steuern in automatische Schaltkreise – und Körpersignale (Interozeption) sind Teil der Regulation. (Kap. 10–12, 14, 15, 22)</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 kleine, tägliche Gewohnheit würde – konsequent wiederholt – am meisten verändern?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08</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08</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Selbst &amp; soziales Gehirn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Das Ich als Prozess</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Es gibt kein anatomisches „Ich-Zentrum“. Das Selbst ist ein fortlaufender Prozess, den das Gehirn aus Körpersignalen, Erinnerungen und einer erzählenden Instanz webt. Zugleich ist das Gehirn zutiefst sozial: Empathie, Theory of Mind und Beeinflussung prägen, wer wir werden. (Kap. 17, 19, 21)</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Wenn dein „Ich“ eher Vorgang als Ding ist – was heißt das für die Geschichten, die du über dich erzählst?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09</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09</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Verzerrungen</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Mentale Selbstverteidigung</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Dein Gehirn ist kein neutraler Beobachter, sondern ein interessengeleiteter Erzähler. Es nutzt Faustregeln, die meist nützlich sind, aber systematisch – also vorhersagbar – in die Irre führen (Tversky &amp; Kahneman). Wer diese Muster kennt und benennt, ist ihnen weniger ausgeliefert. (Kap. 13)</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Welcher Denkfehler ist dir zuletzt aufgefallen – bei dir selbst, nicht bei anderen?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ircle.png"/>
          <p:cNvPicPr>
            <a:picLocks noChangeAspect="1"/>
          </p:cNvPicPr>
          <p:nvPr/>
        </p:nvPicPr>
        <p:blipFill>
          <a:blip r:embed="rId2"/>
          <a:stretch>
            <a:fillRect/>
          </a:stretch>
        </p:blipFill>
        <p:spPr>
          <a:xfrm>
            <a:off x="777240" y="685800"/>
            <a:ext cx="1371600" cy="1371600"/>
          </a:xfrm>
          <a:prstGeom prst="rect">
            <a:avLst/>
          </a:prstGeom>
        </p:spPr>
      </p:pic>
      <p:sp>
        <p:nvSpPr>
          <p:cNvPr id="3" name="TextBox 2"/>
          <p:cNvSpPr txBox="1"/>
          <p:nvPr/>
        </p:nvSpPr>
        <p:spPr>
          <a:xfrm>
            <a:off x="777240" y="685800"/>
            <a:ext cx="1371600" cy="1371600"/>
          </a:xfrm>
          <a:prstGeom prst="rect">
            <a:avLst/>
          </a:prstGeom>
          <a:noFill/>
        </p:spPr>
        <p:txBody>
          <a:bodyPr wrap="square" anchor="ctr" lIns="0" rIns="0" tIns="0" bIns="0">
            <a:noAutofit/>
          </a:bodyPr>
          <a:lstStyle/>
          <a:p>
            <a:pPr algn="ctr"/>
            <a:r>
              <a:rPr sz="5100" b="1" i="0">
                <a:solidFill>
                  <a:srgbClr val="08102A"/>
                </a:solidFill>
                <a:latin typeface="Cambria"/>
              </a:rPr>
              <a:t>10</a:t>
            </a:r>
          </a:p>
        </p:txBody>
      </p:sp>
      <p:sp>
        <p:nvSpPr>
          <p:cNvPr id="4" name="TextBox 3"/>
          <p:cNvSpPr txBox="1"/>
          <p:nvPr/>
        </p:nvSpPr>
        <p:spPr>
          <a:xfrm>
            <a:off x="2423160" y="640080"/>
            <a:ext cx="7315200" cy="365760"/>
          </a:xfrm>
          <a:prstGeom prst="rect">
            <a:avLst/>
          </a:prstGeom>
          <a:noFill/>
        </p:spPr>
        <p:txBody>
          <a:bodyPr wrap="square" anchor="t" lIns="0" rIns="0" tIns="0" bIns="0">
            <a:noAutofit/>
          </a:bodyPr>
          <a:lstStyle/>
          <a:p>
            <a:pPr>
              <a:spcAft>
                <a:spcPts val="600"/>
              </a:spcAft>
            </a:pPr>
            <a:r>
              <a:rPr sz="1300" b="1" i="0" spc="240">
                <a:solidFill>
                  <a:srgbClr val="4F9E1C"/>
                </a:solidFill>
                <a:latin typeface="Calibri"/>
              </a:rPr>
              <a:t>MODUL 10</a:t>
            </a:r>
          </a:p>
        </p:txBody>
      </p:sp>
      <p:sp>
        <p:nvSpPr>
          <p:cNvPr id="5" name="TextBox 4"/>
          <p:cNvSpPr txBox="1"/>
          <p:nvPr/>
        </p:nvSpPr>
        <p:spPr>
          <a:xfrm>
            <a:off x="2377440" y="960120"/>
            <a:ext cx="9052560" cy="914400"/>
          </a:xfrm>
          <a:prstGeom prst="rect">
            <a:avLst/>
          </a:prstGeom>
          <a:noFill/>
        </p:spPr>
        <p:txBody>
          <a:bodyPr wrap="square" anchor="t" lIns="0" rIns="0" tIns="0" bIns="0">
            <a:noAutofit/>
          </a:bodyPr>
          <a:lstStyle/>
          <a:p>
            <a:pPr>
              <a:lnSpc>
                <a:spcPct val="102000"/>
              </a:lnSpc>
            </a:pPr>
            <a:r>
              <a:rPr sz="3100" b="1" i="0">
                <a:solidFill>
                  <a:srgbClr val="1A2233"/>
                </a:solidFill>
                <a:latin typeface="Cambria"/>
              </a:rPr>
              <a:t>Gesundheit, KI &amp; Placebo</a:t>
            </a:r>
          </a:p>
        </p:txBody>
      </p:sp>
      <p:sp>
        <p:nvSpPr>
          <p:cNvPr id="6" name="TextBox 5"/>
          <p:cNvSpPr txBox="1"/>
          <p:nvPr/>
        </p:nvSpPr>
        <p:spPr>
          <a:xfrm>
            <a:off x="2395728" y="1874519"/>
            <a:ext cx="9052560" cy="548640"/>
          </a:xfrm>
          <a:prstGeom prst="rect">
            <a:avLst/>
          </a:prstGeom>
          <a:noFill/>
        </p:spPr>
        <p:txBody>
          <a:bodyPr wrap="square" anchor="t" lIns="0" rIns="0" tIns="0" bIns="0">
            <a:noAutofit/>
          </a:bodyPr>
          <a:lstStyle/>
          <a:p>
            <a:r>
              <a:rPr sz="1800" b="0" i="0">
                <a:solidFill>
                  <a:srgbClr val="21B2BD"/>
                </a:solidFill>
                <a:latin typeface="Calibri"/>
              </a:rPr>
              <a:t>Beleg statt Behauptung</a:t>
            </a:r>
          </a:p>
        </p:txBody>
      </p:sp>
      <p:sp>
        <p:nvSpPr>
          <p:cNvPr id="7" name="TextBox 6"/>
          <p:cNvSpPr txBox="1"/>
          <p:nvPr/>
        </p:nvSpPr>
        <p:spPr>
          <a:xfrm>
            <a:off x="777240" y="3291840"/>
            <a:ext cx="7315200" cy="2011680"/>
          </a:xfrm>
          <a:prstGeom prst="rect">
            <a:avLst/>
          </a:prstGeom>
          <a:noFill/>
        </p:spPr>
        <p:txBody>
          <a:bodyPr wrap="square" anchor="t" lIns="0" rIns="0" tIns="0" bIns="0">
            <a:noAutofit/>
          </a:bodyPr>
          <a:lstStyle/>
          <a:p>
            <a:pPr>
              <a:lnSpc>
                <a:spcPct val="130000"/>
              </a:lnSpc>
            </a:pPr>
            <a:r>
              <a:rPr sz="1700" b="0" i="0">
                <a:solidFill>
                  <a:srgbClr val="48524E"/>
                </a:solidFill>
                <a:latin typeface="Calibri"/>
              </a:rPr>
              <a:t>Was dem Gehirn wirklich nützt, ist unspektakulär und kostenlos: Schlaf, Bewegung, vernünftige Ernährung, geistige und soziale Anregung. Der Placebo-Effekt zeigt, wie eine Erwartung in Körperchemie übersetzt wird. Und ob Maschinen je Bewusstsein haben könnten, bleibt offen. (Kap. 20, 24–26)</a:t>
            </a:r>
          </a:p>
        </p:txBody>
      </p:sp>
      <p:sp>
        <p:nvSpPr>
          <p:cNvPr id="8" name="Rounded Rectangle 7"/>
          <p:cNvSpPr/>
          <p:nvPr/>
        </p:nvSpPr>
        <p:spPr>
          <a:xfrm>
            <a:off x="8366760" y="3200400"/>
            <a:ext cx="3154680" cy="2560320"/>
          </a:xfrm>
          <a:prstGeom prst="roundRect">
            <a:avLst>
              <a:gd name="adj" fmla="val 9000"/>
            </a:avLst>
          </a:prstGeom>
          <a:solidFill>
            <a:srgbClr val="E7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429000"/>
            <a:ext cx="2743200" cy="274320"/>
          </a:xfrm>
          <a:prstGeom prst="rect">
            <a:avLst/>
          </a:prstGeom>
          <a:noFill/>
        </p:spPr>
        <p:txBody>
          <a:bodyPr wrap="square" anchor="t" lIns="0" rIns="0" tIns="0" bIns="0">
            <a:noAutofit/>
          </a:bodyPr>
          <a:lstStyle/>
          <a:p>
            <a:pPr>
              <a:spcAft>
                <a:spcPts val="600"/>
              </a:spcAft>
            </a:pPr>
            <a:r>
              <a:rPr sz="1100" b="1" i="0" spc="240">
                <a:solidFill>
                  <a:srgbClr val="21B2BD"/>
                </a:solidFill>
                <a:latin typeface="Calibri"/>
              </a:rPr>
              <a:t>REFLEXION</a:t>
            </a:r>
          </a:p>
        </p:txBody>
      </p:sp>
      <p:sp>
        <p:nvSpPr>
          <p:cNvPr id="10" name="TextBox 9"/>
          <p:cNvSpPr txBox="1"/>
          <p:nvPr/>
        </p:nvSpPr>
        <p:spPr>
          <a:xfrm>
            <a:off x="8595360" y="3794760"/>
            <a:ext cx="2743200" cy="1828800"/>
          </a:xfrm>
          <a:prstGeom prst="rect">
            <a:avLst/>
          </a:prstGeom>
          <a:noFill/>
        </p:spPr>
        <p:txBody>
          <a:bodyPr wrap="square" anchor="t" lIns="0" rIns="0" tIns="0" bIns="0">
            <a:noAutofit/>
          </a:bodyPr>
          <a:lstStyle/>
          <a:p>
            <a:pPr>
              <a:lnSpc>
                <a:spcPct val="118000"/>
              </a:lnSpc>
            </a:pPr>
            <a:r>
              <a:rPr sz="1600" b="0" i="0">
                <a:solidFill>
                  <a:srgbClr val="1A2233"/>
                </a:solidFill>
                <a:latin typeface="Calibri"/>
              </a:rPr>
              <a:t>Welche „langweilige“, gut belegte Maßnahme tust du zu selten – und warum eigentlich?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100584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ÜBUNG 2 · WO BETRIFFT MICH DAS?</a:t>
            </a:r>
          </a:p>
        </p:txBody>
      </p:sp>
      <p:sp>
        <p:nvSpPr>
          <p:cNvPr id="3" name="TextBox 2"/>
          <p:cNvSpPr txBox="1"/>
          <p:nvPr/>
        </p:nvSpPr>
        <p:spPr>
          <a:xfrm>
            <a:off x="731520" y="960120"/>
            <a:ext cx="10607040" cy="822960"/>
          </a:xfrm>
          <a:prstGeom prst="rect">
            <a:avLst/>
          </a:prstGeom>
          <a:noFill/>
        </p:spPr>
        <p:txBody>
          <a:bodyPr wrap="square" anchor="t" lIns="0" rIns="0" tIns="0" bIns="0">
            <a:noAutofit/>
          </a:bodyPr>
          <a:lstStyle/>
          <a:p>
            <a:r>
              <a:rPr sz="3600" b="1" i="0">
                <a:solidFill>
                  <a:srgbClr val="1A2233"/>
                </a:solidFill>
                <a:latin typeface="Cambria"/>
              </a:rPr>
              <a:t>Ein Modul, ein Aha</a:t>
            </a:r>
          </a:p>
        </p:txBody>
      </p:sp>
      <p:pic>
        <p:nvPicPr>
          <p:cNvPr id="4" name="Picture 3" descr="circle.png"/>
          <p:cNvPicPr>
            <a:picLocks noChangeAspect="1"/>
          </p:cNvPicPr>
          <p:nvPr/>
        </p:nvPicPr>
        <p:blipFill>
          <a:blip r:embed="rId2"/>
          <a:stretch>
            <a:fillRect/>
          </a:stretch>
        </p:blipFill>
        <p:spPr>
          <a:xfrm>
            <a:off x="777240" y="2148840"/>
            <a:ext cx="512064" cy="512064"/>
          </a:xfrm>
          <a:prstGeom prst="rect">
            <a:avLst/>
          </a:prstGeom>
        </p:spPr>
      </p:pic>
      <p:sp>
        <p:nvSpPr>
          <p:cNvPr id="5" name="TextBox 4"/>
          <p:cNvSpPr txBox="1"/>
          <p:nvPr/>
        </p:nvSpPr>
        <p:spPr>
          <a:xfrm>
            <a:off x="777240" y="2148840"/>
            <a:ext cx="512064" cy="512064"/>
          </a:xfrm>
          <a:prstGeom prst="rect">
            <a:avLst/>
          </a:prstGeom>
          <a:noFill/>
        </p:spPr>
        <p:txBody>
          <a:bodyPr wrap="square" anchor="ctr" lIns="0" rIns="0" tIns="0" bIns="0">
            <a:noAutofit/>
          </a:bodyPr>
          <a:lstStyle/>
          <a:p>
            <a:pPr algn="ctr"/>
            <a:r>
              <a:rPr sz="1900" b="1" i="0">
                <a:solidFill>
                  <a:srgbClr val="08102A"/>
                </a:solidFill>
                <a:latin typeface="Cambria"/>
              </a:rPr>
              <a:t>1</a:t>
            </a:r>
          </a:p>
        </p:txBody>
      </p:sp>
      <p:sp>
        <p:nvSpPr>
          <p:cNvPr id="6" name="TextBox 5"/>
          <p:cNvSpPr txBox="1"/>
          <p:nvPr/>
        </p:nvSpPr>
        <p:spPr>
          <a:xfrm>
            <a:off x="1554480" y="2130552"/>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Blick auf die zehn Module zurück – welches hat dich am meisten berührt?</a:t>
            </a:r>
          </a:p>
        </p:txBody>
      </p:sp>
      <p:pic>
        <p:nvPicPr>
          <p:cNvPr id="7" name="Picture 6" descr="circle.png"/>
          <p:cNvPicPr>
            <a:picLocks noChangeAspect="1"/>
          </p:cNvPicPr>
          <p:nvPr/>
        </p:nvPicPr>
        <p:blipFill>
          <a:blip r:embed="rId2"/>
          <a:stretch>
            <a:fillRect/>
          </a:stretch>
        </p:blipFill>
        <p:spPr>
          <a:xfrm>
            <a:off x="777240" y="2990088"/>
            <a:ext cx="512064" cy="512064"/>
          </a:xfrm>
          <a:prstGeom prst="rect">
            <a:avLst/>
          </a:prstGeom>
        </p:spPr>
      </p:pic>
      <p:sp>
        <p:nvSpPr>
          <p:cNvPr id="8" name="TextBox 7"/>
          <p:cNvSpPr txBox="1"/>
          <p:nvPr/>
        </p:nvSpPr>
        <p:spPr>
          <a:xfrm>
            <a:off x="777240" y="2990088"/>
            <a:ext cx="512064" cy="512064"/>
          </a:xfrm>
          <a:prstGeom prst="rect">
            <a:avLst/>
          </a:prstGeom>
          <a:noFill/>
        </p:spPr>
        <p:txBody>
          <a:bodyPr wrap="square" anchor="ctr" lIns="0" rIns="0" tIns="0" bIns="0">
            <a:noAutofit/>
          </a:bodyPr>
          <a:lstStyle/>
          <a:p>
            <a:pPr algn="ctr"/>
            <a:r>
              <a:rPr sz="1900" b="1" i="0">
                <a:solidFill>
                  <a:srgbClr val="08102A"/>
                </a:solidFill>
                <a:latin typeface="Cambria"/>
              </a:rPr>
              <a:t>2</a:t>
            </a:r>
          </a:p>
        </p:txBody>
      </p:sp>
      <p:sp>
        <p:nvSpPr>
          <p:cNvPr id="9" name="TextBox 8"/>
          <p:cNvSpPr txBox="1"/>
          <p:nvPr/>
        </p:nvSpPr>
        <p:spPr>
          <a:xfrm>
            <a:off x="1554480" y="2971800"/>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Schreib in einem Satz auf, was dich daran überrascht oder erleichtert hat.</a:t>
            </a:r>
          </a:p>
        </p:txBody>
      </p:sp>
      <p:pic>
        <p:nvPicPr>
          <p:cNvPr id="10" name="Picture 9" descr="circle.png"/>
          <p:cNvPicPr>
            <a:picLocks noChangeAspect="1"/>
          </p:cNvPicPr>
          <p:nvPr/>
        </p:nvPicPr>
        <p:blipFill>
          <a:blip r:embed="rId2"/>
          <a:stretch>
            <a:fillRect/>
          </a:stretch>
        </p:blipFill>
        <p:spPr>
          <a:xfrm>
            <a:off x="777240" y="3831336"/>
            <a:ext cx="512064" cy="512064"/>
          </a:xfrm>
          <a:prstGeom prst="rect">
            <a:avLst/>
          </a:prstGeom>
        </p:spPr>
      </p:pic>
      <p:sp>
        <p:nvSpPr>
          <p:cNvPr id="11" name="TextBox 10"/>
          <p:cNvSpPr txBox="1"/>
          <p:nvPr/>
        </p:nvSpPr>
        <p:spPr>
          <a:xfrm>
            <a:off x="777240" y="3831336"/>
            <a:ext cx="512064" cy="512064"/>
          </a:xfrm>
          <a:prstGeom prst="rect">
            <a:avLst/>
          </a:prstGeom>
          <a:noFill/>
        </p:spPr>
        <p:txBody>
          <a:bodyPr wrap="square" anchor="ctr" lIns="0" rIns="0" tIns="0" bIns="0">
            <a:noAutofit/>
          </a:bodyPr>
          <a:lstStyle/>
          <a:p>
            <a:pPr algn="ctr"/>
            <a:r>
              <a:rPr sz="1900" b="1" i="0">
                <a:solidFill>
                  <a:srgbClr val="08102A"/>
                </a:solidFill>
                <a:latin typeface="Cambria"/>
              </a:rPr>
              <a:t>3</a:t>
            </a:r>
          </a:p>
        </p:txBody>
      </p:sp>
      <p:sp>
        <p:nvSpPr>
          <p:cNvPr id="12" name="TextBox 11"/>
          <p:cNvSpPr txBox="1"/>
          <p:nvPr/>
        </p:nvSpPr>
        <p:spPr>
          <a:xfrm>
            <a:off x="1554480" y="3813048"/>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Frag dich: Wo im Alltag betrifft mich das konkret?</a:t>
            </a:r>
          </a:p>
        </p:txBody>
      </p:sp>
      <p:pic>
        <p:nvPicPr>
          <p:cNvPr id="13" name="Picture 12" descr="circle.png"/>
          <p:cNvPicPr>
            <a:picLocks noChangeAspect="1"/>
          </p:cNvPicPr>
          <p:nvPr/>
        </p:nvPicPr>
        <p:blipFill>
          <a:blip r:embed="rId2"/>
          <a:stretch>
            <a:fillRect/>
          </a:stretch>
        </p:blipFill>
        <p:spPr>
          <a:xfrm>
            <a:off x="777240" y="4672584"/>
            <a:ext cx="512064" cy="512064"/>
          </a:xfrm>
          <a:prstGeom prst="rect">
            <a:avLst/>
          </a:prstGeom>
        </p:spPr>
      </p:pic>
      <p:sp>
        <p:nvSpPr>
          <p:cNvPr id="14" name="TextBox 13"/>
          <p:cNvSpPr txBox="1"/>
          <p:nvPr/>
        </p:nvSpPr>
        <p:spPr>
          <a:xfrm>
            <a:off x="777240" y="4672584"/>
            <a:ext cx="512064" cy="512064"/>
          </a:xfrm>
          <a:prstGeom prst="rect">
            <a:avLst/>
          </a:prstGeom>
          <a:noFill/>
        </p:spPr>
        <p:txBody>
          <a:bodyPr wrap="square" anchor="ctr" lIns="0" rIns="0" tIns="0" bIns="0">
            <a:noAutofit/>
          </a:bodyPr>
          <a:lstStyle/>
          <a:p>
            <a:pPr algn="ctr"/>
            <a:r>
              <a:rPr sz="1900" b="1" i="0">
                <a:solidFill>
                  <a:srgbClr val="08102A"/>
                </a:solidFill>
                <a:latin typeface="Cambria"/>
              </a:rPr>
              <a:t>4</a:t>
            </a:r>
          </a:p>
        </p:txBody>
      </p:sp>
      <p:sp>
        <p:nvSpPr>
          <p:cNvPr id="15" name="TextBox 14"/>
          <p:cNvSpPr txBox="1"/>
          <p:nvPr/>
        </p:nvSpPr>
        <p:spPr>
          <a:xfrm>
            <a:off x="1554480" y="4654296"/>
            <a:ext cx="6400800" cy="841248"/>
          </a:xfrm>
          <a:prstGeom prst="rect">
            <a:avLst/>
          </a:prstGeom>
          <a:noFill/>
        </p:spPr>
        <p:txBody>
          <a:bodyPr wrap="square" anchor="ctr" lIns="0" rIns="0" tIns="0" bIns="0">
            <a:noAutofit/>
          </a:bodyPr>
          <a:lstStyle/>
          <a:p>
            <a:pPr>
              <a:lnSpc>
                <a:spcPct val="110000"/>
              </a:lnSpc>
            </a:pPr>
            <a:r>
              <a:rPr sz="1650" b="0" i="0">
                <a:solidFill>
                  <a:srgbClr val="1A2233"/>
                </a:solidFill>
                <a:latin typeface="Calibri"/>
              </a:rPr>
              <a:t>Formuliere einen kleinen, konkreten Schritt, den du diese Woche ausprobierst.</a:t>
            </a:r>
          </a:p>
        </p:txBody>
      </p:sp>
      <p:sp>
        <p:nvSpPr>
          <p:cNvPr id="16" name="Rounded Rectangle 15"/>
          <p:cNvSpPr/>
          <p:nvPr/>
        </p:nvSpPr>
        <p:spPr>
          <a:xfrm>
            <a:off x="8366760" y="2148840"/>
            <a:ext cx="3154680" cy="3200400"/>
          </a:xfrm>
          <a:prstGeom prst="roundRect">
            <a:avLst>
              <a:gd name="adj" fmla="val 9000"/>
            </a:avLst>
          </a:prstGeom>
          <a:solidFill>
            <a:srgbClr val="081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423160"/>
            <a:ext cx="2743200" cy="274320"/>
          </a:xfrm>
          <a:prstGeom prst="rect">
            <a:avLst/>
          </a:prstGeom>
          <a:noFill/>
        </p:spPr>
        <p:txBody>
          <a:bodyPr wrap="square" anchor="t" lIns="0" rIns="0" tIns="0" bIns="0">
            <a:noAutofit/>
          </a:bodyPr>
          <a:lstStyle/>
          <a:p>
            <a:pPr>
              <a:spcAft>
                <a:spcPts val="600"/>
              </a:spcAft>
            </a:pPr>
            <a:r>
              <a:rPr sz="1100" b="1" i="0" spc="240">
                <a:solidFill>
                  <a:srgbClr val="A3D64F"/>
                </a:solidFill>
                <a:latin typeface="Calibri"/>
              </a:rPr>
              <a:t>MITNEHMEN</a:t>
            </a:r>
          </a:p>
        </p:txBody>
      </p:sp>
      <p:sp>
        <p:nvSpPr>
          <p:cNvPr id="18" name="TextBox 17"/>
          <p:cNvSpPr txBox="1"/>
          <p:nvPr/>
        </p:nvSpPr>
        <p:spPr>
          <a:xfrm>
            <a:off x="8595360" y="2788920"/>
            <a:ext cx="2743200" cy="2377440"/>
          </a:xfrm>
          <a:prstGeom prst="rect">
            <a:avLst/>
          </a:prstGeom>
          <a:noFill/>
        </p:spPr>
        <p:txBody>
          <a:bodyPr wrap="square" anchor="t" lIns="0" rIns="0" tIns="0" bIns="0">
            <a:noAutofit/>
          </a:bodyPr>
          <a:lstStyle/>
          <a:p>
            <a:pPr>
              <a:lnSpc>
                <a:spcPct val="120000"/>
              </a:lnSpc>
            </a:pPr>
            <a:r>
              <a:rPr sz="1800" b="0" i="0">
                <a:solidFill>
                  <a:srgbClr val="FFFFFF"/>
                </a:solidFill>
                <a:latin typeface="Calibri"/>
              </a:rPr>
              <a:t>Wissen entlastet erst, wenn du es auf dein eigenes Leben beziehst – ein Aha und ein Schritt genügen für den Anfang.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40080"/>
            <a:ext cx="7315200" cy="320040"/>
          </a:xfrm>
          <a:prstGeom prst="rect">
            <a:avLst/>
          </a:prstGeom>
          <a:noFill/>
        </p:spPr>
        <p:txBody>
          <a:bodyPr wrap="square" anchor="t" lIns="0" rIns="0" tIns="0" bIns="0">
            <a:noAutofit/>
          </a:bodyPr>
          <a:lstStyle/>
          <a:p>
            <a:pPr>
              <a:spcAft>
                <a:spcPts val="600"/>
              </a:spcAft>
            </a:pPr>
            <a:r>
              <a:rPr sz="1200" b="1" i="0" spc="240">
                <a:solidFill>
                  <a:srgbClr val="4F9E1C"/>
                </a:solidFill>
                <a:latin typeface="Calibri"/>
              </a:rPr>
              <a:t>WAS BLEIBT</a:t>
            </a:r>
          </a:p>
        </p:txBody>
      </p:sp>
      <p:sp>
        <p:nvSpPr>
          <p:cNvPr id="3" name="TextBox 2"/>
          <p:cNvSpPr txBox="1"/>
          <p:nvPr/>
        </p:nvSpPr>
        <p:spPr>
          <a:xfrm>
            <a:off x="731520" y="960120"/>
            <a:ext cx="10607040" cy="914400"/>
          </a:xfrm>
          <a:prstGeom prst="rect">
            <a:avLst/>
          </a:prstGeom>
          <a:noFill/>
        </p:spPr>
        <p:txBody>
          <a:bodyPr wrap="square" anchor="t" lIns="0" rIns="0" tIns="0" bIns="0">
            <a:noAutofit/>
          </a:bodyPr>
          <a:lstStyle/>
          <a:p>
            <a:pPr>
              <a:lnSpc>
                <a:spcPct val="103000"/>
              </a:lnSpc>
            </a:pPr>
            <a:r>
              <a:rPr sz="3400" b="1" i="0">
                <a:solidFill>
                  <a:srgbClr val="1A2233"/>
                </a:solidFill>
                <a:latin typeface="Cambria"/>
              </a:rPr>
              <a:t>Drei Einsichten für den Alltag</a:t>
            </a:r>
          </a:p>
        </p:txBody>
      </p:sp>
      <p:sp>
        <p:nvSpPr>
          <p:cNvPr id="4" name="Rounded Rectangle 3"/>
          <p:cNvSpPr/>
          <p:nvPr/>
        </p:nvSpPr>
        <p:spPr>
          <a:xfrm>
            <a:off x="731520" y="2194560"/>
            <a:ext cx="3368040" cy="3108960"/>
          </a:xfrm>
          <a:prstGeom prst="roundRect">
            <a:avLst>
              <a:gd name="adj" fmla="val 7000"/>
            </a:avLst>
          </a:prstGeom>
          <a:solidFill>
            <a:srgbClr val="F2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png"/>
          <p:cNvPicPr>
            <a:picLocks noChangeAspect="1"/>
          </p:cNvPicPr>
          <p:nvPr/>
        </p:nvPicPr>
        <p:blipFill>
          <a:blip r:embed="rId2"/>
          <a:stretch>
            <a:fillRect/>
          </a:stretch>
        </p:blipFill>
        <p:spPr>
          <a:xfrm>
            <a:off x="1051560" y="2514600"/>
            <a:ext cx="640080" cy="640080"/>
          </a:xfrm>
          <a:prstGeom prst="rect">
            <a:avLst/>
          </a:prstGeom>
        </p:spPr>
      </p:pic>
      <p:sp>
        <p:nvSpPr>
          <p:cNvPr id="6" name="TextBox 5"/>
          <p:cNvSpPr txBox="1"/>
          <p:nvPr/>
        </p:nvSpPr>
        <p:spPr>
          <a:xfrm>
            <a:off x="1051560" y="2514600"/>
            <a:ext cx="640080" cy="640080"/>
          </a:xfrm>
          <a:prstGeom prst="rect">
            <a:avLst/>
          </a:prstGeom>
          <a:noFill/>
        </p:spPr>
        <p:txBody>
          <a:bodyPr wrap="square" anchor="ctr" lIns="0" rIns="0" tIns="0" bIns="0">
            <a:noAutofit/>
          </a:bodyPr>
          <a:lstStyle/>
          <a:p>
            <a:pPr algn="ctr"/>
            <a:r>
              <a:rPr sz="2400" b="1" i="0">
                <a:solidFill>
                  <a:srgbClr val="08102A"/>
                </a:solidFill>
                <a:latin typeface="Cambria"/>
              </a:rPr>
              <a:t>1</a:t>
            </a:r>
          </a:p>
        </p:txBody>
      </p:sp>
      <p:sp>
        <p:nvSpPr>
          <p:cNvPr id="7" name="TextBox 6"/>
          <p:cNvSpPr txBox="1"/>
          <p:nvPr/>
        </p:nvSpPr>
        <p:spPr>
          <a:xfrm>
            <a:off x="1051560" y="3383280"/>
            <a:ext cx="2727960" cy="457200"/>
          </a:xfrm>
          <a:prstGeom prst="rect">
            <a:avLst/>
          </a:prstGeom>
          <a:noFill/>
        </p:spPr>
        <p:txBody>
          <a:bodyPr wrap="square" anchor="t" lIns="0" rIns="0" tIns="0" bIns="0">
            <a:noAutofit/>
          </a:bodyPr>
          <a:lstStyle/>
          <a:p>
            <a:r>
              <a:rPr sz="2200" b="1" i="0">
                <a:solidFill>
                  <a:srgbClr val="1A2233"/>
                </a:solidFill>
                <a:latin typeface="Cambria"/>
              </a:rPr>
              <a:t>Formbar</a:t>
            </a:r>
          </a:p>
        </p:txBody>
      </p:sp>
      <p:sp>
        <p:nvSpPr>
          <p:cNvPr id="8" name="TextBox 7"/>
          <p:cNvSpPr txBox="1"/>
          <p:nvPr/>
        </p:nvSpPr>
        <p:spPr>
          <a:xfrm>
            <a:off x="1051560" y="3886200"/>
            <a:ext cx="2727960" cy="1280160"/>
          </a:xfrm>
          <a:prstGeom prst="rect">
            <a:avLst/>
          </a:prstGeom>
          <a:noFill/>
        </p:spPr>
        <p:txBody>
          <a:bodyPr wrap="square" anchor="t" lIns="0" rIns="0" tIns="0" bIns="0">
            <a:noAutofit/>
          </a:bodyPr>
          <a:lstStyle/>
          <a:p>
            <a:pPr>
              <a:lnSpc>
                <a:spcPct val="120000"/>
              </a:lnSpc>
            </a:pPr>
            <a:r>
              <a:rPr sz="1400" b="0" i="0">
                <a:solidFill>
                  <a:srgbClr val="48524E"/>
                </a:solidFill>
                <a:latin typeface="Calibri"/>
              </a:rPr>
              <a:t>Dein Gehirn verändert sich lebenslang – durch Aufmerksamkeit und Wiederholung, nicht durch Wunschdenken.</a:t>
            </a:r>
          </a:p>
        </p:txBody>
      </p:sp>
      <p:sp>
        <p:nvSpPr>
          <p:cNvPr id="9" name="Rounded Rectangle 8"/>
          <p:cNvSpPr/>
          <p:nvPr/>
        </p:nvSpPr>
        <p:spPr>
          <a:xfrm>
            <a:off x="4419600" y="2194560"/>
            <a:ext cx="3368040" cy="3108960"/>
          </a:xfrm>
          <a:prstGeom prst="roundRect">
            <a:avLst>
              <a:gd name="adj" fmla="val 7000"/>
            </a:avLst>
          </a:prstGeom>
          <a:solidFill>
            <a:srgbClr val="F2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ircle.png"/>
          <p:cNvPicPr>
            <a:picLocks noChangeAspect="1"/>
          </p:cNvPicPr>
          <p:nvPr/>
        </p:nvPicPr>
        <p:blipFill>
          <a:blip r:embed="rId2"/>
          <a:stretch>
            <a:fillRect/>
          </a:stretch>
        </p:blipFill>
        <p:spPr>
          <a:xfrm>
            <a:off x="4739639" y="2514600"/>
            <a:ext cx="640080" cy="640080"/>
          </a:xfrm>
          <a:prstGeom prst="rect">
            <a:avLst/>
          </a:prstGeom>
        </p:spPr>
      </p:pic>
      <p:sp>
        <p:nvSpPr>
          <p:cNvPr id="11" name="TextBox 10"/>
          <p:cNvSpPr txBox="1"/>
          <p:nvPr/>
        </p:nvSpPr>
        <p:spPr>
          <a:xfrm>
            <a:off x="4739639" y="2514600"/>
            <a:ext cx="640080" cy="640080"/>
          </a:xfrm>
          <a:prstGeom prst="rect">
            <a:avLst/>
          </a:prstGeom>
          <a:noFill/>
        </p:spPr>
        <p:txBody>
          <a:bodyPr wrap="square" anchor="ctr" lIns="0" rIns="0" tIns="0" bIns="0">
            <a:noAutofit/>
          </a:bodyPr>
          <a:lstStyle/>
          <a:p>
            <a:pPr algn="ctr"/>
            <a:r>
              <a:rPr sz="2400" b="1" i="0">
                <a:solidFill>
                  <a:srgbClr val="08102A"/>
                </a:solidFill>
                <a:latin typeface="Cambria"/>
              </a:rPr>
              <a:t>2</a:t>
            </a:r>
          </a:p>
        </p:txBody>
      </p:sp>
      <p:sp>
        <p:nvSpPr>
          <p:cNvPr id="12" name="TextBox 11"/>
          <p:cNvSpPr txBox="1"/>
          <p:nvPr/>
        </p:nvSpPr>
        <p:spPr>
          <a:xfrm>
            <a:off x="4739639" y="3383280"/>
            <a:ext cx="2727960" cy="457200"/>
          </a:xfrm>
          <a:prstGeom prst="rect">
            <a:avLst/>
          </a:prstGeom>
          <a:noFill/>
        </p:spPr>
        <p:txBody>
          <a:bodyPr wrap="square" anchor="t" lIns="0" rIns="0" tIns="0" bIns="0">
            <a:noAutofit/>
          </a:bodyPr>
          <a:lstStyle/>
          <a:p>
            <a:r>
              <a:rPr sz="2200" b="1" i="0">
                <a:solidFill>
                  <a:srgbClr val="1A2233"/>
                </a:solidFill>
                <a:latin typeface="Cambria"/>
              </a:rPr>
              <a:t>Konstruiert</a:t>
            </a:r>
          </a:p>
        </p:txBody>
      </p:sp>
      <p:sp>
        <p:nvSpPr>
          <p:cNvPr id="13" name="TextBox 12"/>
          <p:cNvSpPr txBox="1"/>
          <p:nvPr/>
        </p:nvSpPr>
        <p:spPr>
          <a:xfrm>
            <a:off x="4739639" y="3886200"/>
            <a:ext cx="2727960" cy="1280160"/>
          </a:xfrm>
          <a:prstGeom prst="rect">
            <a:avLst/>
          </a:prstGeom>
          <a:noFill/>
        </p:spPr>
        <p:txBody>
          <a:bodyPr wrap="square" anchor="t" lIns="0" rIns="0" tIns="0" bIns="0">
            <a:noAutofit/>
          </a:bodyPr>
          <a:lstStyle/>
          <a:p>
            <a:pPr>
              <a:lnSpc>
                <a:spcPct val="120000"/>
              </a:lnSpc>
            </a:pPr>
            <a:r>
              <a:rPr sz="1400" b="0" i="0">
                <a:solidFill>
                  <a:srgbClr val="48524E"/>
                </a:solidFill>
                <a:latin typeface="Calibri"/>
              </a:rPr>
              <a:t>Wahrnehmung, Gefühle und das Ich sind aktive Konstruktionen – und genau deshalb beeinflussbar.</a:t>
            </a:r>
          </a:p>
        </p:txBody>
      </p:sp>
      <p:sp>
        <p:nvSpPr>
          <p:cNvPr id="14" name="Rounded Rectangle 13"/>
          <p:cNvSpPr/>
          <p:nvPr/>
        </p:nvSpPr>
        <p:spPr>
          <a:xfrm>
            <a:off x="8107680" y="2194560"/>
            <a:ext cx="3368040" cy="3108960"/>
          </a:xfrm>
          <a:prstGeom prst="roundRect">
            <a:avLst>
              <a:gd name="adj" fmla="val 7000"/>
            </a:avLst>
          </a:prstGeom>
          <a:solidFill>
            <a:srgbClr val="F2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ircle.png"/>
          <p:cNvPicPr>
            <a:picLocks noChangeAspect="1"/>
          </p:cNvPicPr>
          <p:nvPr/>
        </p:nvPicPr>
        <p:blipFill>
          <a:blip r:embed="rId2"/>
          <a:stretch>
            <a:fillRect/>
          </a:stretch>
        </p:blipFill>
        <p:spPr>
          <a:xfrm>
            <a:off x="8427720" y="2514600"/>
            <a:ext cx="640080" cy="640080"/>
          </a:xfrm>
          <a:prstGeom prst="rect">
            <a:avLst/>
          </a:prstGeom>
        </p:spPr>
      </p:pic>
      <p:sp>
        <p:nvSpPr>
          <p:cNvPr id="16" name="TextBox 15"/>
          <p:cNvSpPr txBox="1"/>
          <p:nvPr/>
        </p:nvSpPr>
        <p:spPr>
          <a:xfrm>
            <a:off x="8427720" y="2514600"/>
            <a:ext cx="640080" cy="640080"/>
          </a:xfrm>
          <a:prstGeom prst="rect">
            <a:avLst/>
          </a:prstGeom>
          <a:noFill/>
        </p:spPr>
        <p:txBody>
          <a:bodyPr wrap="square" anchor="ctr" lIns="0" rIns="0" tIns="0" bIns="0">
            <a:noAutofit/>
          </a:bodyPr>
          <a:lstStyle/>
          <a:p>
            <a:pPr algn="ctr"/>
            <a:r>
              <a:rPr sz="2400" b="1" i="0">
                <a:solidFill>
                  <a:srgbClr val="08102A"/>
                </a:solidFill>
                <a:latin typeface="Cambria"/>
              </a:rPr>
              <a:t>3</a:t>
            </a:r>
          </a:p>
        </p:txBody>
      </p:sp>
      <p:sp>
        <p:nvSpPr>
          <p:cNvPr id="17" name="TextBox 16"/>
          <p:cNvSpPr txBox="1"/>
          <p:nvPr/>
        </p:nvSpPr>
        <p:spPr>
          <a:xfrm>
            <a:off x="8427720" y="3383280"/>
            <a:ext cx="2727960" cy="457200"/>
          </a:xfrm>
          <a:prstGeom prst="rect">
            <a:avLst/>
          </a:prstGeom>
          <a:noFill/>
        </p:spPr>
        <p:txBody>
          <a:bodyPr wrap="square" anchor="t" lIns="0" rIns="0" tIns="0" bIns="0">
            <a:noAutofit/>
          </a:bodyPr>
          <a:lstStyle/>
          <a:p>
            <a:r>
              <a:rPr sz="2200" b="1" i="0">
                <a:solidFill>
                  <a:srgbClr val="1A2233"/>
                </a:solidFill>
                <a:latin typeface="Cambria"/>
              </a:rPr>
              <a:t>Ehrlich</a:t>
            </a:r>
          </a:p>
        </p:txBody>
      </p:sp>
      <p:sp>
        <p:nvSpPr>
          <p:cNvPr id="18" name="TextBox 17"/>
          <p:cNvSpPr txBox="1"/>
          <p:nvPr/>
        </p:nvSpPr>
        <p:spPr>
          <a:xfrm>
            <a:off x="8427720" y="3886200"/>
            <a:ext cx="2727960" cy="1280160"/>
          </a:xfrm>
          <a:prstGeom prst="rect">
            <a:avLst/>
          </a:prstGeom>
          <a:noFill/>
        </p:spPr>
        <p:txBody>
          <a:bodyPr wrap="square" anchor="t" lIns="0" rIns="0" tIns="0" bIns="0">
            <a:noAutofit/>
          </a:bodyPr>
          <a:lstStyle/>
          <a:p>
            <a:pPr>
              <a:lnSpc>
                <a:spcPct val="120000"/>
              </a:lnSpc>
            </a:pPr>
            <a:r>
              <a:rPr sz="1400" b="0" i="0">
                <a:solidFill>
                  <a:srgbClr val="48524E"/>
                </a:solidFill>
                <a:latin typeface="Calibri"/>
              </a:rPr>
              <a:t>Zwischen verständlich und korrekt liegt ein schmaler Grat – lieber eine ehrliche Unsicherheit als eine bequeme Gewissheit.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7240" y="1005840"/>
            <a:ext cx="7315200" cy="320040"/>
          </a:xfrm>
          <a:prstGeom prst="rect">
            <a:avLst/>
          </a:prstGeom>
          <a:noFill/>
        </p:spPr>
        <p:txBody>
          <a:bodyPr wrap="square" anchor="t" lIns="0" rIns="0" tIns="0" bIns="0">
            <a:noAutofit/>
          </a:bodyPr>
          <a:lstStyle/>
          <a:p>
            <a:pPr>
              <a:spcAft>
                <a:spcPts val="600"/>
              </a:spcAft>
            </a:pPr>
            <a:r>
              <a:rPr sz="1200" b="1" i="0" spc="240">
                <a:solidFill>
                  <a:srgbClr val="A3D64F"/>
                </a:solidFill>
                <a:latin typeface="Calibri"/>
              </a:rPr>
              <a:t>WIE ES WEITERGEHT</a:t>
            </a:r>
          </a:p>
        </p:txBody>
      </p:sp>
      <p:sp>
        <p:nvSpPr>
          <p:cNvPr id="4" name="TextBox 3"/>
          <p:cNvSpPr txBox="1"/>
          <p:nvPr/>
        </p:nvSpPr>
        <p:spPr>
          <a:xfrm>
            <a:off x="731520" y="1371600"/>
            <a:ext cx="7863840" cy="914400"/>
          </a:xfrm>
          <a:prstGeom prst="rect">
            <a:avLst/>
          </a:prstGeom>
          <a:noFill/>
        </p:spPr>
        <p:txBody>
          <a:bodyPr wrap="square" anchor="t" lIns="0" rIns="0" tIns="0" bIns="0">
            <a:noAutofit/>
          </a:bodyPr>
          <a:lstStyle/>
          <a:p>
            <a:pPr>
              <a:lnSpc>
                <a:spcPct val="103000"/>
              </a:lnSpc>
            </a:pPr>
            <a:r>
              <a:rPr sz="3800" b="1" i="0">
                <a:solidFill>
                  <a:srgbClr val="FFFFFF"/>
                </a:solidFill>
                <a:latin typeface="Cambria"/>
              </a:rPr>
              <a:t>Bleib auf der Wissensreise</a:t>
            </a:r>
          </a:p>
        </p:txBody>
      </p:sp>
      <p:sp>
        <p:nvSpPr>
          <p:cNvPr id="5" name="TextBox 4"/>
          <p:cNvSpPr txBox="1"/>
          <p:nvPr/>
        </p:nvSpPr>
        <p:spPr>
          <a:xfrm>
            <a:off x="822960" y="2606040"/>
            <a:ext cx="7223760" cy="2377440"/>
          </a:xfrm>
          <a:prstGeom prst="rect">
            <a:avLst/>
          </a:prstGeom>
          <a:noFill/>
        </p:spPr>
        <p:txBody>
          <a:bodyPr wrap="square" anchor="t" lIns="0" rIns="0" tIns="0" bIns="0">
            <a:noAutofit/>
          </a:bodyPr>
          <a:lstStyle/>
          <a:p>
            <a:pPr>
              <a:lnSpc>
                <a:spcPct val="115000"/>
              </a:lnSpc>
              <a:spcAft>
                <a:spcPts val="900"/>
              </a:spcAft>
            </a:pPr>
            <a:r>
              <a:rPr sz="1700" b="1" i="0">
                <a:solidFill>
                  <a:srgbClr val="A3D64F"/>
                </a:solidFill>
                <a:latin typeface="Calibri"/>
              </a:rPr>
              <a:t>›  </a:t>
            </a:r>
            <a:r>
              <a:rPr sz="1700" b="0" i="0">
                <a:solidFill>
                  <a:srgbClr val="E7ECF5"/>
                </a:solidFill>
                <a:latin typeface="Calibri"/>
              </a:rPr>
              <a:t>Zugang zur vollständigen Wissensdatenbank mit 27 Kapiteln</a:t>
            </a:r>
          </a:p>
          <a:p>
            <a:pPr>
              <a:lnSpc>
                <a:spcPct val="115000"/>
              </a:lnSpc>
              <a:spcAft>
                <a:spcPts val="900"/>
              </a:spcAft>
            </a:pPr>
            <a:r>
              <a:rPr sz="1700" b="1" i="0">
                <a:solidFill>
                  <a:srgbClr val="A3D64F"/>
                </a:solidFill>
                <a:latin typeface="Calibri"/>
              </a:rPr>
              <a:t>›  </a:t>
            </a:r>
            <a:r>
              <a:rPr sz="1700" b="0" i="0">
                <a:solidFill>
                  <a:srgbClr val="E7ECF5"/>
                </a:solidFill>
                <a:latin typeface="Calibri"/>
              </a:rPr>
              <a:t>Alle Quellen mit Evidenz-Markierung – ehrlich statt reißerisch</a:t>
            </a:r>
          </a:p>
          <a:p>
            <a:pPr>
              <a:lnSpc>
                <a:spcPct val="115000"/>
              </a:lnSpc>
              <a:spcAft>
                <a:spcPts val="900"/>
              </a:spcAft>
            </a:pPr>
            <a:r>
              <a:rPr sz="1700" b="1" i="0">
                <a:solidFill>
                  <a:srgbClr val="A3D64F"/>
                </a:solidFill>
                <a:latin typeface="Calibri"/>
              </a:rPr>
              <a:t>›  </a:t>
            </a:r>
            <a:r>
              <a:rPr sz="1700" b="0" i="0">
                <a:solidFill>
                  <a:srgbClr val="E7ECF5"/>
                </a:solidFill>
                <a:latin typeface="Calibri"/>
              </a:rPr>
              <a:t>Neue Vertiefungen, Impulse und Übungen jeden Monat</a:t>
            </a:r>
          </a:p>
          <a:p>
            <a:pPr>
              <a:lnSpc>
                <a:spcPct val="115000"/>
              </a:lnSpc>
              <a:spcAft>
                <a:spcPts val="900"/>
              </a:spcAft>
            </a:pPr>
            <a:r>
              <a:rPr sz="1700" b="1" i="0">
                <a:solidFill>
                  <a:srgbClr val="A3D64F"/>
                </a:solidFill>
                <a:latin typeface="Calibri"/>
              </a:rPr>
              <a:t>›  </a:t>
            </a:r>
            <a:r>
              <a:rPr sz="1700" b="0" i="0">
                <a:solidFill>
                  <a:srgbClr val="E7ECF5"/>
                </a:solidFill>
                <a:latin typeface="Calibri"/>
              </a:rPr>
              <a:t>Eine Community, die Neugier ernst nimmt</a:t>
            </a:r>
          </a:p>
        </p:txBody>
      </p:sp>
      <p:sp>
        <p:nvSpPr>
          <p:cNvPr id="6" name="Rounded Rectangle 5"/>
          <p:cNvSpPr/>
          <p:nvPr/>
        </p:nvSpPr>
        <p:spPr>
          <a:xfrm>
            <a:off x="8503920" y="2651760"/>
            <a:ext cx="3017520" cy="1828800"/>
          </a:xfrm>
          <a:prstGeom prst="roundRect">
            <a:avLst>
              <a:gd name="adj" fmla="val 10000"/>
            </a:avLst>
          </a:prstGeom>
          <a:solidFill>
            <a:srgbClr val="0F1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2880360"/>
            <a:ext cx="3017520" cy="365760"/>
          </a:xfrm>
          <a:prstGeom prst="rect">
            <a:avLst/>
          </a:prstGeom>
          <a:noFill/>
        </p:spPr>
        <p:txBody>
          <a:bodyPr wrap="square" anchor="t" lIns="0" rIns="0" tIns="0" bIns="0">
            <a:noAutofit/>
          </a:bodyPr>
          <a:lstStyle/>
          <a:p>
            <a:pPr algn="ctr"/>
            <a:r>
              <a:rPr sz="1300" b="0" i="0">
                <a:solidFill>
                  <a:srgbClr val="AEB6C6"/>
                </a:solidFill>
                <a:latin typeface="Calibri"/>
              </a:rPr>
              <a:t>Mitgliedschaft</a:t>
            </a:r>
          </a:p>
        </p:txBody>
      </p:sp>
      <p:sp>
        <p:nvSpPr>
          <p:cNvPr id="8" name="TextBox 7"/>
          <p:cNvSpPr txBox="1"/>
          <p:nvPr/>
        </p:nvSpPr>
        <p:spPr>
          <a:xfrm>
            <a:off x="8503920" y="3246120"/>
            <a:ext cx="3017520" cy="731520"/>
          </a:xfrm>
          <a:prstGeom prst="rect">
            <a:avLst/>
          </a:prstGeom>
          <a:noFill/>
        </p:spPr>
        <p:txBody>
          <a:bodyPr wrap="square" anchor="t" lIns="0" rIns="0" tIns="0" bIns="0">
            <a:noAutofit/>
          </a:bodyPr>
          <a:lstStyle/>
          <a:p>
            <a:pPr algn="ctr"/>
            <a:r>
              <a:rPr sz="4000" b="1" i="0">
                <a:solidFill>
                  <a:srgbClr val="FFFFFF"/>
                </a:solidFill>
                <a:latin typeface="Cambria"/>
              </a:rPr>
              <a:t>49 €</a:t>
            </a:r>
            <a:r>
              <a:rPr sz="1600" b="0" i="0">
                <a:solidFill>
                  <a:srgbClr val="C3CCDD"/>
                </a:solidFill>
                <a:latin typeface="Calibri"/>
              </a:rPr>
              <a:t>  / Monat</a:t>
            </a:r>
          </a:p>
        </p:txBody>
      </p:sp>
      <p:sp>
        <p:nvSpPr>
          <p:cNvPr id="9" name="TextBox 8"/>
          <p:cNvSpPr txBox="1"/>
          <p:nvPr/>
        </p:nvSpPr>
        <p:spPr>
          <a:xfrm>
            <a:off x="8321040" y="4069080"/>
            <a:ext cx="3383280" cy="320040"/>
          </a:xfrm>
          <a:prstGeom prst="rect">
            <a:avLst/>
          </a:prstGeom>
          <a:noFill/>
        </p:spPr>
        <p:txBody>
          <a:bodyPr wrap="square" anchor="t" lIns="0" rIns="0" tIns="0" bIns="0">
            <a:noAutofit/>
          </a:bodyPr>
          <a:lstStyle/>
          <a:p>
            <a:pPr algn="ctr"/>
            <a:r>
              <a:rPr sz="1150" b="1" i="0">
                <a:solidFill>
                  <a:srgbClr val="A3D64F"/>
                </a:solidFill>
                <a:latin typeface="Calibri"/>
              </a:rPr>
              <a:t>werdemeisterdeinergedanken.de/mitgliedschaft</a:t>
            </a:r>
          </a:p>
        </p:txBody>
      </p:sp>
      <p:sp>
        <p:nvSpPr>
          <p:cNvPr id="10" name="TextBox 9"/>
          <p:cNvSpPr txBox="1"/>
          <p:nvPr/>
        </p:nvSpPr>
        <p:spPr>
          <a:xfrm>
            <a:off x="822960" y="5212080"/>
            <a:ext cx="7315200" cy="365760"/>
          </a:xfrm>
          <a:prstGeom prst="rect">
            <a:avLst/>
          </a:prstGeom>
          <a:noFill/>
        </p:spPr>
        <p:txBody>
          <a:bodyPr wrap="square" anchor="t" lIns="0" rIns="0" tIns="0" bIns="0">
            <a:noAutofit/>
          </a:bodyPr>
          <a:lstStyle/>
          <a:p>
            <a:r>
              <a:rPr sz="1500" b="0" i="1">
                <a:solidFill>
                  <a:srgbClr val="C3CCDD"/>
                </a:solidFill>
                <a:latin typeface="Calibri"/>
              </a:rPr>
              <a:t>Erster Schritt kostenlos: der Bewusstseinstest.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14400" y="3749039"/>
            <a:ext cx="10360152" cy="914400"/>
          </a:xfrm>
          <a:prstGeom prst="rect">
            <a:avLst/>
          </a:prstGeom>
          <a:noFill/>
        </p:spPr>
        <p:txBody>
          <a:bodyPr wrap="square" anchor="t" lIns="0" rIns="0" tIns="0" bIns="0">
            <a:noAutofit/>
          </a:bodyPr>
          <a:lstStyle/>
          <a:p>
            <a:pPr algn="ctr"/>
            <a:r>
              <a:rPr sz="4000" b="1" i="0">
                <a:solidFill>
                  <a:srgbClr val="FFFFFF"/>
                </a:solidFill>
                <a:latin typeface="Cambria"/>
              </a:rPr>
              <a:t>Werde Meister deiner </a:t>
            </a:r>
            <a:r>
              <a:rPr sz="4000" b="1" i="0">
                <a:solidFill>
                  <a:srgbClr val="A3D64F"/>
                </a:solidFill>
                <a:latin typeface="Cambria"/>
              </a:rPr>
              <a:t>Gedanken</a:t>
            </a:r>
            <a:r>
              <a:rPr sz="4000" b="1" i="0">
                <a:solidFill>
                  <a:srgbClr val="FFFFFF"/>
                </a:solidFill>
                <a:latin typeface="Cambria"/>
              </a:rPr>
              <a:t>.</a:t>
            </a:r>
          </a:p>
        </p:txBody>
      </p:sp>
      <p:sp>
        <p:nvSpPr>
          <p:cNvPr id="4" name="TextBox 3"/>
          <p:cNvSpPr txBox="1"/>
          <p:nvPr/>
        </p:nvSpPr>
        <p:spPr>
          <a:xfrm>
            <a:off x="914400" y="4754880"/>
            <a:ext cx="10360152" cy="457200"/>
          </a:xfrm>
          <a:prstGeom prst="rect">
            <a:avLst/>
          </a:prstGeom>
          <a:noFill/>
        </p:spPr>
        <p:txBody>
          <a:bodyPr wrap="square" anchor="t" lIns="0" rIns="0" tIns="0" bIns="0">
            <a:noAutofit/>
          </a:bodyPr>
          <a:lstStyle/>
          <a:p>
            <a:pPr algn="ctr"/>
            <a:r>
              <a:rPr sz="1800" b="0" i="0">
                <a:solidFill>
                  <a:srgbClr val="C3CCDD"/>
                </a:solidFill>
                <a:latin typeface="Calibri"/>
              </a:rPr>
              <a:t>Danke, dass du heute dabei warst.</a:t>
            </a:r>
          </a:p>
        </p:txBody>
      </p:sp>
      <p:sp>
        <p:nvSpPr>
          <p:cNvPr id="5" name="TextBox 4"/>
          <p:cNvSpPr txBox="1"/>
          <p:nvPr/>
        </p:nvSpPr>
        <p:spPr>
          <a:xfrm>
            <a:off x="914400" y="5852160"/>
            <a:ext cx="10360152" cy="365760"/>
          </a:xfrm>
          <a:prstGeom prst="rect">
            <a:avLst/>
          </a:prstGeom>
          <a:noFill/>
        </p:spPr>
        <p:txBody>
          <a:bodyPr wrap="square" anchor="t" lIns="0" rIns="0" tIns="0" bIns="0">
            <a:noAutofit/>
          </a:bodyPr>
          <a:lstStyle/>
          <a:p>
            <a:pPr algn="ctr"/>
            <a:r>
              <a:rPr sz="1400" b="1" i="0">
                <a:solidFill>
                  <a:srgbClr val="34C4C4"/>
                </a:solidFill>
                <a:latin typeface="Calibri"/>
              </a:rPr>
              <a:t>werdemeisterdeinergedanken.de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