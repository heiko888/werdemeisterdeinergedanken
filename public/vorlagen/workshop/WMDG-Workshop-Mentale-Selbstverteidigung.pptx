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Mechanismus 1: Propaganda &amp; Konditionierung – Wie Denken von außen geformt wird.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Mechanismus 2: Framing – Die unsichtbare Macht hinter den Worten.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Mechanismus 3: Sprache &amp; Etiketten – Wie Wörter deine Wahrnehmung färben.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Mechanismus 4: Medien &amp; Aufmerksamkeit – Worüber du nachdenkst, ist schon eine Entscheidung.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Mechanismus 5: Algorithmen &amp; Filterblasen – Die personalisierte Realität.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Mechanismus 6: Werbung &amp; künstlicher Mangel – Wie ein Bedürfnis erschaffen wird.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Mechanismus 7: Gruppendruck &amp; Schweigespirale – Warum wir uns anpassen, obwohl wir zweifeln.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Mechanismus 8: Autorität &amp; Gehorsam – Wenn Titel das Prüfen ersetzen.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Mechanismus 9: Angst als Steuerungsmittel – Warum Druck dich lenkbar macht.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Mechanismus 10: Wiederholung wird zur Wahrheit – Warum Vertrautes glaubwürdig wirkt.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Mechanismus 11: Ablenkung &amp; Überflutung – Wenn Aufmerksamkeit selbst zum Ziel wird.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Mechanismus 12: Kognitive Dissonanz – Warum wir Unpassendes abwehren.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Mechanismus 13: Normalisierung – Wie das Ungewöhnliche selbstverständlich wird.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Mechanismus 14: Bilder statt Argumente – Warum ein Bild schneller wirkt als ein Beweis.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Mechanismus 15: Identität &amp; Meinung – Wenn Kritik als Angriff auf dich wirkt.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Mechanismus 16: Reizüberflutung &amp; Alarmbereitschaft – Warum ein überflutetes Gehirn leichter zu lenken ist.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image" Target="../media/image-8-1.png"/><Relationship Id="rId8" Type="http://schemas.openxmlformats.org/officeDocument/2006/relationships/image" Target="../media/image-8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1.png"/><Relationship Id="rId3" Type="http://schemas.openxmlformats.org/officeDocument/2006/relationships/image" Target="../media/image-25-1.png"/><Relationship Id="rId4" Type="http://schemas.openxmlformats.org/officeDocument/2006/relationships/image" Target="../media/image-2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1.png"/><Relationship Id="rId3" Type="http://schemas.openxmlformats.org/officeDocument/2006/relationships/image" Target="../media/image-2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9164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TAGES-WORKSHOP · KLARER KOPF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31520" y="1645920"/>
            <a:ext cx="7955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Mentale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i="1" dirty="0">
                <a:solidFill>
                  <a:srgbClr val="34C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Selbstverteidigung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77240" y="416052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16 Mechanismen, mit denen dein Denken gelenkt wird – und dein Schutz gegen jeden.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Heiko Schwaninger  ·  werdemeisterdeinergedanken.de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dich heute erwartet</a:t>
            </a:r>
            <a:endParaRPr lang="en-US" sz="3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600200" y="1929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Ankommen &amp; Einstieg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2768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dein Kopf ein umkämpftes Feld ist.</a:t>
            </a:r>
            <a:endParaRPr lang="en-US" sz="140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62072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600200" y="28254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Beeinflussung wirkt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00200" y="3172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Leise statt laut – ganz ohne Lüge.</a:t>
            </a:r>
            <a:endParaRPr lang="en-US" sz="140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58184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3758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600200" y="37216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Mechanismen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00200" y="4069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Propaganda bis Reizüberflutung – in vier Blöcken.</a:t>
            </a:r>
            <a:endParaRPr lang="en-US" sz="140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54296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4654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1600200" y="46177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Übungen &amp; Reflexion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600200" y="49651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Mechanismus an dir selbst erkennen.</a:t>
            </a:r>
            <a:endParaRPr lang="en-US" sz="140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0408"/>
            <a:ext cx="566928" cy="5669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7240" y="5550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15"/>
          <p:cNvSpPr/>
          <p:nvPr/>
        </p:nvSpPr>
        <p:spPr>
          <a:xfrm>
            <a:off x="1600200" y="5513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Schutz im Alltag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1600200" y="58613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du ab morgen anders machst.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011680"/>
            <a:ext cx="10149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Nicht alles, was du denkst, </a:t>
            </a:r>
            <a:pPr indent="0" marL="0">
              <a:lnSpc>
                <a:spcPct val="110000"/>
              </a:lnSpc>
              <a:buNone/>
            </a:pPr>
            <a:r>
              <a:rPr lang="en-US" sz="4000" b="1" i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 wirklich von dir</a:t>
            </a:r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24128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die Muster kennt, gewinnt den Abstand zurück.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AUSGANGSPUNKT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Beeinflussung arbeitet leise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wirksamste Beeinflussung zwingt dir keine Meinung auf. Sie sorgt dafür, dass sich eine bestimmte Sicht mit der Zeit einfach richtig anfühlt.</a:t>
            </a:r>
            <a:endParaRPr lang="en-US" sz="16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Wiederholung, Emotion und Vereinfachung – oft ganz ohne eine einzige Lüge.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55280" y="1554480"/>
            <a:ext cx="3566160" cy="3840480"/>
          </a:xfrm>
          <a:prstGeom prst="roundRect">
            <a:avLst>
              <a:gd name="adj" fmla="val 3590"/>
            </a:avLst>
          </a:prstGeom>
          <a:solidFill>
            <a:srgbClr val="08102A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zu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01000" y="2331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10.000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138160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Werbebotschaften am Tag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0" y="40233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das ist nur einer von 16 Hebeln, die täglich auf dein Denken wirken.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 · 5 MINUTEN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Frame erkennen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 eine aktuelle Schlagzeile oder Werbung.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Unterstreiche die Wörter, die schon eine Wertung enthalten.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Formuliere denselben Vorgang so neutral wie möglich.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Frag: Wer profitiert von genau diesem Rahmen?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 ist keine Lüge – es ist eine Brille. Freiheit beginnt, wenn du die Brille bemerkst.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WERKZEUGE DER BEEINFLUSSUNG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5146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Mechanismen – ein System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05840" y="37033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gehen sie in vier Blöcken durch: von Propaganda bis Reizüberflutung.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LANDKARTE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16 Mechanismen im Überblick  (1/2)</a:t>
            </a:r>
            <a:endParaRPr lang="en-US" sz="2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54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Propaganda &amp; Konditionierung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Denken von außen geformt wird</a:t>
            </a:r>
            <a:endParaRPr lang="en-US" sz="115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07792"/>
            <a:ext cx="603504" cy="603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554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54480" y="32278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unsichtbare Macht hinter den Worten</a:t>
            </a:r>
            <a:endParaRPr lang="en-US" sz="115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86784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54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 &amp; Etiketten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54480" y="43068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Wörter deine Wahrnehmung färben</a:t>
            </a:r>
            <a:endParaRPr lang="en-US" sz="115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65776"/>
            <a:ext cx="603504" cy="6035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554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&amp; Aufmerksamkeit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54480" y="53858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Worüber du nachdenkst, ist schon eine Entscheidung</a:t>
            </a:r>
            <a:endParaRPr lang="en-US" sz="115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603504" cy="6035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46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269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 &amp; Filterblasen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2694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personalisierte Realität</a:t>
            </a:r>
            <a:endParaRPr lang="en-US" sz="1150" dirty="0"/>
          </a:p>
        </p:txBody>
      </p:sp>
      <p:pic>
        <p:nvPicPr>
          <p:cNvPr id="24" name="Image 5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907792"/>
            <a:ext cx="603504" cy="6035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46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7269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Werbung &amp; künstlicher Mangel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7269480" y="32278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 Bedürfnis erschaffen wird</a:t>
            </a:r>
            <a:endParaRPr lang="en-US" sz="1150" dirty="0"/>
          </a:p>
        </p:txBody>
      </p:sp>
      <p:pic>
        <p:nvPicPr>
          <p:cNvPr id="28" name="Image 6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986784"/>
            <a:ext cx="603504" cy="60350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446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1"/>
          <p:cNvSpPr/>
          <p:nvPr/>
        </p:nvSpPr>
        <p:spPr>
          <a:xfrm>
            <a:off x="7269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Gruppendruck &amp; Schweigespirale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7269480" y="43068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wir uns anpassen, obwohl wir zweifeln</a:t>
            </a:r>
            <a:endParaRPr lang="en-US" sz="1150" dirty="0"/>
          </a:p>
        </p:txBody>
      </p:sp>
      <p:pic>
        <p:nvPicPr>
          <p:cNvPr id="32" name="Image 7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5065776"/>
            <a:ext cx="603504" cy="60350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446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24"/>
          <p:cNvSpPr/>
          <p:nvPr/>
        </p:nvSpPr>
        <p:spPr>
          <a:xfrm>
            <a:off x="7269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Autorität &amp; Gehorsam</a:t>
            </a:r>
            <a:endParaRPr lang="en-US" sz="1500" dirty="0"/>
          </a:p>
        </p:txBody>
      </p:sp>
      <p:sp>
        <p:nvSpPr>
          <p:cNvPr id="35" name="Text 25"/>
          <p:cNvSpPr/>
          <p:nvPr/>
        </p:nvSpPr>
        <p:spPr>
          <a:xfrm>
            <a:off x="7269480" y="53858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Titel das Prüfen ersetzen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LANDKARTE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16 Mechanismen im Überblick  (2/2)</a:t>
            </a:r>
            <a:endParaRPr lang="en-US" sz="2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54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Angst als Steuerungsmittel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Druck dich lenkbar macht</a:t>
            </a:r>
            <a:endParaRPr lang="en-US" sz="115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07792"/>
            <a:ext cx="603504" cy="603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554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 wird zur Wahrheit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54480" y="32278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Vertrautes glaubwürdig wirkt</a:t>
            </a:r>
            <a:endParaRPr lang="en-US" sz="115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86784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54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Ablenkung &amp; Überflutung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54480" y="43068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Aufmerksamkeit selbst zum Ziel wird</a:t>
            </a:r>
            <a:endParaRPr lang="en-US" sz="115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65776"/>
            <a:ext cx="603504" cy="6035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554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Kognitive Dissonanz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54480" y="53858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wir Unpassendes abwehren</a:t>
            </a:r>
            <a:endParaRPr lang="en-US" sz="115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603504" cy="6035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46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269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Normalisierung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2694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das Ungewöhnliche selbstverständlich wird</a:t>
            </a:r>
            <a:endParaRPr lang="en-US" sz="1150" dirty="0"/>
          </a:p>
        </p:txBody>
      </p:sp>
      <p:pic>
        <p:nvPicPr>
          <p:cNvPr id="24" name="Image 5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907792"/>
            <a:ext cx="603504" cy="6035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46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7269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 statt Argumente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7269480" y="32278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ein Bild schneller wirkt als ein Beweis</a:t>
            </a:r>
            <a:endParaRPr lang="en-US" sz="1150" dirty="0"/>
          </a:p>
        </p:txBody>
      </p:sp>
      <p:pic>
        <p:nvPicPr>
          <p:cNvPr id="28" name="Image 6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986784"/>
            <a:ext cx="603504" cy="60350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446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200" dirty="0"/>
          </a:p>
        </p:txBody>
      </p:sp>
      <p:sp>
        <p:nvSpPr>
          <p:cNvPr id="30" name="Text 21"/>
          <p:cNvSpPr/>
          <p:nvPr/>
        </p:nvSpPr>
        <p:spPr>
          <a:xfrm>
            <a:off x="7269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Identität &amp; Meinung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7269480" y="43068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Kritik als Angriff auf dich wirkt</a:t>
            </a:r>
            <a:endParaRPr lang="en-US" sz="1150" dirty="0"/>
          </a:p>
        </p:txBody>
      </p:sp>
      <p:pic>
        <p:nvPicPr>
          <p:cNvPr id="32" name="Image 7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5065776"/>
            <a:ext cx="603504" cy="60350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446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200" dirty="0"/>
          </a:p>
        </p:txBody>
      </p:sp>
      <p:sp>
        <p:nvSpPr>
          <p:cNvPr id="34" name="Text 24"/>
          <p:cNvSpPr/>
          <p:nvPr/>
        </p:nvSpPr>
        <p:spPr>
          <a:xfrm>
            <a:off x="7269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Reizüberflutung &amp; Alarmbereitschaft</a:t>
            </a:r>
            <a:endParaRPr lang="en-US" sz="1500" dirty="0"/>
          </a:p>
        </p:txBody>
      </p:sp>
      <p:sp>
        <p:nvSpPr>
          <p:cNvPr id="35" name="Text 25"/>
          <p:cNvSpPr/>
          <p:nvPr/>
        </p:nvSpPr>
        <p:spPr>
          <a:xfrm>
            <a:off x="7269480" y="53858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ein überflutetes Gehirn leichter zu lenken ist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Propaganda &amp; Konditionierung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Denken von außen geformt wird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Propaganda zwingt selten direkt eine Meinung auf – sie wirkt über Wiederholung, Emotion und Vereinfachung.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Überzeugung hast du übernommen, ohne sie je geprüft zu haben?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unsichtbare Macht hinter den Worten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Frame ist ein Deutungsrahmen: Dieselbe Wirklichkeit wirkt je nach Wortwahl völlig anders – ganz ohne falsche Fakten.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Welches Wort in einer Schlagzeile hat dich zuletzt gelenkt?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Sprache &amp; Etiketten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Wörter deine Wahrnehmung färben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Wörter beschreiben die Wirklichkeit nicht nur – sie geben ihr bereits eine Bedeutung, oft schon bevor du prüfst.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Welches Etikett verändert dein Urteil über einen Menschen – vor dem ersten Argument?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Medien &amp; Aufmerksamkeit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Worüber du nachdenkst, ist schon eine Entscheidung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müssen dir nicht sagen, was du denken sollst – es reicht, festzulegen, worüber du täglich nachdenkst.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Worüber denkst du gerade viel nach – und wer hat das Thema gesetzt?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Algorithmen &amp; Filterblasen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personalisierte Realität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siehst du nicht „die Welt“, sondern eine Auswahl, die auf deinem bisherigen Verhalten beruht.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Wessen Meinung bestätigt dir dein Feed – und wen zeigt er dir nie?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Werbung &amp; künstlicher Mangel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ein Bedürfnis erschaffen wird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Werbung verkauft nicht nur Produkte, sondern Vorstellungen davon, wer du sein solltest – und was dir angeblich fehlt.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wolltest du zuletzt erst, seit du die Werbung gesehen hast?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7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Gruppendruck &amp; Schweigespirale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wir uns anpassen, obwohl wir zweifeln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Menschen passen sich häufig an, obwohl sie innerlich Zweifel haben – aus Angst vor Ausgrenzung.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trägst du etwas mit, das du innerlich bezweifelst?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8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Autorität &amp; Gehorsam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Wenn Titel das Prüfen ersetzen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Titel, Status und Institutionen können dazu führen, dass Aussagen nicht mehr geprüft, sondern einfach geglaubt werden.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hörst du auf zu prüfen, nur weil ein Titel dahintersteht?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9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Angst als Steuerungsmittel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Druck dich lenkbar macht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Angst verengt die Wahrnehmung – unter Druck suchen Menschen nach schnellen Antworten, Sicherheit und klaren Führungsfiguren.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Entscheidung hast du zuletzt aus Angst statt aus Klarheit getroffen?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10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Wiederholung wird zur Wahrheit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Vertrautes glaubwürdig wirkt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Aussage kann vertraut und dadurch wahr wirken, obwohl sie nie bewiesen wurde.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hältst du für wahr, nur weil du es oft gehört hast?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11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Ablenkung &amp; Überflutung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Wenn Aufmerksamkeit selbst zum Ziel wird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jede Beeinflussung verbreitet falsche Informationen – manchmal reicht es, die Aufmerksamkeit auf Nebensachen zu lenken.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übersiehst du gerade, weil deine Aufmerksamkeit woanders gebunden ist?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12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Kognitive Dissonanz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wir Unpassendes abwehren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Menschen weisen Informationen oft nicht zurück, weil sie falsch sind, sondern weil sie das eigene Weltbild bedrohen.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unbequeme Information hast du zuletzt schnell abgewertet?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13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Normalisierung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das Ungewöhnliche selbstverständlich wird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häufig genug gezeigt, gesagt oder praktiziert wird, wirkt irgendwann selbstverständlich – auch wenn es das nicht ist.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findest du heute normal, das dich früher gestört hätte?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14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Bilder statt Argumente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ein Bild schneller wirkt als ein Beweis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 erreichen Menschen oft schneller als Fakten – und ein Ausschnitt kann eine ganze Wirklichkeit ersetzen.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Welches Bild hat dich zuletzt überzeugt – ohne ein einziges Argument?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15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Identität &amp; Meinung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Wenn Kritik als Angriff auf dich wirkt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Sobald eine Meinung Teil deiner Identität wird, fühlt sich Kritik daran wie ein persönlicher Angriff an.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 welcher Meinung fühlt sich Kritik wie ein persönlicher Angriff an?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16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Reizüberflutung &amp; Alarmbereitschaft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ein überflutetes Gehirn leichter zu lenken ist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viele gleichzeitige, wechselnde und emotionale Reize halten dein Nervensystem in Daueralarm – und in Alarm denkst du enger und bist leichter steuerbar.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Triffst du Entscheidungen im Alarm – oder in der Ruhe?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2 · QUELLEN-CHECK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Oft gehört oder belegt?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 eine Überzeugung, die dir selbstverständlich ist.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Frag: Kenne ich einen echten Beleg – oder habe ich das nur oft gehört?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 die ursprüngliche Quelle, nicht die Wiederholung.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Zähle unabhängige Quellen, nicht laute Stimmen.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Vertrautheit ist kein Beweis. Was oft wiederholt wird, verdient dieselbe Prüfung wie beim ersten Mal.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BLEIBT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 Schutz in drei Schritten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5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14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5156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Bemerken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erkennst die Mechanismen – Framing, Wiederholung, Emotion, Feindbild.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3484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10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146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75488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Prüfen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75488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fragst nach Quelle, Absicht und dem, was bewusst weggelassen wird.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15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51460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45820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Wählen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45820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übernimmst nicht die vorgefertigte Bewertung, sondern entscheidest selbst.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WEITERGEHT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Vertiefe jeden Mechanismus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7223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7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16 Mechanismen als Vertiefung im Mitgliederbereich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7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Praxis-Übungen &amp; 31 Vertiefungen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7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Bewusstseinstest, Wachstumskurve &amp; Journal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7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deinem Tempo – ohne Druck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503920" y="265176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0F1E44"/>
          </a:solidFill>
          <a:ln w="15875">
            <a:solidFill>
              <a:srgbClr val="21B2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Mitgliedschaft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49 €</a:t>
            </a:r>
            <a:pPr algn="ctr" indent="0" marL="0">
              <a:buNone/>
            </a:pPr>
            <a:r>
              <a:rPr lang="en-US" sz="1600" dirty="0">
                <a:solidFill>
                  <a:srgbClr val="C3C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Monat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321040" y="4069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werdemeisterdeinergedanken.de/mitgliedschaft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Schritt kostenlos: der Bewusstseinstest.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82296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749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Werde Meister deiner </a:t>
            </a:r>
            <a:pPr algn="ctr" indent="0" marL="0">
              <a:buNone/>
            </a:pPr>
            <a:r>
              <a:rPr lang="en-US" sz="4000" b="1" i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Gedanken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Danke, dass du heute dabei warst.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Werde Meister deiner Gedanken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Heiko Schwaninger</dc:creator>
  <cp:lastModifiedBy>Heiko Schwaninger</cp:lastModifiedBy>
  <cp:revision>1</cp:revision>
  <dcterms:created xsi:type="dcterms:W3CDTF">2026-08-01T02:33:55Z</dcterms:created>
  <dcterms:modified xsi:type="dcterms:W3CDTF">2026-08-01T02:33:55Z</dcterms:modified>
</cp:coreProperties>
</file>